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31895dec854226" /><Relationship Type="http://schemas.openxmlformats.org/officeDocument/2006/relationships/extended-properties" Target="/docProps/app.xml" Id="R2f61b05b96bb472d" /><Relationship Type="http://schemas.openxmlformats.org/officeDocument/2006/relationships/officeDocument" Target="/ppt/presentation.xml" Id="R00c7e07bc97f4366" /></Relationships>
</file>

<file path=ppt/presentation.xml><?xml version="1.0" encoding="utf-8"?>
<p:presentation xmlns:p="http://schemas.openxmlformats.org/presentationml/2006/main">
  <p:sldMasterIdLst>
    <p:sldMasterId xmlns:r="http://schemas.openxmlformats.org/officeDocument/2006/relationships" id="2147483648" r:id="R8494383ef9084ba5"/>
  </p:sldMasterIdLst>
  <p:notesMasterIdLst>
    <p:notesMasterId xmlns:r="http://schemas.openxmlformats.org/officeDocument/2006/relationships" r:id="Rb744115ce34a44f1"/>
  </p:notesMasterIdLst>
  <p:sldIdLst>
    <p:sldId xmlns:r="http://schemas.openxmlformats.org/officeDocument/2006/relationships" id="256" r:id="R5f131f4eee904ba1"/>
    <p:sldId xmlns:r="http://schemas.openxmlformats.org/officeDocument/2006/relationships" id="257" r:id="R716269c6f30d4fd9"/>
    <p:sldId xmlns:r="http://schemas.openxmlformats.org/officeDocument/2006/relationships" id="258" r:id="Rbb0030fa66c046f0"/>
    <p:sldId xmlns:r="http://schemas.openxmlformats.org/officeDocument/2006/relationships" id="259" r:id="R9e33abc9ae544ee8"/>
    <p:sldId xmlns:r="http://schemas.openxmlformats.org/officeDocument/2006/relationships" id="260" r:id="R707ca32371084ff6"/>
    <p:sldId xmlns:r="http://schemas.openxmlformats.org/officeDocument/2006/relationships" id="261" r:id="Re007985494334569"/>
    <p:sldId xmlns:r="http://schemas.openxmlformats.org/officeDocument/2006/relationships" id="262" r:id="R168e9077bbdf4778"/>
    <p:sldId xmlns:r="http://schemas.openxmlformats.org/officeDocument/2006/relationships" id="263" r:id="R4c9310f905564172"/>
    <p:sldId xmlns:r="http://schemas.openxmlformats.org/officeDocument/2006/relationships" id="264" r:id="R2c2ff3fedebf4ac4"/>
    <p:sldId xmlns:r="http://schemas.openxmlformats.org/officeDocument/2006/relationships" id="265" r:id="Rf63f560728e9437d"/>
    <p:sldId xmlns:r="http://schemas.openxmlformats.org/officeDocument/2006/relationships" id="266" r:id="R64d393be50c542e5"/>
    <p:sldId xmlns:r="http://schemas.openxmlformats.org/officeDocument/2006/relationships" id="267" r:id="R826bef4266ae4a3b"/>
    <p:sldId xmlns:r="http://schemas.openxmlformats.org/officeDocument/2006/relationships" id="268" r:id="Rf26ddb28569c4264"/>
    <p:sldId xmlns:r="http://schemas.openxmlformats.org/officeDocument/2006/relationships" id="269" r:id="Rb16db35c0c094a74"/>
    <p:sldId xmlns:r="http://schemas.openxmlformats.org/officeDocument/2006/relationships" id="270" r:id="R76b0e89d7bc24a14"/>
    <p:sldId xmlns:r="http://schemas.openxmlformats.org/officeDocument/2006/relationships" id="271" r:id="Rf85b2ca25d474eca"/>
    <p:sldId xmlns:r="http://schemas.openxmlformats.org/officeDocument/2006/relationships" id="272" r:id="R4007ac2803534e6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f68e89e6c7475a" /><Relationship Type="http://schemas.openxmlformats.org/officeDocument/2006/relationships/slideMaster" Target="/ppt/slideMasters/slideMaster1.xml" Id="R8494383ef9084ba5" /><Relationship Type="http://schemas.openxmlformats.org/officeDocument/2006/relationships/notesMaster" Target="/ppt/notesMasters/notesMaster1.xml" Id="Rb744115ce34a44f1" /><Relationship Type="http://schemas.openxmlformats.org/officeDocument/2006/relationships/presProps" Target="/ppt/presProps.xml" Id="R5a463ade0a334f8d" /><Relationship Type="http://schemas.openxmlformats.org/officeDocument/2006/relationships/tableStyles" Target="/ppt/tableStyles.xml" Id="R0711c6dda6b6430a" /><Relationship Type="http://schemas.openxmlformats.org/officeDocument/2006/relationships/slide" Target="/ppt/slides/slide1.xml" Id="R5f131f4eee904ba1" /><Relationship Type="http://schemas.openxmlformats.org/officeDocument/2006/relationships/slide" Target="/ppt/slides/slide2.xml" Id="R716269c6f30d4fd9" /><Relationship Type="http://schemas.openxmlformats.org/officeDocument/2006/relationships/slide" Target="/ppt/slides/slide3.xml" Id="Rbb0030fa66c046f0" /><Relationship Type="http://schemas.openxmlformats.org/officeDocument/2006/relationships/slide" Target="/ppt/slides/slide4.xml" Id="R9e33abc9ae544ee8" /><Relationship Type="http://schemas.openxmlformats.org/officeDocument/2006/relationships/slide" Target="/ppt/slides/slide5.xml" Id="R707ca32371084ff6" /><Relationship Type="http://schemas.openxmlformats.org/officeDocument/2006/relationships/slide" Target="/ppt/slides/slide6.xml" Id="Re007985494334569" /><Relationship Type="http://schemas.openxmlformats.org/officeDocument/2006/relationships/slide" Target="/ppt/slides/slide7.xml" Id="R168e9077bbdf4778" /><Relationship Type="http://schemas.openxmlformats.org/officeDocument/2006/relationships/slide" Target="/ppt/slides/slide8.xml" Id="R4c9310f905564172" /><Relationship Type="http://schemas.openxmlformats.org/officeDocument/2006/relationships/slide" Target="/ppt/slides/slide9.xml" Id="R2c2ff3fedebf4ac4" /><Relationship Type="http://schemas.openxmlformats.org/officeDocument/2006/relationships/slide" Target="/ppt/slides/slide10.xml" Id="Rf63f560728e9437d" /><Relationship Type="http://schemas.openxmlformats.org/officeDocument/2006/relationships/slide" Target="/ppt/slides/slide11.xml" Id="R64d393be50c542e5" /><Relationship Type="http://schemas.openxmlformats.org/officeDocument/2006/relationships/slide" Target="/ppt/slides/slide12.xml" Id="R826bef4266ae4a3b" /><Relationship Type="http://schemas.openxmlformats.org/officeDocument/2006/relationships/slide" Target="/ppt/slides/slide13.xml" Id="Rf26ddb28569c4264" /><Relationship Type="http://schemas.openxmlformats.org/officeDocument/2006/relationships/slide" Target="/ppt/slides/slide14.xml" Id="Rb16db35c0c094a74" /><Relationship Type="http://schemas.openxmlformats.org/officeDocument/2006/relationships/slide" Target="/ppt/slides/slide15.xml" Id="R76b0e89d7bc24a14" /><Relationship Type="http://schemas.openxmlformats.org/officeDocument/2006/relationships/slide" Target="/ppt/slides/slide16.xml" Id="Rf85b2ca25d474eca" /><Relationship Type="http://schemas.openxmlformats.org/officeDocument/2006/relationships/slide" Target="/ppt/slides/slide17.xml" Id="R4007ac2803534e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2d534cf42943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546b6b75bb4880" /><Relationship Type="http://schemas.openxmlformats.org/officeDocument/2006/relationships/notesMaster" Target="/ppt/notesMasters/notesMaster1.xml" Id="Ra93e0524c7f947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422c01a83e4936" /><Relationship Type="http://schemas.openxmlformats.org/officeDocument/2006/relationships/notesMaster" Target="/ppt/notesMasters/notesMaster1.xml" Id="R12c7247f0ebe4b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87e31b28d6492e" /><Relationship Type="http://schemas.openxmlformats.org/officeDocument/2006/relationships/notesMaster" Target="/ppt/notesMasters/notesMaster1.xml" Id="Rcf5f19ad8f2740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d1a51967ed44cc" /><Relationship Type="http://schemas.openxmlformats.org/officeDocument/2006/relationships/notesMaster" Target="/ppt/notesMasters/notesMaster1.xml" Id="R971e895c750d4b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c87236809849ac" /><Relationship Type="http://schemas.openxmlformats.org/officeDocument/2006/relationships/notesMaster" Target="/ppt/notesMasters/notesMaster1.xml" Id="Rd153f26279e047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64472e97f64dba" /><Relationship Type="http://schemas.openxmlformats.org/officeDocument/2006/relationships/notesMaster" Target="/ppt/notesMasters/notesMaster1.xml" Id="R0a69e1ae4b894a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3e8b54dbe54e1f" /><Relationship Type="http://schemas.openxmlformats.org/officeDocument/2006/relationships/notesMaster" Target="/ppt/notesMasters/notesMaster1.xml" Id="R55b9abf4c39348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ce1e476f9f4504" /><Relationship Type="http://schemas.openxmlformats.org/officeDocument/2006/relationships/notesMaster" Target="/ppt/notesMasters/notesMaster1.xml" Id="R20d63ec7c24149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62c29381924932" /><Relationship Type="http://schemas.openxmlformats.org/officeDocument/2006/relationships/notesMaster" Target="/ppt/notesMasters/notesMaster1.xml" Id="Rd4bc53ca32174b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1a14d5dd00442b" /><Relationship Type="http://schemas.openxmlformats.org/officeDocument/2006/relationships/notesMaster" Target="/ppt/notesMasters/notesMaster1.xml" Id="R2dcfa6f90ea046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6c4c18ae554b0a" /><Relationship Type="http://schemas.openxmlformats.org/officeDocument/2006/relationships/notesMaster" Target="/ppt/notesMasters/notesMaster1.xml" Id="R973de19b2ba04b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3a4aa15297414f" /><Relationship Type="http://schemas.openxmlformats.org/officeDocument/2006/relationships/notesMaster" Target="/ppt/notesMasters/notesMaster1.xml" Id="R4406b783f3ef4e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ffdffab2224b5c" /><Relationship Type="http://schemas.openxmlformats.org/officeDocument/2006/relationships/notesMaster" Target="/ppt/notesMasters/notesMaster1.xml" Id="R291c930525e0416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c8f59fb079433a" /><Relationship Type="http://schemas.openxmlformats.org/officeDocument/2006/relationships/notesMaster" Target="/ppt/notesMasters/notesMaster1.xml" Id="R08d71afc83b546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fad6de13b8443b8" /><Relationship Type="http://schemas.openxmlformats.org/officeDocument/2006/relationships/notesMaster" Target="/ppt/notesMasters/notesMaster1.xml" Id="Rc8ca7db4a68840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54283a7a214423" /><Relationship Type="http://schemas.openxmlformats.org/officeDocument/2006/relationships/notesMaster" Target="/ppt/notesMasters/notesMaster1.xml" Id="R0eb82378c7c04d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5a320be08fa43aa" /><Relationship Type="http://schemas.openxmlformats.org/officeDocument/2006/relationships/notesMaster" Target="/ppt/notesMasters/notesMaster1.xml" Id="R08ae9cad81a444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16a5eba05d4e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43d9d3b5cf4270" /><Relationship Type="http://schemas.openxmlformats.org/officeDocument/2006/relationships/slideLayout" Target="/ppt/slideLayouts/slideLayout1.xml" Id="R93df43d096f343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df43d096f343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a58ea2326c41ae" /><Relationship Type="http://schemas.openxmlformats.org/officeDocument/2006/relationships/notesSlide" Target="/ppt/notesSlides/notesSlide1.xml" Id="Rfbb0e0814efe44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a1b19829974bbd" /><Relationship Type="http://schemas.openxmlformats.org/officeDocument/2006/relationships/notesSlide" Target="/ppt/notesSlides/notesSlide2.xml" Id="R86b58cce0ea844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c25609ec064828" /><Relationship Type="http://schemas.openxmlformats.org/officeDocument/2006/relationships/notesSlide" Target="/ppt/notesSlides/notesSlide3.xml" Id="R560827c51f6744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a88696d22c484f" /><Relationship Type="http://schemas.openxmlformats.org/officeDocument/2006/relationships/notesSlide" Target="/ppt/notesSlides/notesSlide4.xml" Id="R12aa1d640d9144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f0ebc5d2894900" /><Relationship Type="http://schemas.openxmlformats.org/officeDocument/2006/relationships/chart" Target="/ppt/slides/charts/chart1.xml" Id="R480c0f4669ce409d" /><Relationship Type="http://schemas.openxmlformats.org/officeDocument/2006/relationships/notesSlide" Target="/ppt/notesSlides/notesSlide5.xml" Id="Rf8ba326cc13344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ac93f0ad6e4e62" /><Relationship Type="http://schemas.openxmlformats.org/officeDocument/2006/relationships/notesSlide" Target="/ppt/notesSlides/notesSlide6.xml" Id="R06753402b9cd48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f3d1e68aae4639" /><Relationship Type="http://schemas.openxmlformats.org/officeDocument/2006/relationships/notesSlide" Target="/ppt/notesSlides/notesSlide7.xml" Id="R44b7a25ce55c4b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69799c200c4576" /><Relationship Type="http://schemas.openxmlformats.org/officeDocument/2006/relationships/notesSlide" Target="/ppt/notesSlides/notesSlide8.xml" Id="R5fd9268d866144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1be4fecf4744030" /><Relationship Type="http://schemas.openxmlformats.org/officeDocument/2006/relationships/notesSlide" Target="/ppt/notesSlides/notesSlide9.xml" Id="R7c43e7b5439f4e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e047ee1d864ed5" /><Relationship Type="http://schemas.openxmlformats.org/officeDocument/2006/relationships/notesSlide" Target="/ppt/notesSlides/notesSlide10.xml" Id="R03c5ce6603864e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67d8d1eeda4afa" /><Relationship Type="http://schemas.openxmlformats.org/officeDocument/2006/relationships/notesSlide" Target="/ppt/notesSlides/notesSlide11.xml" Id="R3c2ed0e8df9644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ad7633ca5d4994" /><Relationship Type="http://schemas.openxmlformats.org/officeDocument/2006/relationships/notesSlide" Target="/ppt/notesSlides/notesSlide12.xml" Id="Rdbe19764ab8444f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4bcb42cad644ca8" /><Relationship Type="http://schemas.openxmlformats.org/officeDocument/2006/relationships/notesSlide" Target="/ppt/notesSlides/notesSlide13.xml" Id="R6fff3c4a51c84b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1db66d35b0945b3" /><Relationship Type="http://schemas.openxmlformats.org/officeDocument/2006/relationships/chart" Target="/ppt/slides/charts/chart2.xml" Id="Rc542e3f462974397" /><Relationship Type="http://schemas.openxmlformats.org/officeDocument/2006/relationships/notesSlide" Target="/ppt/notesSlides/notesSlide14.xml" Id="Rd3ac3cd26c3342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e9ac2e4c49d458a" /><Relationship Type="http://schemas.openxmlformats.org/officeDocument/2006/relationships/notesSlide" Target="/ppt/notesSlides/notesSlide15.xml" Id="R12ff9afe967d40c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8383df40e00460e" /><Relationship Type="http://schemas.openxmlformats.org/officeDocument/2006/relationships/notesSlide" Target="/ppt/notesSlides/notesSlide16.xml" Id="R7530323513c245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9cb74feeeb24886" /><Relationship Type="http://schemas.openxmlformats.org/officeDocument/2006/relationships/notesSlide" Target="/ppt/notesSlides/notesSlide17.xml" Id="R1d580c669c6d4cb0" /></Relationships>
</file>

<file path=ppt/slides/charts/chart1.xml><?xml version="1.0" encoding="utf-8"?>
<c:chartSpace xmlns:c="http://schemas.openxmlformats.org/drawingml/2006/chart">
  <c:lang val="en-US"/>
  <c:roundedCorners val="0"/>
  <c:chart>
    <c:plotArea>
      <c:layout/>
      <c:barChart>
        <c:barDir val="col"/>
        <c:varyColors val="0"/>
        <c:ser>
          <c:idx val="0"/>
          <c:order val="0"/>
          <c:tx>
            <c:v>伝統的講義</c:v>
          </c:tx>
          <c:spPr>
            <a:solidFill xmlns:a="http://schemas.openxmlformats.org/drawingml/2006/main">
              <a:srgbClr val="B8BCC4"/>
            </a:solidFill>
          </c:spPr>
          <c:dLbls>
            <c:showLegendKey val="0"/>
            <c:showVal val="0"/>
            <c:showCatName val="0"/>
            <c:showSerName val="0"/>
            <c:showPercent val="0"/>
            <c:showBubbleSize val="0"/>
            <c:showLeaderLines val="0"/>
          </c:dLbls>
          <c:cat>
            <c:strLit>
              <c:ptCount val="2"/>
              <c:pt idx="0">
                <c:v>試験成績</c:v>
              </c:pt>
              <c:pt idx="1">
                <c:v>不合格率</c:v>
              </c:pt>
            </c:strLit>
          </c:cat>
          <c:val>
            <c:numLit>
              <c:formatCode>General</c:formatCode>
              <c:ptCount val="2"/>
              <c:pt idx="0">
                <c:v>100</c:v>
              </c:pt>
              <c:pt idx="1">
                <c:v>155</c:v>
              </c:pt>
            </c:numLit>
          </c:val>
        </c:ser>
        <c:ser>
          <c:idx val="1"/>
          <c:order val="1"/>
          <c:tx>
            <c:v>Active Learning</c:v>
          </c:tx>
          <c:spPr>
            <a:solidFill xmlns:a="http://schemas.openxmlformats.org/drawingml/2006/main">
              <a:srgbClr val="FF6B35"/>
            </a:solidFill>
          </c:spPr>
          <c:dLbls>
            <c:showLegendKey val="0"/>
            <c:showVal val="0"/>
            <c:showCatName val="0"/>
            <c:showSerName val="0"/>
            <c:showPercent val="0"/>
            <c:showBubbleSize val="0"/>
            <c:showLeaderLines val="0"/>
          </c:dLbls>
          <c:cat>
            <c:strLit>
              <c:ptCount val="2"/>
              <c:pt idx="0">
                <c:v>試験成績</c:v>
              </c:pt>
              <c:pt idx="1">
                <c:v>不合格率</c:v>
              </c:pt>
            </c:strLit>
          </c:cat>
          <c:val>
            <c:numLit>
              <c:formatCode>General</c:formatCode>
              <c:ptCount val="2"/>
              <c:pt idx="0">
                <c:v>106</c:v>
              </c:pt>
              <c:pt idx="1">
                <c:v>100</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scaling>
        <c:delete val="0"/>
        <c:axPos val="l"/>
        <c:majorGridlines>
          <c:spPr>
            <a:ln xmlns:a="http://schemas.openxmlformats.org/drawingml/2006/main" w="9525">
              <a:solidFill>
                <a:srgbClr val="DDDDD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plotArea>
    <c:legend>
      <c:legendPos val="b"/>
      <c:overlay val="0"/>
    </c:legend>
    <c:plotVisOnly val="1"/>
  </c:chart>
</c:chartSpace>
</file>

<file path=ppt/slides/charts/chart2.xml><?xml version="1.0" encoding="utf-8"?>
<c:chartSpace xmlns:c="http://schemas.openxmlformats.org/drawingml/2006/chart">
  <c:lang val="en-US"/>
  <c:roundedCorners val="0"/>
  <c:chart>
    <c:plotArea>
      <c:layout/>
      <c:barChart>
        <c:barDir val="col"/>
        <c:varyColors val="0"/>
        <c:ser>
          <c:idx val="0"/>
          <c:order val="0"/>
          <c:tx>
            <c:v>件数</c:v>
          </c:tx>
          <c:spPr>
            <a:solidFill xmlns:a="http://schemas.openxmlformats.org/drawingml/2006/main">
              <a:srgbClr val="FF6B35"/>
            </a:solidFill>
          </c:spPr>
          <c:dLbls>
            <c:showLegendKey val="0"/>
            <c:showVal val="0"/>
            <c:showCatName val="0"/>
            <c:showSerName val="0"/>
            <c:showPercent val="0"/>
            <c:showBubbleSize val="0"/>
            <c:showLeaderLines val="0"/>
          </c:dLbls>
          <c:cat>
            <c:strLit>
              <c:ptCount val="4"/>
              <c:pt idx="0">
                <c:v>分からない</c:v>
              </c:pt>
              <c:pt idx="1">
                <c:v>速い</c:v>
              </c:pt>
              <c:pt idx="2">
                <c:v>演習</c:v>
              </c:pt>
              <c:pt idx="3">
                <c:v>質問</c:v>
              </c:pt>
            </c:strLit>
          </c:cat>
          <c:val>
            <c:numLit>
              <c:formatCode>General</c:formatCode>
              <c:ptCount val="4"/>
              <c:pt idx="0">
                <c:v>18</c:v>
              </c:pt>
              <c:pt idx="1">
                <c:v>9</c:v>
              </c:pt>
              <c:pt idx="2">
                <c:v>14</c:v>
              </c:pt>
              <c:pt idx="3">
                <c:v>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scaling>
        <c:delete val="0"/>
        <c:axPos val="l"/>
        <c:majorGridlines>
          <c:spPr>
            <a:ln xmlns:a="http://schemas.openxmlformats.org/drawingml/2006/main" w="9525">
              <a:solidFill>
                <a:srgbClr val="E2E2E2"/>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1EC6A2-3653-4A5C-B9B8-ABA2135CB23B}"/>
              </a:ext>
            </a:extLst>
          </p:cNvPr>
          <p:cNvSpPr>
            <a:spLocks xmlns:a="http://schemas.openxmlformats.org/drawingml/2006/main" noGrp="1"/>
          </p:cNvSpPr>
          <p:nvPr/>
        </p:nvSpPr>
        <p:spPr>
          <a:xfrm xmlns:a="http://schemas.openxmlformats.org/drawingml/2006/main">
            <a:off x="400050" y="742950"/>
            <a:ext cx="8382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111111"/>
                </a:solidFill>
                <a:latin typeface="Yu Gothic"/>
                <a:ea typeface="Yu Gothic"/>
                <a:cs typeface="Yu Gothic"/>
              </a:defRPr>
            </a:pPr>
            <a:r>
              <a:rPr sz="4350" b="1">
                <a:solidFill>
                  <a:srgbClr val="111111"/>
                </a:solidFill>
                <a:latin typeface="Yu Gothic"/>
                <a:ea typeface="Yu Gothic"/>
                <a:cs typeface="Yu Gothic"/>
              </a:rPr>
              <a:t>授業参加を促す</a:t>
            </a:r>
          </a:p>
          <a:p xmlns:a="http://schemas.openxmlformats.org/drawingml/2006/main">
            <a:pPr algn="l">
              <a:defRPr sz="4350" b="1">
                <a:solidFill>
                  <a:srgbClr val="111111"/>
                </a:solidFill>
                <a:latin typeface="Yu Gothic"/>
                <a:ea typeface="Yu Gothic"/>
                <a:cs typeface="Yu Gothic"/>
              </a:defRPr>
            </a:pPr>
            <a:r>
              <a:rPr sz="4350" b="1">
                <a:solidFill>
                  <a:srgbClr val="111111"/>
                </a:solidFill>
                <a:latin typeface="Yu Gothic"/>
                <a:ea typeface="Yu Gothic"/>
                <a:cs typeface="Yu Gothic"/>
              </a:rPr>
              <a:t>授業サポートボタンの設計</a:t>
            </a:r>
          </a:p>
        </p:txBody>
      </p:sp>
      <p:sp>
        <p:nvSpPr>
          <p:cNvPr id="2" name="">
            <a:extLst xmlns:a="http://schemas.openxmlformats.org/drawingml/2006/main">
              <a:ext uri="{FF2B5EF4-FFF2-40B4-BE49-F238E27FC236}">
                <a16:creationId xmlns:a16="http://schemas.microsoft.com/office/drawing/2014/main" id="{96C7FDA5-3CCA-4145-A306-F44D5C8BE7E3}"/>
              </a:ext>
            </a:extLst>
          </p:cNvPr>
          <p:cNvSpPr>
            <a:spLocks xmlns:a="http://schemas.openxmlformats.org/drawingml/2006/main" noGrp="1"/>
          </p:cNvSpPr>
          <p:nvPr/>
        </p:nvSpPr>
        <p:spPr>
          <a:xfrm xmlns:a="http://schemas.openxmlformats.org/drawingml/2006/main">
            <a:off x="438150" y="2914650"/>
            <a:ext cx="838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55555"/>
                </a:solidFill>
                <a:latin typeface="Yu Gothic"/>
                <a:ea typeface="Yu Gothic"/>
                <a:cs typeface="Yu Gothic"/>
              </a:defRPr>
            </a:pPr>
            <a:r>
              <a:rPr sz="1650" b="0">
                <a:solidFill>
                  <a:srgbClr val="555555"/>
                </a:solidFill>
                <a:latin typeface="Yu Gothic"/>
                <a:ea typeface="Yu Gothic"/>
                <a:cs typeface="Yu Gothic"/>
              </a:rPr>
              <a:t>匿名性・リアルタイム反応・アクティブラーニング・ゲーミフィケーションの文献調査</a:t>
            </a:r>
          </a:p>
        </p:txBody>
      </p:sp>
      <p:sp>
        <p:nvSpPr>
          <p:cNvPr id="3" name="">
            <a:extLst xmlns:a="http://schemas.openxmlformats.org/drawingml/2006/main">
              <a:ext uri="{FF2B5EF4-FFF2-40B4-BE49-F238E27FC236}">
                <a16:creationId xmlns:a16="http://schemas.microsoft.com/office/drawing/2014/main" id="{C2D8A9E5-D3BF-42FA-BF71-24074DBF8504}"/>
              </a:ext>
            </a:extLst>
          </p:cNvPr>
          <p:cNvSpPr>
            <a:spLocks xmlns:a="http://schemas.openxmlformats.org/drawingml/2006/main" noGrp="1"/>
          </p:cNvSpPr>
          <p:nvPr/>
        </p:nvSpPr>
        <p:spPr>
          <a:xfrm xmlns:a="http://schemas.openxmlformats.org/drawingml/2006/main">
            <a:off x="8820150" y="762000"/>
            <a:ext cx="2571750" cy="4476750"/>
          </a:xfrm>
          <a:prstGeom xmlns:a="http://schemas.openxmlformats.org/drawingml/2006/main" prst="rect">
            <a:avLst/>
          </a:prstGeom>
          <a:solidFill xmlns:a="http://schemas.openxmlformats.org/drawingml/2006/main">
            <a:srgbClr val="F0F1F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7DACFB0-8100-492D-872E-EA4142CA1D17}"/>
              </a:ext>
            </a:extLst>
          </p:cNvPr>
          <p:cNvSpPr>
            <a:spLocks xmlns:a="http://schemas.openxmlformats.org/drawingml/2006/main" noGrp="1"/>
          </p:cNvSpPr>
          <p:nvPr/>
        </p:nvSpPr>
        <p:spPr>
          <a:xfrm xmlns:a="http://schemas.openxmlformats.org/drawingml/2006/main">
            <a:off x="9124950" y="1352550"/>
            <a:ext cx="2000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111111"/>
                </a:solidFill>
                <a:latin typeface="Aptos"/>
                <a:ea typeface="Aptos"/>
                <a:cs typeface="Aptos"/>
              </a:defRPr>
            </a:pPr>
            <a:r>
              <a:rPr sz="3300" b="1">
                <a:solidFill>
                  <a:srgbClr val="111111"/>
                </a:solidFill>
                <a:latin typeface="Aptos"/>
                <a:ea typeface="Aptos"/>
                <a:cs typeface="Aptos"/>
              </a:rPr>
              <a:t>ASK</a:t>
            </a:r>
          </a:p>
          <a:p xmlns:a="http://schemas.openxmlformats.org/drawingml/2006/main">
            <a:pPr algn="l">
              <a:defRPr sz="3300" b="1">
                <a:solidFill>
                  <a:srgbClr val="111111"/>
                </a:solidFill>
                <a:latin typeface="Aptos"/>
                <a:ea typeface="Aptos"/>
                <a:cs typeface="Aptos"/>
              </a:defRPr>
            </a:pPr>
            <a:r>
              <a:rPr sz="3300" b="1">
                <a:solidFill>
                  <a:srgbClr val="111111"/>
                </a:solidFill>
                <a:latin typeface="Aptos"/>
                <a:ea typeface="Aptos"/>
                <a:cs typeface="Aptos"/>
              </a:rPr>
              <a:t>CHECK</a:t>
            </a:r>
          </a:p>
          <a:p xmlns:a="http://schemas.openxmlformats.org/drawingml/2006/main">
            <a:pPr algn="l">
              <a:defRPr sz="3300" b="1">
                <a:solidFill>
                  <a:srgbClr val="111111"/>
                </a:solidFill>
                <a:latin typeface="Aptos"/>
                <a:ea typeface="Aptos"/>
                <a:cs typeface="Aptos"/>
              </a:defRPr>
            </a:pPr>
            <a:r>
              <a:rPr sz="3300" b="1">
                <a:solidFill>
                  <a:srgbClr val="111111"/>
                </a:solidFill>
                <a:latin typeface="Aptos"/>
                <a:ea typeface="Aptos"/>
                <a:cs typeface="Aptos"/>
              </a:rPr>
              <a:t>HELP</a:t>
            </a:r>
          </a:p>
        </p:txBody>
      </p:sp>
      <p:sp>
        <p:nvSpPr>
          <p:cNvPr id="5" name="">
            <a:extLst xmlns:a="http://schemas.openxmlformats.org/drawingml/2006/main">
              <a:ext uri="{FF2B5EF4-FFF2-40B4-BE49-F238E27FC236}">
                <a16:creationId xmlns:a16="http://schemas.microsoft.com/office/drawing/2014/main" id="{D9F0CB5A-87B2-47BA-91B7-FDCB4A470DCA}"/>
              </a:ext>
            </a:extLst>
          </p:cNvPr>
          <p:cNvSpPr>
            <a:spLocks xmlns:a="http://schemas.openxmlformats.org/drawingml/2006/main" noGrp="1"/>
          </p:cNvSpPr>
          <p:nvPr/>
        </p:nvSpPr>
        <p:spPr>
          <a:xfrm xmlns:a="http://schemas.openxmlformats.org/drawingml/2006/main">
            <a:off x="9124950" y="4076700"/>
            <a:ext cx="2000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6B35"/>
                </a:solidFill>
                <a:latin typeface="Yu Gothic"/>
                <a:ea typeface="Yu Gothic"/>
                <a:cs typeface="Yu Gothic"/>
              </a:defRPr>
            </a:pPr>
            <a:r>
              <a:rPr sz="1650" b="1">
                <a:solidFill>
                  <a:srgbClr val="FF6B35"/>
                </a:solidFill>
                <a:latin typeface="Yu Gothic"/>
                <a:ea typeface="Yu Gothic"/>
                <a:cs typeface="Yu Gothic"/>
              </a:rPr>
              <a:t>学生の「分からない」を</a:t>
            </a:r>
          </a:p>
          <a:p xmlns:a="http://schemas.openxmlformats.org/drawingml/2006/main">
            <a:pPr algn="l">
              <a:defRPr sz="1650" b="1">
                <a:solidFill>
                  <a:srgbClr val="FF6B35"/>
                </a:solidFill>
                <a:latin typeface="Yu Gothic"/>
                <a:ea typeface="Yu Gothic"/>
                <a:cs typeface="Yu Gothic"/>
              </a:defRPr>
            </a:pPr>
            <a:r>
              <a:rPr sz="1650" b="1">
                <a:solidFill>
                  <a:srgbClr val="FF6B35"/>
                </a:solidFill>
                <a:latin typeface="Yu Gothic"/>
                <a:ea typeface="Yu Gothic"/>
                <a:cs typeface="Yu Gothic"/>
              </a:rPr>
              <a:t>安全に授業へ戻す</a:t>
            </a:r>
          </a:p>
        </p:txBody>
      </p:sp>
      <p:sp>
        <p:nvSpPr>
          <p:cNvPr id="6" name="">
            <a:extLst xmlns:a="http://schemas.openxmlformats.org/drawingml/2006/main">
              <a:ext uri="{FF2B5EF4-FFF2-40B4-BE49-F238E27FC236}">
                <a16:creationId xmlns:a16="http://schemas.microsoft.com/office/drawing/2014/main" id="{47F34461-6B23-489D-B4A0-0A04138444BB}"/>
              </a:ext>
            </a:extLst>
          </p:cNvPr>
          <p:cNvSpPr>
            <a:spLocks xmlns:a="http://schemas.openxmlformats.org/drawingml/2006/main" noGrp="1"/>
          </p:cNvSpPr>
          <p:nvPr/>
        </p:nvSpPr>
        <p:spPr>
          <a:xfrm xmlns:a="http://schemas.openxmlformats.org/drawingml/2006/main">
            <a:off x="438150" y="59531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8B8B8B"/>
                </a:solidFill>
                <a:latin typeface="Yu Gothic"/>
                <a:ea typeface="Yu Gothic"/>
                <a:cs typeface="Yu Gothic"/>
              </a:defRPr>
            </a:pPr>
            <a:r>
              <a:rPr sz="1200" b="1">
                <a:solidFill>
                  <a:srgbClr val="8B8B8B"/>
                </a:solidFill>
                <a:latin typeface="Yu Gothic"/>
                <a:ea typeface="Yu Gothic"/>
                <a:cs typeface="Yu Gothic"/>
              </a:rPr>
              <a:t>文献調査スライド</a:t>
            </a:r>
          </a:p>
        </p:txBody>
      </p:sp>
      <p:sp>
        <p:nvSpPr>
          <p:cNvPr id="7" name="">
            <a:extLst xmlns:a="http://schemas.openxmlformats.org/drawingml/2006/main">
              <a:ext uri="{FF2B5EF4-FFF2-40B4-BE49-F238E27FC236}">
                <a16:creationId xmlns:a16="http://schemas.microsoft.com/office/drawing/2014/main" id="{B53BF25E-567D-4B40-AE94-8850FCD49BA8}"/>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BEF9E861-FBD8-4E13-A575-F441610D4367}"/>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01</a:t>
            </a:r>
          </a:p>
        </p:txBody>
      </p:sp>
    </p:spTree>
    <p:extLst>
      <p:ext uri="{BB962C8B-B14F-4D97-AF65-F5344CB8AC3E}">
        <p14:creationId xmlns:p14="http://schemas.microsoft.com/office/powerpoint/2010/main" val="15399409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9A1655-9D46-453E-9C7A-60BD25E8E85D}"/>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出発点: 授業参加は「発言できる人」だけで測れない</a:t>
            </a:r>
          </a:p>
        </p:txBody>
      </p:sp>
      <p:sp>
        <p:nvSpPr>
          <p:cNvPr id="2" name="">
            <a:extLst xmlns:a="http://schemas.openxmlformats.org/drawingml/2006/main">
              <a:ext uri="{FF2B5EF4-FFF2-40B4-BE49-F238E27FC236}">
                <a16:creationId xmlns:a16="http://schemas.microsoft.com/office/drawing/2014/main" id="{5622FEA7-F9B5-4F2F-A97B-34032DDDDBF2}"/>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C3559F6-1280-4C66-9FF5-8484214BEFEE}"/>
              </a:ext>
            </a:extLst>
          </p:cNvPr>
          <p:cNvSpPr>
            <a:spLocks xmlns:a="http://schemas.openxmlformats.org/drawingml/2006/main" noGrp="1"/>
          </p:cNvSpPr>
          <p:nvPr/>
        </p:nvSpPr>
        <p:spPr>
          <a:xfrm xmlns:a="http://schemas.openxmlformats.org/drawingml/2006/main">
            <a:off x="590550" y="186690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11111"/>
                </a:solidFill>
                <a:latin typeface="Yu Gothic"/>
                <a:ea typeface="Yu Gothic"/>
                <a:cs typeface="Yu Gothic"/>
              </a:defRPr>
            </a:pPr>
            <a:r>
              <a:rPr sz="2250" b="1">
                <a:solidFill>
                  <a:srgbClr val="111111"/>
                </a:solidFill>
                <a:latin typeface="Yu Gothic"/>
                <a:ea typeface="Yu Gothic"/>
                <a:cs typeface="Yu Gothic"/>
              </a:rPr>
              <a:t>大人数授業では、理解できていない学生ほど声を出しにくい。</a:t>
            </a:r>
          </a:p>
        </p:txBody>
      </p:sp>
      <p:sp>
        <p:nvSpPr>
          <p:cNvPr id="4" name="">
            <a:extLst xmlns:a="http://schemas.openxmlformats.org/drawingml/2006/main">
              <a:ext uri="{FF2B5EF4-FFF2-40B4-BE49-F238E27FC236}">
                <a16:creationId xmlns:a16="http://schemas.microsoft.com/office/drawing/2014/main" id="{DC8EE284-F694-4517-8AD1-876EEEEFCCD7}"/>
              </a:ext>
            </a:extLst>
          </p:cNvPr>
          <p:cNvSpPr>
            <a:spLocks xmlns:a="http://schemas.openxmlformats.org/drawingml/2006/main" noGrp="1"/>
          </p:cNvSpPr>
          <p:nvPr/>
        </p:nvSpPr>
        <p:spPr>
          <a:xfrm xmlns:a="http://schemas.openxmlformats.org/drawingml/2006/main">
            <a:off x="590550" y="2571750"/>
            <a:ext cx="7239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55555"/>
                </a:solidFill>
                <a:latin typeface="Yu Gothic"/>
                <a:ea typeface="Yu Gothic"/>
                <a:cs typeface="Yu Gothic"/>
              </a:defRPr>
            </a:pPr>
            <a:r>
              <a:rPr sz="1650" b="0">
                <a:solidFill>
                  <a:srgbClr val="555555"/>
                </a:solidFill>
                <a:latin typeface="Yu Gothic"/>
                <a:ea typeface="Yu Gothic"/>
                <a:cs typeface="Yu Gothic"/>
              </a:rPr>
              <a:t>授業サポートボタンは、挙手や発言の代替ではなく、教員が授業中に学生の状態を読むための低負荷なチャンネルとして考える。</a:t>
            </a:r>
          </a:p>
        </p:txBody>
      </p:sp>
      <p:sp>
        <p:nvSpPr>
          <p:cNvPr id="5" name="">
            <a:extLst xmlns:a="http://schemas.openxmlformats.org/drawingml/2006/main">
              <a:ext uri="{FF2B5EF4-FFF2-40B4-BE49-F238E27FC236}">
                <a16:creationId xmlns:a16="http://schemas.microsoft.com/office/drawing/2014/main" id="{B18EF065-42D0-4976-B3A9-1A5B13B24B9D}"/>
              </a:ext>
            </a:extLst>
          </p:cNvPr>
          <p:cNvSpPr>
            <a:spLocks xmlns:a="http://schemas.openxmlformats.org/drawingml/2006/main" noGrp="1"/>
          </p:cNvSpPr>
          <p:nvPr/>
        </p:nvSpPr>
        <p:spPr>
          <a:xfrm xmlns:a="http://schemas.openxmlformats.org/drawingml/2006/main">
            <a:off x="590550" y="4000500"/>
            <a:ext cx="3238500" cy="1381125"/>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163967B6-F7BD-400B-B565-7368B1779ADB}"/>
              </a:ext>
            </a:extLst>
          </p:cNvPr>
          <p:cNvSpPr>
            <a:spLocks xmlns:a="http://schemas.openxmlformats.org/drawingml/2006/main" noGrp="1"/>
          </p:cNvSpPr>
          <p:nvPr/>
        </p:nvSpPr>
        <p:spPr>
          <a:xfrm xmlns:a="http://schemas.openxmlformats.org/drawingml/2006/main">
            <a:off x="800100" y="41910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学生側</a:t>
            </a:r>
          </a:p>
        </p:txBody>
      </p:sp>
      <p:sp>
        <p:nvSpPr>
          <p:cNvPr id="7" name="">
            <a:extLst xmlns:a="http://schemas.openxmlformats.org/drawingml/2006/main">
              <a:ext uri="{FF2B5EF4-FFF2-40B4-BE49-F238E27FC236}">
                <a16:creationId xmlns:a16="http://schemas.microsoft.com/office/drawing/2014/main" id="{B38E2A32-4DD2-459E-A0A6-6CC6B6D1273A}"/>
              </a:ext>
            </a:extLst>
          </p:cNvPr>
          <p:cNvSpPr>
            <a:spLocks xmlns:a="http://schemas.openxmlformats.org/drawingml/2006/main" noGrp="1"/>
          </p:cNvSpPr>
          <p:nvPr/>
        </p:nvSpPr>
        <p:spPr>
          <a:xfrm xmlns:a="http://schemas.openxmlformats.org/drawingml/2006/main">
            <a:off x="800100" y="4610100"/>
            <a:ext cx="2714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質問が恥ずかしい</a:t>
            </a:r>
          </a:p>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間違いが怖い</a:t>
            </a:r>
          </a:p>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授業が速くても止めにくい</a:t>
            </a:r>
          </a:p>
        </p:txBody>
      </p:sp>
      <p:sp>
        <p:nvSpPr>
          <p:cNvPr id="8" name="">
            <a:extLst xmlns:a="http://schemas.openxmlformats.org/drawingml/2006/main">
              <a:ext uri="{FF2B5EF4-FFF2-40B4-BE49-F238E27FC236}">
                <a16:creationId xmlns:a16="http://schemas.microsoft.com/office/drawing/2014/main" id="{003458F6-FB64-421C-B887-69DADC58F0DF}"/>
              </a:ext>
            </a:extLst>
          </p:cNvPr>
          <p:cNvSpPr>
            <a:spLocks xmlns:a="http://schemas.openxmlformats.org/drawingml/2006/main" noGrp="1"/>
          </p:cNvSpPr>
          <p:nvPr/>
        </p:nvSpPr>
        <p:spPr>
          <a:xfrm xmlns:a="http://schemas.openxmlformats.org/drawingml/2006/main">
            <a:off x="4305300" y="4000500"/>
            <a:ext cx="3238500" cy="1381125"/>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A89FEC98-B144-44D7-9860-99C9D13DC1B0}"/>
              </a:ext>
            </a:extLst>
          </p:cNvPr>
          <p:cNvSpPr>
            <a:spLocks xmlns:a="http://schemas.openxmlformats.org/drawingml/2006/main" noGrp="1"/>
          </p:cNvSpPr>
          <p:nvPr/>
        </p:nvSpPr>
        <p:spPr>
          <a:xfrm xmlns:a="http://schemas.openxmlformats.org/drawingml/2006/main">
            <a:off x="4514850" y="41910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教員側</a:t>
            </a:r>
          </a:p>
        </p:txBody>
      </p:sp>
      <p:sp>
        <p:nvSpPr>
          <p:cNvPr id="10" name="">
            <a:extLst xmlns:a="http://schemas.openxmlformats.org/drawingml/2006/main">
              <a:ext uri="{FF2B5EF4-FFF2-40B4-BE49-F238E27FC236}">
                <a16:creationId xmlns:a16="http://schemas.microsoft.com/office/drawing/2014/main" id="{9F1029A3-E662-46FC-8070-1DCFDB3E9A8F}"/>
              </a:ext>
            </a:extLst>
          </p:cNvPr>
          <p:cNvSpPr>
            <a:spLocks xmlns:a="http://schemas.openxmlformats.org/drawingml/2006/main" noGrp="1"/>
          </p:cNvSpPr>
          <p:nvPr/>
        </p:nvSpPr>
        <p:spPr>
          <a:xfrm xmlns:a="http://schemas.openxmlformats.org/drawingml/2006/main">
            <a:off x="4514850" y="4610100"/>
            <a:ext cx="2714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理解度が見えにくい</a:t>
            </a:r>
          </a:p>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誰が困っているか分からない</a:t>
            </a:r>
          </a:p>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授業中の調整が難しい</a:t>
            </a:r>
          </a:p>
        </p:txBody>
      </p:sp>
      <p:sp>
        <p:nvSpPr>
          <p:cNvPr id="11" name="">
            <a:extLst xmlns:a="http://schemas.openxmlformats.org/drawingml/2006/main">
              <a:ext uri="{FF2B5EF4-FFF2-40B4-BE49-F238E27FC236}">
                <a16:creationId xmlns:a16="http://schemas.microsoft.com/office/drawing/2014/main" id="{B611A78A-FA88-49EA-A5B6-4ED83AA5E709}"/>
              </a:ext>
            </a:extLst>
          </p:cNvPr>
          <p:cNvSpPr>
            <a:spLocks xmlns:a="http://schemas.openxmlformats.org/drawingml/2006/main" noGrp="1"/>
          </p:cNvSpPr>
          <p:nvPr/>
        </p:nvSpPr>
        <p:spPr>
          <a:xfrm xmlns:a="http://schemas.openxmlformats.org/drawingml/2006/main">
            <a:off x="8020050" y="4000500"/>
            <a:ext cx="3238500" cy="1381125"/>
          </a:xfrm>
          <a:prstGeom xmlns:a="http://schemas.openxmlformats.org/drawingml/2006/main" prst="rect">
            <a:avLst/>
          </a:prstGeom>
          <a:solidFill xmlns:a="http://schemas.openxmlformats.org/drawingml/2006/main">
            <a:srgbClr val="FFF4EF"/>
          </a:solidFill>
          <a:ln xmlns:a="http://schemas.openxmlformats.org/drawingml/2006/main" w="9525">
            <a:solidFill>
              <a:srgbClr val="FFD2C2"/>
            </a:solidFill>
            <a:prstDash val="solid"/>
          </a:ln>
        </p:spPr>
      </p:sp>
      <p:sp>
        <p:nvSpPr>
          <p:cNvPr id="12" name="">
            <a:extLst xmlns:a="http://schemas.openxmlformats.org/drawingml/2006/main">
              <a:ext uri="{FF2B5EF4-FFF2-40B4-BE49-F238E27FC236}">
                <a16:creationId xmlns:a16="http://schemas.microsoft.com/office/drawing/2014/main" id="{1AD85617-5CCF-421F-8BA2-882D9B16D0D9}"/>
              </a:ext>
            </a:extLst>
          </p:cNvPr>
          <p:cNvSpPr>
            <a:spLocks xmlns:a="http://schemas.openxmlformats.org/drawingml/2006/main" noGrp="1"/>
          </p:cNvSpPr>
          <p:nvPr/>
        </p:nvSpPr>
        <p:spPr>
          <a:xfrm xmlns:a="http://schemas.openxmlformats.org/drawingml/2006/main">
            <a:off x="8229600" y="41910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F6B35"/>
                </a:solidFill>
                <a:latin typeface="Yu Gothic"/>
                <a:ea typeface="Yu Gothic"/>
                <a:cs typeface="Yu Gothic"/>
              </a:defRPr>
            </a:pPr>
            <a:r>
              <a:rPr sz="1800" b="1">
                <a:solidFill>
                  <a:srgbClr val="FF6B35"/>
                </a:solidFill>
                <a:latin typeface="Yu Gothic"/>
                <a:ea typeface="Yu Gothic"/>
                <a:cs typeface="Yu Gothic"/>
              </a:rPr>
              <a:t>設計上の注意</a:t>
            </a:r>
          </a:p>
        </p:txBody>
      </p:sp>
      <p:sp>
        <p:nvSpPr>
          <p:cNvPr id="13" name="">
            <a:extLst xmlns:a="http://schemas.openxmlformats.org/drawingml/2006/main">
              <a:ext uri="{FF2B5EF4-FFF2-40B4-BE49-F238E27FC236}">
                <a16:creationId xmlns:a16="http://schemas.microsoft.com/office/drawing/2014/main" id="{2A294472-5A84-4337-B95A-B1CCC564B14B}"/>
              </a:ext>
            </a:extLst>
          </p:cNvPr>
          <p:cNvSpPr>
            <a:spLocks xmlns:a="http://schemas.openxmlformats.org/drawingml/2006/main" noGrp="1"/>
          </p:cNvSpPr>
          <p:nvPr/>
        </p:nvSpPr>
        <p:spPr>
          <a:xfrm xmlns:a="http://schemas.openxmlformats.org/drawingml/2006/main">
            <a:off x="8229600" y="4610100"/>
            <a:ext cx="27146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参加促進が強制に見える</a:t>
            </a:r>
          </a:p>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ランキング化で不安が増える</a:t>
            </a:r>
          </a:p>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通知過多で運用負荷が上がる</a:t>
            </a:r>
          </a:p>
        </p:txBody>
      </p:sp>
      <p:sp>
        <p:nvSpPr>
          <p:cNvPr id="14" name="">
            <a:extLst xmlns:a="http://schemas.openxmlformats.org/drawingml/2006/main">
              <a:ext uri="{FF2B5EF4-FFF2-40B4-BE49-F238E27FC236}">
                <a16:creationId xmlns:a16="http://schemas.microsoft.com/office/drawing/2014/main" id="{15F97315-680D-4529-BEEA-CA51EBFBA81D}"/>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背景</a:t>
            </a:r>
          </a:p>
        </p:txBody>
      </p:sp>
      <p:sp>
        <p:nvSpPr>
          <p:cNvPr id="15" name="">
            <a:extLst xmlns:a="http://schemas.openxmlformats.org/drawingml/2006/main">
              <a:ext uri="{FF2B5EF4-FFF2-40B4-BE49-F238E27FC236}">
                <a16:creationId xmlns:a16="http://schemas.microsoft.com/office/drawing/2014/main" id="{C6250D65-A772-4B5E-9F7B-74F57335A5CD}"/>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02</a:t>
            </a:r>
          </a:p>
        </p:txBody>
      </p:sp>
    </p:spTree>
    <p:extLst>
      <p:ext uri="{BB962C8B-B14F-4D97-AF65-F5344CB8AC3E}">
        <p14:creationId xmlns:p14="http://schemas.microsoft.com/office/powerpoint/2010/main" val="8206922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E8F8F3-727A-4498-B731-ECA960566D37}"/>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文献調査の問いと対象領域</a:t>
            </a:r>
          </a:p>
        </p:txBody>
      </p:sp>
      <p:sp>
        <p:nvSpPr>
          <p:cNvPr id="2" name="">
            <a:extLst xmlns:a="http://schemas.openxmlformats.org/drawingml/2006/main">
              <a:ext uri="{FF2B5EF4-FFF2-40B4-BE49-F238E27FC236}">
                <a16:creationId xmlns:a16="http://schemas.microsoft.com/office/drawing/2014/main" id="{DDB5A84C-69AA-4D13-85AC-7F45D38E6FBB}"/>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4C4503E-0022-44E3-9FD8-4ADE97B485CA}"/>
              </a:ext>
            </a:extLst>
          </p:cNvPr>
          <p:cNvSpPr>
            <a:spLocks xmlns:a="http://schemas.openxmlformats.org/drawingml/2006/main" noGrp="1"/>
          </p:cNvSpPr>
          <p:nvPr/>
        </p:nvSpPr>
        <p:spPr>
          <a:xfrm xmlns:a="http://schemas.openxmlformats.org/drawingml/2006/main">
            <a:off x="628650" y="18097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6B35"/>
                </a:solidFill>
                <a:latin typeface="Yu Gothic"/>
                <a:ea typeface="Yu Gothic"/>
                <a:cs typeface="Yu Gothic"/>
              </a:defRPr>
            </a:pPr>
            <a:r>
              <a:rPr sz="1500" b="1">
                <a:solidFill>
                  <a:srgbClr val="FF6B35"/>
                </a:solidFill>
                <a:latin typeface="Yu Gothic"/>
                <a:ea typeface="Yu Gothic"/>
                <a:cs typeface="Yu Gothic"/>
              </a:rPr>
              <a:t>問い</a:t>
            </a:r>
          </a:p>
        </p:txBody>
      </p:sp>
      <p:sp>
        <p:nvSpPr>
          <p:cNvPr id="4" name="">
            <a:extLst xmlns:a="http://schemas.openxmlformats.org/drawingml/2006/main">
              <a:ext uri="{FF2B5EF4-FFF2-40B4-BE49-F238E27FC236}">
                <a16:creationId xmlns:a16="http://schemas.microsoft.com/office/drawing/2014/main" id="{04C06861-F032-4CD7-98A1-0C92664A7CCE}"/>
              </a:ext>
            </a:extLst>
          </p:cNvPr>
          <p:cNvSpPr>
            <a:spLocks xmlns:a="http://schemas.openxmlformats.org/drawingml/2006/main" noGrp="1"/>
          </p:cNvSpPr>
          <p:nvPr/>
        </p:nvSpPr>
        <p:spPr>
          <a:xfrm xmlns:a="http://schemas.openxmlformats.org/drawingml/2006/main">
            <a:off x="1352550" y="17526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11111"/>
                </a:solidFill>
                <a:latin typeface="Yu Gothic"/>
                <a:ea typeface="Yu Gothic"/>
                <a:cs typeface="Yu Gothic"/>
              </a:defRPr>
            </a:pPr>
            <a:r>
              <a:rPr sz="2175" b="1">
                <a:solidFill>
                  <a:srgbClr val="111111"/>
                </a:solidFill>
                <a:latin typeface="Yu Gothic"/>
                <a:ea typeface="Yu Gothic"/>
                <a:cs typeface="Yu Gothic"/>
              </a:rPr>
              <a:t>授業中に学生を参加させる仕組みは、どのような条件で有効になり、どのような条件で逆効果になるのか。</a:t>
            </a:r>
          </a:p>
        </p:txBody>
      </p:sp>
      <p:sp>
        <p:nvSpPr>
          <p:cNvPr id="5" name="">
            <a:extLst xmlns:a="http://schemas.openxmlformats.org/drawingml/2006/main">
              <a:ext uri="{FF2B5EF4-FFF2-40B4-BE49-F238E27FC236}">
                <a16:creationId xmlns:a16="http://schemas.microsoft.com/office/drawing/2014/main" id="{3891492E-C1FB-4A01-B64D-C29DCDBE2E74}"/>
              </a:ext>
            </a:extLst>
          </p:cNvPr>
          <p:cNvSpPr>
            <a:spLocks xmlns:a="http://schemas.openxmlformats.org/drawingml/2006/main" noGrp="1"/>
          </p:cNvSpPr>
          <p:nvPr/>
        </p:nvSpPr>
        <p:spPr>
          <a:xfrm xmlns:a="http://schemas.openxmlformats.org/drawingml/2006/main">
            <a:off x="666750" y="2952750"/>
            <a:ext cx="4762500" cy="8763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341673C7-A192-4200-9998-16447168B9EC}"/>
              </a:ext>
            </a:extLst>
          </p:cNvPr>
          <p:cNvSpPr>
            <a:spLocks xmlns:a="http://schemas.openxmlformats.org/drawingml/2006/main" noGrp="1"/>
          </p:cNvSpPr>
          <p:nvPr/>
        </p:nvSpPr>
        <p:spPr>
          <a:xfrm xmlns:a="http://schemas.openxmlformats.org/drawingml/2006/main">
            <a:off x="857250" y="31432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8B8B"/>
                </a:solidFill>
                <a:latin typeface="Yu Gothic"/>
                <a:ea typeface="Yu Gothic"/>
                <a:cs typeface="Yu Gothic"/>
              </a:defRPr>
            </a:pPr>
            <a:r>
              <a:rPr sz="1350" b="1">
                <a:solidFill>
                  <a:srgbClr val="8B8B8B"/>
                </a:solidFill>
                <a:latin typeface="Yu Gothic"/>
                <a:ea typeface="Yu Gothic"/>
                <a:cs typeface="Yu Gothic"/>
              </a:rPr>
              <a:t>01</a:t>
            </a:r>
          </a:p>
        </p:txBody>
      </p:sp>
      <p:sp>
        <p:nvSpPr>
          <p:cNvPr id="7" name="">
            <a:extLst xmlns:a="http://schemas.openxmlformats.org/drawingml/2006/main">
              <a:ext uri="{FF2B5EF4-FFF2-40B4-BE49-F238E27FC236}">
                <a16:creationId xmlns:a16="http://schemas.microsoft.com/office/drawing/2014/main" id="{D70DB1C8-2603-463A-9A0B-5EBFFD2C7B8B}"/>
              </a:ext>
            </a:extLst>
          </p:cNvPr>
          <p:cNvSpPr>
            <a:spLocks xmlns:a="http://schemas.openxmlformats.org/drawingml/2006/main" noGrp="1"/>
          </p:cNvSpPr>
          <p:nvPr/>
        </p:nvSpPr>
        <p:spPr>
          <a:xfrm xmlns:a="http://schemas.openxmlformats.org/drawingml/2006/main">
            <a:off x="1409700" y="3114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latin typeface="Yu Gothic"/>
                <a:ea typeface="Yu Gothic"/>
                <a:cs typeface="Yu Gothic"/>
              </a:defRPr>
            </a:pPr>
            <a:r>
              <a:rPr sz="1650" b="1">
                <a:solidFill>
                  <a:srgbClr val="111111"/>
                </a:solidFill>
                <a:latin typeface="Yu Gothic"/>
                <a:ea typeface="Yu Gothic"/>
                <a:cs typeface="Yu Gothic"/>
              </a:rPr>
              <a:t>Active Learning</a:t>
            </a:r>
          </a:p>
        </p:txBody>
      </p:sp>
      <p:sp>
        <p:nvSpPr>
          <p:cNvPr id="8" name="">
            <a:extLst xmlns:a="http://schemas.openxmlformats.org/drawingml/2006/main">
              <a:ext uri="{FF2B5EF4-FFF2-40B4-BE49-F238E27FC236}">
                <a16:creationId xmlns:a16="http://schemas.microsoft.com/office/drawing/2014/main" id="{CB95341A-1C55-4DB3-8804-8BCD12C2B2CF}"/>
              </a:ext>
            </a:extLst>
          </p:cNvPr>
          <p:cNvSpPr>
            <a:spLocks xmlns:a="http://schemas.openxmlformats.org/drawingml/2006/main" noGrp="1"/>
          </p:cNvSpPr>
          <p:nvPr/>
        </p:nvSpPr>
        <p:spPr>
          <a:xfrm xmlns:a="http://schemas.openxmlformats.org/drawingml/2006/main">
            <a:off x="1409700" y="34480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55555"/>
                </a:solidFill>
                <a:latin typeface="Yu Gothic"/>
                <a:ea typeface="Yu Gothic"/>
                <a:cs typeface="Yu Gothic"/>
              </a:defRPr>
            </a:pPr>
            <a:r>
              <a:rPr sz="1125" b="0">
                <a:solidFill>
                  <a:srgbClr val="555555"/>
                </a:solidFill>
                <a:latin typeface="Yu Gothic"/>
                <a:ea typeface="Yu Gothic"/>
                <a:cs typeface="Yu Gothic"/>
              </a:rPr>
              <a:t>活動・議論で学習へ参加する枠組み</a:t>
            </a:r>
          </a:p>
        </p:txBody>
      </p:sp>
      <p:sp>
        <p:nvSpPr>
          <p:cNvPr id="9" name="">
            <a:extLst xmlns:a="http://schemas.openxmlformats.org/drawingml/2006/main">
              <a:ext uri="{FF2B5EF4-FFF2-40B4-BE49-F238E27FC236}">
                <a16:creationId xmlns:a16="http://schemas.microsoft.com/office/drawing/2014/main" id="{87D05EAA-330E-431A-9AA6-B4D351624254}"/>
              </a:ext>
            </a:extLst>
          </p:cNvPr>
          <p:cNvSpPr>
            <a:spLocks xmlns:a="http://schemas.openxmlformats.org/drawingml/2006/main" noGrp="1"/>
          </p:cNvSpPr>
          <p:nvPr/>
        </p:nvSpPr>
        <p:spPr>
          <a:xfrm xmlns:a="http://schemas.openxmlformats.org/drawingml/2006/main">
            <a:off x="6096000" y="2952750"/>
            <a:ext cx="4762500" cy="8763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7EC80E26-2465-44D9-86F0-90A1976EAD8C}"/>
              </a:ext>
            </a:extLst>
          </p:cNvPr>
          <p:cNvSpPr>
            <a:spLocks xmlns:a="http://schemas.openxmlformats.org/drawingml/2006/main" noGrp="1"/>
          </p:cNvSpPr>
          <p:nvPr/>
        </p:nvSpPr>
        <p:spPr>
          <a:xfrm xmlns:a="http://schemas.openxmlformats.org/drawingml/2006/main">
            <a:off x="6286500" y="31432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8B8B"/>
                </a:solidFill>
                <a:latin typeface="Yu Gothic"/>
                <a:ea typeface="Yu Gothic"/>
                <a:cs typeface="Yu Gothic"/>
              </a:defRPr>
            </a:pPr>
            <a:r>
              <a:rPr sz="1350" b="1">
                <a:solidFill>
                  <a:srgbClr val="8B8B8B"/>
                </a:solidFill>
                <a:latin typeface="Yu Gothic"/>
                <a:ea typeface="Yu Gothic"/>
                <a:cs typeface="Yu Gothic"/>
              </a:rPr>
              <a:t>02</a:t>
            </a:r>
          </a:p>
        </p:txBody>
      </p:sp>
      <p:sp>
        <p:nvSpPr>
          <p:cNvPr id="11" name="">
            <a:extLst xmlns:a="http://schemas.openxmlformats.org/drawingml/2006/main">
              <a:ext uri="{FF2B5EF4-FFF2-40B4-BE49-F238E27FC236}">
                <a16:creationId xmlns:a16="http://schemas.microsoft.com/office/drawing/2014/main" id="{FE0D1459-D992-4E1E-9A76-AA046674E0CF}"/>
              </a:ext>
            </a:extLst>
          </p:cNvPr>
          <p:cNvSpPr>
            <a:spLocks xmlns:a="http://schemas.openxmlformats.org/drawingml/2006/main" noGrp="1"/>
          </p:cNvSpPr>
          <p:nvPr/>
        </p:nvSpPr>
        <p:spPr>
          <a:xfrm xmlns:a="http://schemas.openxmlformats.org/drawingml/2006/main">
            <a:off x="6838950" y="3114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latin typeface="Yu Gothic"/>
                <a:ea typeface="Yu Gothic"/>
                <a:cs typeface="Yu Gothic"/>
              </a:defRPr>
            </a:pPr>
            <a:r>
              <a:rPr sz="1650" b="1">
                <a:solidFill>
                  <a:srgbClr val="111111"/>
                </a:solidFill>
                <a:latin typeface="Yu Gothic"/>
                <a:ea typeface="Yu Gothic"/>
                <a:cs typeface="Yu Gothic"/>
              </a:rPr>
              <a:t>SRS / Clickers</a:t>
            </a:r>
          </a:p>
        </p:txBody>
      </p:sp>
      <p:sp>
        <p:nvSpPr>
          <p:cNvPr id="12" name="">
            <a:extLst xmlns:a="http://schemas.openxmlformats.org/drawingml/2006/main">
              <a:ext uri="{FF2B5EF4-FFF2-40B4-BE49-F238E27FC236}">
                <a16:creationId xmlns:a16="http://schemas.microsoft.com/office/drawing/2014/main" id="{06D50DD5-E7EE-4424-8088-577638BDC478}"/>
              </a:ext>
            </a:extLst>
          </p:cNvPr>
          <p:cNvSpPr>
            <a:spLocks xmlns:a="http://schemas.openxmlformats.org/drawingml/2006/main" noGrp="1"/>
          </p:cNvSpPr>
          <p:nvPr/>
        </p:nvSpPr>
        <p:spPr>
          <a:xfrm xmlns:a="http://schemas.openxmlformats.org/drawingml/2006/main">
            <a:off x="6838950" y="34480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55555"/>
                </a:solidFill>
                <a:latin typeface="Yu Gothic"/>
                <a:ea typeface="Yu Gothic"/>
                <a:cs typeface="Yu Gothic"/>
              </a:defRPr>
            </a:pPr>
            <a:r>
              <a:rPr sz="1125" b="0">
                <a:solidFill>
                  <a:srgbClr val="555555"/>
                </a:solidFill>
                <a:latin typeface="Yu Gothic"/>
                <a:ea typeface="Yu Gothic"/>
                <a:cs typeface="Yu Gothic"/>
              </a:rPr>
              <a:t>スマホ回答で全員が即時反応</a:t>
            </a:r>
          </a:p>
        </p:txBody>
      </p:sp>
      <p:sp>
        <p:nvSpPr>
          <p:cNvPr id="13" name="">
            <a:extLst xmlns:a="http://schemas.openxmlformats.org/drawingml/2006/main">
              <a:ext uri="{FF2B5EF4-FFF2-40B4-BE49-F238E27FC236}">
                <a16:creationId xmlns:a16="http://schemas.microsoft.com/office/drawing/2014/main" id="{130BA682-146A-48D9-A014-D893D5A5FEA0}"/>
              </a:ext>
            </a:extLst>
          </p:cNvPr>
          <p:cNvSpPr>
            <a:spLocks xmlns:a="http://schemas.openxmlformats.org/drawingml/2006/main" noGrp="1"/>
          </p:cNvSpPr>
          <p:nvPr/>
        </p:nvSpPr>
        <p:spPr>
          <a:xfrm xmlns:a="http://schemas.openxmlformats.org/drawingml/2006/main">
            <a:off x="666750" y="4095750"/>
            <a:ext cx="4762500" cy="8763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41247188-DD87-4FE5-A7EC-B44E46C34C7B}"/>
              </a:ext>
            </a:extLst>
          </p:cNvPr>
          <p:cNvSpPr>
            <a:spLocks xmlns:a="http://schemas.openxmlformats.org/drawingml/2006/main" noGrp="1"/>
          </p:cNvSpPr>
          <p:nvPr/>
        </p:nvSpPr>
        <p:spPr>
          <a:xfrm xmlns:a="http://schemas.openxmlformats.org/drawingml/2006/main">
            <a:off x="857250" y="42862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8B8B"/>
                </a:solidFill>
                <a:latin typeface="Yu Gothic"/>
                <a:ea typeface="Yu Gothic"/>
                <a:cs typeface="Yu Gothic"/>
              </a:defRPr>
            </a:pPr>
            <a:r>
              <a:rPr sz="1350" b="1">
                <a:solidFill>
                  <a:srgbClr val="8B8B8B"/>
                </a:solidFill>
                <a:latin typeface="Yu Gothic"/>
                <a:ea typeface="Yu Gothic"/>
                <a:cs typeface="Yu Gothic"/>
              </a:rPr>
              <a:t>03</a:t>
            </a:r>
          </a:p>
        </p:txBody>
      </p:sp>
      <p:sp>
        <p:nvSpPr>
          <p:cNvPr id="15" name="">
            <a:extLst xmlns:a="http://schemas.openxmlformats.org/drawingml/2006/main">
              <a:ext uri="{FF2B5EF4-FFF2-40B4-BE49-F238E27FC236}">
                <a16:creationId xmlns:a16="http://schemas.microsoft.com/office/drawing/2014/main" id="{8DA1E6EA-D347-419B-968A-C74D5C5642ED}"/>
              </a:ext>
            </a:extLst>
          </p:cNvPr>
          <p:cNvSpPr>
            <a:spLocks xmlns:a="http://schemas.openxmlformats.org/drawingml/2006/main" noGrp="1"/>
          </p:cNvSpPr>
          <p:nvPr/>
        </p:nvSpPr>
        <p:spPr>
          <a:xfrm xmlns:a="http://schemas.openxmlformats.org/drawingml/2006/main">
            <a:off x="1409700" y="4257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latin typeface="Yu Gothic"/>
                <a:ea typeface="Yu Gothic"/>
                <a:cs typeface="Yu Gothic"/>
              </a:defRPr>
            </a:pPr>
            <a:r>
              <a:rPr sz="1650" b="1">
                <a:solidFill>
                  <a:srgbClr val="111111"/>
                </a:solidFill>
                <a:latin typeface="Yu Gothic"/>
                <a:ea typeface="Yu Gothic"/>
                <a:cs typeface="Yu Gothic"/>
              </a:rPr>
              <a:t>Anonymous Question</a:t>
            </a:r>
          </a:p>
        </p:txBody>
      </p:sp>
      <p:sp>
        <p:nvSpPr>
          <p:cNvPr id="16" name="">
            <a:extLst xmlns:a="http://schemas.openxmlformats.org/drawingml/2006/main">
              <a:ext uri="{FF2B5EF4-FFF2-40B4-BE49-F238E27FC236}">
                <a16:creationId xmlns:a16="http://schemas.microsoft.com/office/drawing/2014/main" id="{9601EC0E-D406-4EF7-AC5D-825595EB8B51}"/>
              </a:ext>
            </a:extLst>
          </p:cNvPr>
          <p:cNvSpPr>
            <a:spLocks xmlns:a="http://schemas.openxmlformats.org/drawingml/2006/main" noGrp="1"/>
          </p:cNvSpPr>
          <p:nvPr/>
        </p:nvSpPr>
        <p:spPr>
          <a:xfrm xmlns:a="http://schemas.openxmlformats.org/drawingml/2006/main">
            <a:off x="1409700" y="45910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55555"/>
                </a:solidFill>
                <a:latin typeface="Yu Gothic"/>
                <a:ea typeface="Yu Gothic"/>
                <a:cs typeface="Yu Gothic"/>
              </a:defRPr>
            </a:pPr>
            <a:r>
              <a:rPr sz="1125" b="0">
                <a:solidFill>
                  <a:srgbClr val="555555"/>
                </a:solidFill>
                <a:latin typeface="Yu Gothic"/>
                <a:ea typeface="Yu Gothic"/>
                <a:cs typeface="Yu Gothic"/>
              </a:rPr>
              <a:t>匿名質問・投票で声を拾う仕組み</a:t>
            </a:r>
          </a:p>
        </p:txBody>
      </p:sp>
      <p:sp>
        <p:nvSpPr>
          <p:cNvPr id="17" name="">
            <a:extLst xmlns:a="http://schemas.openxmlformats.org/drawingml/2006/main">
              <a:ext uri="{FF2B5EF4-FFF2-40B4-BE49-F238E27FC236}">
                <a16:creationId xmlns:a16="http://schemas.microsoft.com/office/drawing/2014/main" id="{67A5A0F3-3299-4490-B2EE-69EBC7C67A4C}"/>
              </a:ext>
            </a:extLst>
          </p:cNvPr>
          <p:cNvSpPr>
            <a:spLocks xmlns:a="http://schemas.openxmlformats.org/drawingml/2006/main" noGrp="1"/>
          </p:cNvSpPr>
          <p:nvPr/>
        </p:nvSpPr>
        <p:spPr>
          <a:xfrm xmlns:a="http://schemas.openxmlformats.org/drawingml/2006/main">
            <a:off x="6096000" y="4095750"/>
            <a:ext cx="4762500" cy="876300"/>
          </a:xfrm>
          <a:prstGeom xmlns:a="http://schemas.openxmlformats.org/drawingml/2006/main" prst="rect">
            <a:avLst/>
          </a:prstGeom>
          <a:solidFill xmlns:a="http://schemas.openxmlformats.org/drawingml/2006/main">
            <a:srgbClr val="FFF4EF"/>
          </a:solidFill>
          <a:ln xmlns:a="http://schemas.openxmlformats.org/drawingml/2006/main" w="9525">
            <a:solidFill>
              <a:srgbClr val="FFD2C2"/>
            </a:solidFill>
            <a:prstDash val="solid"/>
          </a:ln>
        </p:spPr>
      </p:sp>
      <p:sp>
        <p:nvSpPr>
          <p:cNvPr id="18" name="">
            <a:extLst xmlns:a="http://schemas.openxmlformats.org/drawingml/2006/main">
              <a:ext uri="{FF2B5EF4-FFF2-40B4-BE49-F238E27FC236}">
                <a16:creationId xmlns:a16="http://schemas.microsoft.com/office/drawing/2014/main" id="{F05DABCE-60BA-4A17-A947-51264D0CB4EA}"/>
              </a:ext>
            </a:extLst>
          </p:cNvPr>
          <p:cNvSpPr>
            <a:spLocks xmlns:a="http://schemas.openxmlformats.org/drawingml/2006/main" noGrp="1"/>
          </p:cNvSpPr>
          <p:nvPr/>
        </p:nvSpPr>
        <p:spPr>
          <a:xfrm xmlns:a="http://schemas.openxmlformats.org/drawingml/2006/main">
            <a:off x="6286500" y="4286250"/>
            <a:ext cx="419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04</a:t>
            </a:r>
          </a:p>
        </p:txBody>
      </p:sp>
      <p:sp>
        <p:nvSpPr>
          <p:cNvPr id="19" name="">
            <a:extLst xmlns:a="http://schemas.openxmlformats.org/drawingml/2006/main">
              <a:ext uri="{FF2B5EF4-FFF2-40B4-BE49-F238E27FC236}">
                <a16:creationId xmlns:a16="http://schemas.microsoft.com/office/drawing/2014/main" id="{43571702-A910-4671-A65B-DC8DAD3FBC18}"/>
              </a:ext>
            </a:extLst>
          </p:cNvPr>
          <p:cNvSpPr>
            <a:spLocks xmlns:a="http://schemas.openxmlformats.org/drawingml/2006/main" noGrp="1"/>
          </p:cNvSpPr>
          <p:nvPr/>
        </p:nvSpPr>
        <p:spPr>
          <a:xfrm xmlns:a="http://schemas.openxmlformats.org/drawingml/2006/main">
            <a:off x="6838950" y="425767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latin typeface="Yu Gothic"/>
                <a:ea typeface="Yu Gothic"/>
                <a:cs typeface="Yu Gothic"/>
              </a:defRPr>
            </a:pPr>
            <a:r>
              <a:rPr sz="1650" b="1">
                <a:solidFill>
                  <a:srgbClr val="111111"/>
                </a:solidFill>
                <a:latin typeface="Yu Gothic"/>
                <a:ea typeface="Yu Gothic"/>
                <a:cs typeface="Yu Gothic"/>
              </a:rPr>
              <a:t>Gamification Caution</a:t>
            </a:r>
          </a:p>
        </p:txBody>
      </p:sp>
      <p:sp>
        <p:nvSpPr>
          <p:cNvPr id="20" name="">
            <a:extLst xmlns:a="http://schemas.openxmlformats.org/drawingml/2006/main">
              <a:ext uri="{FF2B5EF4-FFF2-40B4-BE49-F238E27FC236}">
                <a16:creationId xmlns:a16="http://schemas.microsoft.com/office/drawing/2014/main" id="{0765BC03-2A65-4043-8252-C290A87A21D4}"/>
              </a:ext>
            </a:extLst>
          </p:cNvPr>
          <p:cNvSpPr>
            <a:spLocks xmlns:a="http://schemas.openxmlformats.org/drawingml/2006/main" noGrp="1"/>
          </p:cNvSpPr>
          <p:nvPr/>
        </p:nvSpPr>
        <p:spPr>
          <a:xfrm xmlns:a="http://schemas.openxmlformats.org/drawingml/2006/main">
            <a:off x="6838950" y="45910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55555"/>
                </a:solidFill>
                <a:latin typeface="Yu Gothic"/>
                <a:ea typeface="Yu Gothic"/>
                <a:cs typeface="Yu Gothic"/>
              </a:defRPr>
            </a:pPr>
            <a:r>
              <a:rPr sz="1125" b="0">
                <a:solidFill>
                  <a:srgbClr val="555555"/>
                </a:solidFill>
                <a:latin typeface="Yu Gothic"/>
                <a:ea typeface="Yu Gothic"/>
                <a:cs typeface="Yu Gothic"/>
              </a:rPr>
              <a:t>ポイント等の逆効果を確認</a:t>
            </a:r>
          </a:p>
        </p:txBody>
      </p:sp>
      <p:sp>
        <p:nvSpPr>
          <p:cNvPr id="21" name="">
            <a:extLst xmlns:a="http://schemas.openxmlformats.org/drawingml/2006/main">
              <a:ext uri="{FF2B5EF4-FFF2-40B4-BE49-F238E27FC236}">
                <a16:creationId xmlns:a16="http://schemas.microsoft.com/office/drawing/2014/main" id="{4806D577-FE28-4184-B043-AF4D571C9849}"/>
              </a:ext>
            </a:extLst>
          </p:cNvPr>
          <p:cNvSpPr>
            <a:spLocks xmlns:a="http://schemas.openxmlformats.org/drawingml/2006/main" noGrp="1"/>
          </p:cNvSpPr>
          <p:nvPr/>
        </p:nvSpPr>
        <p:spPr>
          <a:xfrm xmlns:a="http://schemas.openxmlformats.org/drawingml/2006/main">
            <a:off x="590550" y="56197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555555"/>
                </a:solidFill>
                <a:latin typeface="Yu Gothic"/>
                <a:ea typeface="Yu Gothic"/>
                <a:cs typeface="Yu Gothic"/>
              </a:defRPr>
            </a:pPr>
            <a:r>
              <a:rPr sz="1500" b="1">
                <a:solidFill>
                  <a:srgbClr val="555555"/>
                </a:solidFill>
                <a:latin typeface="Yu Gothic"/>
                <a:ea typeface="Yu Gothic"/>
                <a:cs typeface="Yu Gothic"/>
              </a:rPr>
              <a:t>狙い: 個別論文を列挙するだけでなく、授業サポートボタンの設計原則へ変換する。</a:t>
            </a:r>
          </a:p>
        </p:txBody>
      </p:sp>
      <p:sp>
        <p:nvSpPr>
          <p:cNvPr id="22" name="">
            <a:extLst xmlns:a="http://schemas.openxmlformats.org/drawingml/2006/main">
              <a:ext uri="{FF2B5EF4-FFF2-40B4-BE49-F238E27FC236}">
                <a16:creationId xmlns:a16="http://schemas.microsoft.com/office/drawing/2014/main" id="{C5D21CEC-CCF4-4510-B2F6-F4FDE773AA59}"/>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調査設計</a:t>
            </a:r>
          </a:p>
        </p:txBody>
      </p:sp>
      <p:sp>
        <p:nvSpPr>
          <p:cNvPr id="23" name="">
            <a:extLst xmlns:a="http://schemas.openxmlformats.org/drawingml/2006/main">
              <a:ext uri="{FF2B5EF4-FFF2-40B4-BE49-F238E27FC236}">
                <a16:creationId xmlns:a16="http://schemas.microsoft.com/office/drawing/2014/main" id="{F25B6DFD-8D89-4163-B4D2-E6C241FCA95D}"/>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03</a:t>
            </a:r>
          </a:p>
        </p:txBody>
      </p:sp>
    </p:spTree>
    <p:extLst>
      <p:ext uri="{BB962C8B-B14F-4D97-AF65-F5344CB8AC3E}">
        <p14:creationId xmlns:p14="http://schemas.microsoft.com/office/powerpoint/2010/main" val="5040381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60E173-FE33-4E2A-B29F-7D5B8F7B838D}"/>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文献から見える全体像</a:t>
            </a:r>
          </a:p>
        </p:txBody>
      </p:sp>
      <p:sp>
        <p:nvSpPr>
          <p:cNvPr id="2" name="">
            <a:extLst xmlns:a="http://schemas.openxmlformats.org/drawingml/2006/main">
              <a:ext uri="{FF2B5EF4-FFF2-40B4-BE49-F238E27FC236}">
                <a16:creationId xmlns:a16="http://schemas.microsoft.com/office/drawing/2014/main" id="{EB529CEE-C28E-41D9-937F-9C8CB2EF301E}"/>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876C4A7-5CB5-4098-8EBD-37466163327B}"/>
              </a:ext>
            </a:extLst>
          </p:cNvPr>
          <p:cNvSpPr>
            <a:spLocks xmlns:a="http://schemas.openxmlformats.org/drawingml/2006/main" noGrp="1"/>
          </p:cNvSpPr>
          <p:nvPr/>
        </p:nvSpPr>
        <p:spPr>
          <a:xfrm xmlns:a="http://schemas.openxmlformats.org/drawingml/2006/main">
            <a:off x="742950" y="2076450"/>
            <a:ext cx="2476500" cy="24765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E49DAE7F-F271-4648-B5C6-F21407C32890}"/>
              </a:ext>
            </a:extLst>
          </p:cNvPr>
          <p:cNvSpPr>
            <a:spLocks xmlns:a="http://schemas.openxmlformats.org/drawingml/2006/main" noGrp="1"/>
          </p:cNvSpPr>
          <p:nvPr/>
        </p:nvSpPr>
        <p:spPr>
          <a:xfrm xmlns:a="http://schemas.openxmlformats.org/drawingml/2006/main">
            <a:off x="4857750" y="2076450"/>
            <a:ext cx="2476500" cy="24765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2F469F2B-D104-4F99-96C4-27BD05FE170F}"/>
              </a:ext>
            </a:extLst>
          </p:cNvPr>
          <p:cNvSpPr>
            <a:spLocks xmlns:a="http://schemas.openxmlformats.org/drawingml/2006/main" noGrp="1"/>
          </p:cNvSpPr>
          <p:nvPr/>
        </p:nvSpPr>
        <p:spPr>
          <a:xfrm xmlns:a="http://schemas.openxmlformats.org/drawingml/2006/main">
            <a:off x="8972550" y="2076450"/>
            <a:ext cx="2476500" cy="2476500"/>
          </a:xfrm>
          <a:prstGeom xmlns:a="http://schemas.openxmlformats.org/drawingml/2006/main" prst="rect">
            <a:avLst/>
          </a:prstGeom>
          <a:solidFill xmlns:a="http://schemas.openxmlformats.org/drawingml/2006/main">
            <a:srgbClr val="FFF4EF"/>
          </a:solidFill>
          <a:ln xmlns:a="http://schemas.openxmlformats.org/drawingml/2006/main" w="9525">
            <a:solidFill>
              <a:srgbClr val="FFD2C2"/>
            </a:solidFill>
            <a:prstDash val="solid"/>
          </a:ln>
        </p:spPr>
      </p:sp>
      <p:sp>
        <p:nvSpPr>
          <p:cNvPr id="6" name="">
            <a:extLst xmlns:a="http://schemas.openxmlformats.org/drawingml/2006/main">
              <a:ext uri="{FF2B5EF4-FFF2-40B4-BE49-F238E27FC236}">
                <a16:creationId xmlns:a16="http://schemas.microsoft.com/office/drawing/2014/main" id="{0B002E05-F945-4611-A137-C64747D39F31}"/>
              </a:ext>
            </a:extLst>
          </p:cNvPr>
          <p:cNvSpPr>
            <a:spLocks xmlns:a="http://schemas.openxmlformats.org/drawingml/2006/main" noGrp="1"/>
          </p:cNvSpPr>
          <p:nvPr/>
        </p:nvSpPr>
        <p:spPr>
          <a:xfrm xmlns:a="http://schemas.openxmlformats.org/drawingml/2006/main">
            <a:off x="1066800" y="24003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11111"/>
                </a:solidFill>
                <a:latin typeface="Yu Gothic"/>
                <a:ea typeface="Yu Gothic"/>
                <a:cs typeface="Yu Gothic"/>
              </a:defRPr>
            </a:pPr>
            <a:r>
              <a:rPr sz="2025" b="1">
                <a:solidFill>
                  <a:srgbClr val="111111"/>
                </a:solidFill>
                <a:latin typeface="Yu Gothic"/>
                <a:ea typeface="Yu Gothic"/>
                <a:cs typeface="Yu Gothic"/>
              </a:rPr>
              <a:t>参加の入口</a:t>
            </a:r>
          </a:p>
        </p:txBody>
      </p:sp>
      <p:sp>
        <p:nvSpPr>
          <p:cNvPr id="7" name="">
            <a:extLst xmlns:a="http://schemas.openxmlformats.org/drawingml/2006/main">
              <a:ext uri="{FF2B5EF4-FFF2-40B4-BE49-F238E27FC236}">
                <a16:creationId xmlns:a16="http://schemas.microsoft.com/office/drawing/2014/main" id="{546D0D10-32DB-4265-A29D-39F08A8D50FC}"/>
              </a:ext>
            </a:extLst>
          </p:cNvPr>
          <p:cNvSpPr>
            <a:spLocks xmlns:a="http://schemas.openxmlformats.org/drawingml/2006/main" noGrp="1"/>
          </p:cNvSpPr>
          <p:nvPr/>
        </p:nvSpPr>
        <p:spPr>
          <a:xfrm xmlns:a="http://schemas.openxmlformats.org/drawingml/2006/main">
            <a:off x="1066800" y="3048000"/>
            <a:ext cx="180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3164D4"/>
                </a:solidFill>
                <a:latin typeface="Yu Gothic"/>
                <a:ea typeface="Yu Gothic"/>
                <a:cs typeface="Yu Gothic"/>
              </a:defRPr>
            </a:pPr>
            <a:r>
              <a:rPr sz="1725" b="1">
                <a:solidFill>
                  <a:srgbClr val="3164D4"/>
                </a:solidFill>
                <a:latin typeface="Yu Gothic"/>
                <a:ea typeface="Yu Gothic"/>
                <a:cs typeface="Yu Gothic"/>
              </a:rPr>
              <a:t>匿名・低負荷・全員が押せる</a:t>
            </a:r>
          </a:p>
        </p:txBody>
      </p:sp>
      <p:sp>
        <p:nvSpPr>
          <p:cNvPr id="8" name="">
            <a:extLst xmlns:a="http://schemas.openxmlformats.org/drawingml/2006/main">
              <a:ext uri="{FF2B5EF4-FFF2-40B4-BE49-F238E27FC236}">
                <a16:creationId xmlns:a16="http://schemas.microsoft.com/office/drawing/2014/main" id="{43695E7F-FA96-4357-B10A-D8571CB4CC4A}"/>
              </a:ext>
            </a:extLst>
          </p:cNvPr>
          <p:cNvSpPr>
            <a:spLocks xmlns:a="http://schemas.openxmlformats.org/drawingml/2006/main" noGrp="1"/>
          </p:cNvSpPr>
          <p:nvPr/>
        </p:nvSpPr>
        <p:spPr>
          <a:xfrm xmlns:a="http://schemas.openxmlformats.org/drawingml/2006/main">
            <a:off x="1066800" y="40481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8B8B8B"/>
                </a:solidFill>
                <a:latin typeface="Yu Gothic"/>
                <a:ea typeface="Yu Gothic"/>
                <a:cs typeface="Yu Gothic"/>
              </a:defRPr>
            </a:pPr>
            <a:r>
              <a:rPr sz="1050" b="0">
                <a:solidFill>
                  <a:srgbClr val="8B8B8B"/>
                </a:solidFill>
                <a:latin typeface="Yu Gothic"/>
                <a:ea typeface="Yu Gothic"/>
                <a:cs typeface="Yu Gothic"/>
              </a:rPr>
              <a:t>Freeman et al.; SRS研究</a:t>
            </a:r>
          </a:p>
        </p:txBody>
      </p:sp>
      <p:sp>
        <p:nvSpPr>
          <p:cNvPr id="9" name="">
            <a:extLst xmlns:a="http://schemas.openxmlformats.org/drawingml/2006/main">
              <a:ext uri="{FF2B5EF4-FFF2-40B4-BE49-F238E27FC236}">
                <a16:creationId xmlns:a16="http://schemas.microsoft.com/office/drawing/2014/main" id="{78D9443A-F1C9-4EF4-8147-41D83D3C62FA}"/>
              </a:ext>
            </a:extLst>
          </p:cNvPr>
          <p:cNvSpPr>
            <a:spLocks xmlns:a="http://schemas.openxmlformats.org/drawingml/2006/main" noGrp="1"/>
          </p:cNvSpPr>
          <p:nvPr/>
        </p:nvSpPr>
        <p:spPr>
          <a:xfrm xmlns:a="http://schemas.openxmlformats.org/drawingml/2006/main">
            <a:off x="5162550" y="24003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11111"/>
                </a:solidFill>
                <a:latin typeface="Yu Gothic"/>
                <a:ea typeface="Yu Gothic"/>
                <a:cs typeface="Yu Gothic"/>
              </a:defRPr>
            </a:pPr>
            <a:r>
              <a:rPr sz="2025" b="1">
                <a:solidFill>
                  <a:srgbClr val="111111"/>
                </a:solidFill>
                <a:latin typeface="Yu Gothic"/>
                <a:ea typeface="Yu Gothic"/>
                <a:cs typeface="Yu Gothic"/>
              </a:rPr>
              <a:t>授業への接続</a:t>
            </a:r>
          </a:p>
        </p:txBody>
      </p:sp>
      <p:sp>
        <p:nvSpPr>
          <p:cNvPr id="10" name="">
            <a:extLst xmlns:a="http://schemas.openxmlformats.org/drawingml/2006/main">
              <a:ext uri="{FF2B5EF4-FFF2-40B4-BE49-F238E27FC236}">
                <a16:creationId xmlns:a16="http://schemas.microsoft.com/office/drawing/2014/main" id="{A673CA10-8642-4461-A5FC-4983C4A476AD}"/>
              </a:ext>
            </a:extLst>
          </p:cNvPr>
          <p:cNvSpPr>
            <a:spLocks xmlns:a="http://schemas.openxmlformats.org/drawingml/2006/main" noGrp="1"/>
          </p:cNvSpPr>
          <p:nvPr/>
        </p:nvSpPr>
        <p:spPr>
          <a:xfrm xmlns:a="http://schemas.openxmlformats.org/drawingml/2006/main">
            <a:off x="5162550" y="304800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5803D"/>
                </a:solidFill>
                <a:latin typeface="Yu Gothic"/>
                <a:ea typeface="Yu Gothic"/>
                <a:cs typeface="Yu Gothic"/>
              </a:defRPr>
            </a:pPr>
            <a:r>
              <a:rPr sz="1725" b="1">
                <a:solidFill>
                  <a:srgbClr val="15803D"/>
                </a:solidFill>
                <a:latin typeface="Yu Gothic"/>
                <a:ea typeface="Yu Gothic"/>
                <a:cs typeface="Yu Gothic"/>
              </a:rPr>
              <a:t>リアルタイム集計・質問キュー・投票</a:t>
            </a:r>
          </a:p>
        </p:txBody>
      </p:sp>
      <p:sp>
        <p:nvSpPr>
          <p:cNvPr id="11" name="">
            <a:extLst xmlns:a="http://schemas.openxmlformats.org/drawingml/2006/main">
              <a:ext uri="{FF2B5EF4-FFF2-40B4-BE49-F238E27FC236}">
                <a16:creationId xmlns:a16="http://schemas.microsoft.com/office/drawing/2014/main" id="{4EC150C4-9748-400E-9379-EC5ED953928C}"/>
              </a:ext>
            </a:extLst>
          </p:cNvPr>
          <p:cNvSpPr>
            <a:spLocks xmlns:a="http://schemas.openxmlformats.org/drawingml/2006/main" noGrp="1"/>
          </p:cNvSpPr>
          <p:nvPr/>
        </p:nvSpPr>
        <p:spPr>
          <a:xfrm xmlns:a="http://schemas.openxmlformats.org/drawingml/2006/main">
            <a:off x="5162550" y="40481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8B8B8B"/>
                </a:solidFill>
                <a:latin typeface="Yu Gothic"/>
                <a:ea typeface="Yu Gothic"/>
                <a:cs typeface="Yu Gothic"/>
              </a:defRPr>
            </a:pPr>
            <a:r>
              <a:rPr sz="1050" b="0">
                <a:solidFill>
                  <a:srgbClr val="8B8B8B"/>
                </a:solidFill>
                <a:latin typeface="Yu Gothic"/>
                <a:ea typeface="Yu Gothic"/>
                <a:cs typeface="Yu Gothic"/>
              </a:rPr>
              <a:t>Tan et al.; Montgomery et al.</a:t>
            </a:r>
          </a:p>
        </p:txBody>
      </p:sp>
      <p:sp>
        <p:nvSpPr>
          <p:cNvPr id="12" name="">
            <a:extLst xmlns:a="http://schemas.openxmlformats.org/drawingml/2006/main">
              <a:ext uri="{FF2B5EF4-FFF2-40B4-BE49-F238E27FC236}">
                <a16:creationId xmlns:a16="http://schemas.microsoft.com/office/drawing/2014/main" id="{E7ACB048-AE0F-41A8-8941-4BBA88ABD599}"/>
              </a:ext>
            </a:extLst>
          </p:cNvPr>
          <p:cNvSpPr>
            <a:spLocks xmlns:a="http://schemas.openxmlformats.org/drawingml/2006/main" noGrp="1"/>
          </p:cNvSpPr>
          <p:nvPr/>
        </p:nvSpPr>
        <p:spPr>
          <a:xfrm xmlns:a="http://schemas.openxmlformats.org/drawingml/2006/main">
            <a:off x="9296400" y="24003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6B35"/>
                </a:solidFill>
                <a:latin typeface="Yu Gothic"/>
                <a:ea typeface="Yu Gothic"/>
                <a:cs typeface="Yu Gothic"/>
              </a:defRPr>
            </a:pPr>
            <a:r>
              <a:rPr sz="2025" b="1">
                <a:solidFill>
                  <a:srgbClr val="FF6B35"/>
                </a:solidFill>
                <a:latin typeface="Yu Gothic"/>
                <a:ea typeface="Yu Gothic"/>
                <a:cs typeface="Yu Gothic"/>
              </a:rPr>
              <a:t>避ける方向</a:t>
            </a:r>
          </a:p>
        </p:txBody>
      </p:sp>
      <p:sp>
        <p:nvSpPr>
          <p:cNvPr id="13" name="">
            <a:extLst xmlns:a="http://schemas.openxmlformats.org/drawingml/2006/main">
              <a:ext uri="{FF2B5EF4-FFF2-40B4-BE49-F238E27FC236}">
                <a16:creationId xmlns:a16="http://schemas.microsoft.com/office/drawing/2014/main" id="{D9863108-DE30-4A0C-9369-7097C442D1D4}"/>
              </a:ext>
            </a:extLst>
          </p:cNvPr>
          <p:cNvSpPr>
            <a:spLocks xmlns:a="http://schemas.openxmlformats.org/drawingml/2006/main" noGrp="1"/>
          </p:cNvSpPr>
          <p:nvPr/>
        </p:nvSpPr>
        <p:spPr>
          <a:xfrm xmlns:a="http://schemas.openxmlformats.org/drawingml/2006/main">
            <a:off x="9296400" y="3048000"/>
            <a:ext cx="1666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B42318"/>
                </a:solidFill>
                <a:latin typeface="Yu Gothic"/>
                <a:ea typeface="Yu Gothic"/>
                <a:cs typeface="Yu Gothic"/>
              </a:defRPr>
            </a:pPr>
            <a:r>
              <a:rPr sz="1725" b="1">
                <a:solidFill>
                  <a:srgbClr val="B42318"/>
                </a:solidFill>
                <a:latin typeface="Yu Gothic"/>
                <a:ea typeface="Yu Gothic"/>
                <a:cs typeface="Yu Gothic"/>
              </a:rPr>
              <a:t>比較・ランキング・強制参加</a:t>
            </a:r>
          </a:p>
        </p:txBody>
      </p:sp>
      <p:sp>
        <p:nvSpPr>
          <p:cNvPr id="14" name="">
            <a:extLst xmlns:a="http://schemas.openxmlformats.org/drawingml/2006/main">
              <a:ext uri="{FF2B5EF4-FFF2-40B4-BE49-F238E27FC236}">
                <a16:creationId xmlns:a16="http://schemas.microsoft.com/office/drawing/2014/main" id="{B253DC26-04AE-462D-8E08-180277E0B108}"/>
              </a:ext>
            </a:extLst>
          </p:cNvPr>
          <p:cNvSpPr>
            <a:spLocks xmlns:a="http://schemas.openxmlformats.org/drawingml/2006/main" noGrp="1"/>
          </p:cNvSpPr>
          <p:nvPr/>
        </p:nvSpPr>
        <p:spPr>
          <a:xfrm xmlns:a="http://schemas.openxmlformats.org/drawingml/2006/main">
            <a:off x="9296400" y="40481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8B8B8B"/>
                </a:solidFill>
                <a:latin typeface="Yu Gothic"/>
                <a:ea typeface="Yu Gothic"/>
                <a:cs typeface="Yu Gothic"/>
              </a:defRPr>
            </a:pPr>
            <a:r>
              <a:rPr sz="1050" b="0">
                <a:solidFill>
                  <a:srgbClr val="8B8B8B"/>
                </a:solidFill>
                <a:latin typeface="Yu Gothic"/>
                <a:ea typeface="Yu Gothic"/>
                <a:cs typeface="Yu Gothic"/>
              </a:rPr>
              <a:t>Almeida et al.; Cooper et al.</a:t>
            </a:r>
          </a:p>
        </p:txBody>
      </p:sp>
      <p:sp>
        <p:nvSpPr>
          <p:cNvPr id="15" name="">
            <a:extLst xmlns:a="http://schemas.openxmlformats.org/drawingml/2006/main">
              <a:ext uri="{FF2B5EF4-FFF2-40B4-BE49-F238E27FC236}">
                <a16:creationId xmlns:a16="http://schemas.microsoft.com/office/drawing/2014/main" id="{FD1AEDF7-08C3-487A-837A-C670F387C360}"/>
              </a:ext>
            </a:extLst>
          </p:cNvPr>
          <p:cNvSpPr>
            <a:spLocks xmlns:a="http://schemas.openxmlformats.org/drawingml/2006/main" noGrp="1"/>
          </p:cNvSpPr>
          <p:nvPr/>
        </p:nvSpPr>
        <p:spPr>
          <a:xfrm xmlns:a="http://schemas.openxmlformats.org/drawingml/2006/main">
            <a:off x="3333750" y="3238500"/>
            <a:ext cx="12192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5AA3B72-6964-48A3-BE0F-72E5F64671B6}"/>
              </a:ext>
            </a:extLst>
          </p:cNvPr>
          <p:cNvSpPr>
            <a:spLocks xmlns:a="http://schemas.openxmlformats.org/drawingml/2006/main" noGrp="1"/>
          </p:cNvSpPr>
          <p:nvPr/>
        </p:nvSpPr>
        <p:spPr>
          <a:xfrm xmlns:a="http://schemas.openxmlformats.org/drawingml/2006/main">
            <a:off x="7448550" y="3238500"/>
            <a:ext cx="12192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0AA9731-7E5E-4018-892D-811F4CFBD863}"/>
              </a:ext>
            </a:extLst>
          </p:cNvPr>
          <p:cNvSpPr>
            <a:spLocks xmlns:a="http://schemas.openxmlformats.org/drawingml/2006/main" noGrp="1"/>
          </p:cNvSpPr>
          <p:nvPr/>
        </p:nvSpPr>
        <p:spPr>
          <a:xfrm xmlns:a="http://schemas.openxmlformats.org/drawingml/2006/main">
            <a:off x="895350" y="5381625"/>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設計仮説: 学生同士を競わせるより、学生の状態を教員へ安全に返す方が、授業参加支援として筋がよい。</a:t>
            </a:r>
          </a:p>
        </p:txBody>
      </p:sp>
      <p:sp>
        <p:nvSpPr>
          <p:cNvPr id="18" name="">
            <a:extLst xmlns:a="http://schemas.openxmlformats.org/drawingml/2006/main">
              <a:ext uri="{FF2B5EF4-FFF2-40B4-BE49-F238E27FC236}">
                <a16:creationId xmlns:a16="http://schemas.microsoft.com/office/drawing/2014/main" id="{AC658745-ABF7-4D06-8C9E-BAC5F5AAD030}"/>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統合</a:t>
            </a:r>
          </a:p>
        </p:txBody>
      </p:sp>
      <p:sp>
        <p:nvSpPr>
          <p:cNvPr id="19" name="">
            <a:extLst xmlns:a="http://schemas.openxmlformats.org/drawingml/2006/main">
              <a:ext uri="{FF2B5EF4-FFF2-40B4-BE49-F238E27FC236}">
                <a16:creationId xmlns:a16="http://schemas.microsoft.com/office/drawing/2014/main" id="{6EF2B145-4622-479D-919E-3DF29F870E9B}"/>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04</a:t>
            </a:r>
          </a:p>
        </p:txBody>
      </p:sp>
    </p:spTree>
    <p:extLst>
      <p:ext uri="{BB962C8B-B14F-4D97-AF65-F5344CB8AC3E}">
        <p14:creationId xmlns:p14="http://schemas.microsoft.com/office/powerpoint/2010/main" val="20425279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4BCD4C8-99D5-459B-BF63-BB13F27BE0F8}"/>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Active Learning: 参加型授業は学習成果にも効く</a:t>
            </a:r>
          </a:p>
        </p:txBody>
      </p:sp>
      <p:sp>
        <p:nvSpPr>
          <p:cNvPr id="2" name="">
            <a:extLst xmlns:a="http://schemas.openxmlformats.org/drawingml/2006/main">
              <a:ext uri="{FF2B5EF4-FFF2-40B4-BE49-F238E27FC236}">
                <a16:creationId xmlns:a16="http://schemas.microsoft.com/office/drawing/2014/main" id="{FBE42F05-3FFC-47BB-B075-7D02A3E59D34}"/>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D0D5CA0-AC7D-49F8-B7EC-C52584833806}"/>
              </a:ext>
            </a:extLst>
          </p:cNvPr>
          <p:cNvSpPr>
            <a:spLocks xmlns:a="http://schemas.openxmlformats.org/drawingml/2006/main" noGrp="1"/>
          </p:cNvSpPr>
          <p:nvPr/>
        </p:nvSpPr>
        <p:spPr>
          <a:xfrm xmlns:a="http://schemas.openxmlformats.org/drawingml/2006/main">
            <a:off x="590550" y="16954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Freeman et al. (2014) は STEM 分野の 225 件の研究をメタ分析し、講義中心よりアクティブラーニングの方が試験成績・不合格率で有利と報告した。</a:t>
            </a:r>
          </a:p>
        </p:txBody>
      </p:sp>
      <p:graphicFrame>
        <p:nvGraphicFramePr>
          <p:cNvPr id="18" name="Chart"/>
          <p:cNvGraphicFramePr/>
          <p:nvPr/>
        </p:nvGraphicFramePr>
        <p:xfrm>
          <a:off xmlns:a="http://schemas.openxmlformats.org/drawingml/2006/main" x="781050" y="2857500"/>
          <a:ext xmlns:a="http://schemas.openxmlformats.org/drawingml/2006/main" cx="4572000" cy="2190750"/>
        </p:xfrm>
        <a:graphic xmlns:a="http://schemas.openxmlformats.org/drawingml/2006/main">
          <a:graphicData uri="http://schemas.openxmlformats.org/drawingml/2006/chart">
            <c:chart xmlns:r="http://schemas.openxmlformats.org/officeDocument/2006/relationships" xmlns:c="http://schemas.openxmlformats.org/drawingml/2006/chart" r:id="R480c0f4669ce409d"/>
          </a:graphicData>
        </a:graphic>
      </p:graphicFrame>
      <p:sp>
        <p:nvSpPr>
          <p:cNvPr id="5" name="">
            <a:extLst xmlns:a="http://schemas.openxmlformats.org/drawingml/2006/main">
              <a:ext uri="{FF2B5EF4-FFF2-40B4-BE49-F238E27FC236}">
                <a16:creationId xmlns:a16="http://schemas.microsoft.com/office/drawing/2014/main" id="{819698D6-1326-4738-9532-F87004115AD3}"/>
              </a:ext>
            </a:extLst>
          </p:cNvPr>
          <p:cNvSpPr>
            <a:spLocks xmlns:a="http://schemas.openxmlformats.org/drawingml/2006/main" noGrp="1"/>
          </p:cNvSpPr>
          <p:nvPr/>
        </p:nvSpPr>
        <p:spPr>
          <a:xfrm xmlns:a="http://schemas.openxmlformats.org/drawingml/2006/main">
            <a:off x="6286500" y="28575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1111"/>
                </a:solidFill>
                <a:latin typeface="Yu Gothic"/>
                <a:ea typeface="Yu Gothic"/>
                <a:cs typeface="Yu Gothic"/>
              </a:defRPr>
            </a:pPr>
            <a:r>
              <a:rPr sz="1875" b="1">
                <a:solidFill>
                  <a:srgbClr val="111111"/>
                </a:solidFill>
                <a:latin typeface="Yu Gothic"/>
                <a:ea typeface="Yu Gothic"/>
                <a:cs typeface="Yu Gothic"/>
              </a:rPr>
              <a:t>読み方</a:t>
            </a:r>
          </a:p>
        </p:txBody>
      </p:sp>
      <p:sp>
        <p:nvSpPr>
          <p:cNvPr id="6" name="">
            <a:extLst xmlns:a="http://schemas.openxmlformats.org/drawingml/2006/main">
              <a:ext uri="{FF2B5EF4-FFF2-40B4-BE49-F238E27FC236}">
                <a16:creationId xmlns:a16="http://schemas.microsoft.com/office/drawing/2014/main" id="{7FB60A13-225B-41F9-B973-671AB9C62B38}"/>
              </a:ext>
            </a:extLst>
          </p:cNvPr>
          <p:cNvSpPr>
            <a:spLocks xmlns:a="http://schemas.openxmlformats.org/drawingml/2006/main" noGrp="1"/>
          </p:cNvSpPr>
          <p:nvPr/>
        </p:nvSpPr>
        <p:spPr>
          <a:xfrm xmlns:a="http://schemas.openxmlformats.org/drawingml/2006/main">
            <a:off x="6286500" y="3343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6B35"/>
                </a:solidFill>
                <a:latin typeface="Yu Gothic"/>
                <a:ea typeface="Yu Gothic"/>
                <a:cs typeface="Yu Gothic"/>
              </a:defRPr>
            </a:pPr>
            <a:r>
              <a:rPr sz="1500" b="1">
                <a:solidFill>
                  <a:srgbClr val="FF6B35"/>
                </a:solidFill>
                <a:latin typeface="Yu Gothic"/>
                <a:ea typeface="Yu Gothic"/>
                <a:cs typeface="Yu Gothic"/>
              </a:rPr>
              <a:t>・</a:t>
            </a:r>
          </a:p>
        </p:txBody>
      </p:sp>
      <p:sp>
        <p:nvSpPr>
          <p:cNvPr id="7" name="">
            <a:extLst xmlns:a="http://schemas.openxmlformats.org/drawingml/2006/main">
              <a:ext uri="{FF2B5EF4-FFF2-40B4-BE49-F238E27FC236}">
                <a16:creationId xmlns:a16="http://schemas.microsoft.com/office/drawing/2014/main" id="{11046357-F984-4530-B9E6-25F5016F2CD4}"/>
              </a:ext>
            </a:extLst>
          </p:cNvPr>
          <p:cNvSpPr>
            <a:spLocks xmlns:a="http://schemas.openxmlformats.org/drawingml/2006/main" noGrp="1"/>
          </p:cNvSpPr>
          <p:nvPr/>
        </p:nvSpPr>
        <p:spPr>
          <a:xfrm xmlns:a="http://schemas.openxmlformats.org/drawingml/2006/main">
            <a:off x="6553200" y="333375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11111"/>
                </a:solidFill>
                <a:latin typeface="Yu Gothic"/>
                <a:ea typeface="Yu Gothic"/>
                <a:cs typeface="Yu Gothic"/>
              </a:defRPr>
            </a:pPr>
            <a:r>
              <a:rPr sz="1500" b="0">
                <a:solidFill>
                  <a:srgbClr val="111111"/>
                </a:solidFill>
                <a:latin typeface="Yu Gothic"/>
                <a:ea typeface="Yu Gothic"/>
                <a:cs typeface="Yu Gothic"/>
              </a:rPr>
              <a:t>学生が授業中に考え、答え、確認する時間を持つこと自体に根拠がある</a:t>
            </a:r>
          </a:p>
        </p:txBody>
      </p:sp>
      <p:sp>
        <p:nvSpPr>
          <p:cNvPr id="8" name="">
            <a:extLst xmlns:a="http://schemas.openxmlformats.org/drawingml/2006/main">
              <a:ext uri="{FF2B5EF4-FFF2-40B4-BE49-F238E27FC236}">
                <a16:creationId xmlns:a16="http://schemas.microsoft.com/office/drawing/2014/main" id="{9415834B-7870-4E82-A9A7-4E9B052EBBFB}"/>
              </a:ext>
            </a:extLst>
          </p:cNvPr>
          <p:cNvSpPr>
            <a:spLocks xmlns:a="http://schemas.openxmlformats.org/drawingml/2006/main" noGrp="1"/>
          </p:cNvSpPr>
          <p:nvPr/>
        </p:nvSpPr>
        <p:spPr>
          <a:xfrm xmlns:a="http://schemas.openxmlformats.org/drawingml/2006/main">
            <a:off x="6286500" y="38195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6B35"/>
                </a:solidFill>
                <a:latin typeface="Yu Gothic"/>
                <a:ea typeface="Yu Gothic"/>
                <a:cs typeface="Yu Gothic"/>
              </a:defRPr>
            </a:pPr>
            <a:r>
              <a:rPr sz="1500" b="1">
                <a:solidFill>
                  <a:srgbClr val="FF6B35"/>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C743705F-E7E9-4FBC-8AF3-6D42D786D88A}"/>
              </a:ext>
            </a:extLst>
          </p:cNvPr>
          <p:cNvSpPr>
            <a:spLocks xmlns:a="http://schemas.openxmlformats.org/drawingml/2006/main" noGrp="1"/>
          </p:cNvSpPr>
          <p:nvPr/>
        </p:nvSpPr>
        <p:spPr>
          <a:xfrm xmlns:a="http://schemas.openxmlformats.org/drawingml/2006/main">
            <a:off x="6553200" y="381000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11111"/>
                </a:solidFill>
                <a:latin typeface="Yu Gothic"/>
                <a:ea typeface="Yu Gothic"/>
                <a:cs typeface="Yu Gothic"/>
              </a:defRPr>
            </a:pPr>
            <a:r>
              <a:rPr sz="1500" b="0">
                <a:solidFill>
                  <a:srgbClr val="111111"/>
                </a:solidFill>
                <a:latin typeface="Yu Gothic"/>
                <a:ea typeface="Yu Gothic"/>
                <a:cs typeface="Yu Gothic"/>
              </a:rPr>
              <a:t>授業サポートボタンは、参加型授業へ入るための最小単位のインタラクションになり得る</a:t>
            </a:r>
          </a:p>
        </p:txBody>
      </p:sp>
      <p:sp>
        <p:nvSpPr>
          <p:cNvPr id="10" name="">
            <a:extLst xmlns:a="http://schemas.openxmlformats.org/drawingml/2006/main">
              <a:ext uri="{FF2B5EF4-FFF2-40B4-BE49-F238E27FC236}">
                <a16:creationId xmlns:a16="http://schemas.microsoft.com/office/drawing/2014/main" id="{755C33CD-4F2E-4F13-B13C-B7BBC05CE84E}"/>
              </a:ext>
            </a:extLst>
          </p:cNvPr>
          <p:cNvSpPr>
            <a:spLocks xmlns:a="http://schemas.openxmlformats.org/drawingml/2006/main" noGrp="1"/>
          </p:cNvSpPr>
          <p:nvPr/>
        </p:nvSpPr>
        <p:spPr>
          <a:xfrm xmlns:a="http://schemas.openxmlformats.org/drawingml/2006/main">
            <a:off x="6286500" y="42957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6B35"/>
                </a:solidFill>
                <a:latin typeface="Yu Gothic"/>
                <a:ea typeface="Yu Gothic"/>
                <a:cs typeface="Yu Gothic"/>
              </a:defRPr>
            </a:pPr>
            <a:r>
              <a:rPr sz="1500" b="1">
                <a:solidFill>
                  <a:srgbClr val="FF6B35"/>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1D6B2BBE-7751-4A87-8AE6-E936B918CE35}"/>
              </a:ext>
            </a:extLst>
          </p:cNvPr>
          <p:cNvSpPr>
            <a:spLocks xmlns:a="http://schemas.openxmlformats.org/drawingml/2006/main" noGrp="1"/>
          </p:cNvSpPr>
          <p:nvPr/>
        </p:nvSpPr>
        <p:spPr>
          <a:xfrm xmlns:a="http://schemas.openxmlformats.org/drawingml/2006/main">
            <a:off x="6553200" y="428625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11111"/>
                </a:solidFill>
                <a:latin typeface="Yu Gothic"/>
                <a:ea typeface="Yu Gothic"/>
                <a:cs typeface="Yu Gothic"/>
              </a:defRPr>
            </a:pPr>
            <a:r>
              <a:rPr sz="1500" b="0">
                <a:solidFill>
                  <a:srgbClr val="111111"/>
                </a:solidFill>
                <a:latin typeface="Yu Gothic"/>
                <a:ea typeface="Yu Gothic"/>
                <a:cs typeface="Yu Gothic"/>
              </a:rPr>
              <a:t>ただし、参加させ方が強制的だと不安や抵抗が増える可能性がある</a:t>
            </a:r>
          </a:p>
        </p:txBody>
      </p:sp>
      <p:sp>
        <p:nvSpPr>
          <p:cNvPr id="12" name="">
            <a:extLst xmlns:a="http://schemas.openxmlformats.org/drawingml/2006/main">
              <a:ext uri="{FF2B5EF4-FFF2-40B4-BE49-F238E27FC236}">
                <a16:creationId xmlns:a16="http://schemas.microsoft.com/office/drawing/2014/main" id="{03F15AAD-2378-4E2B-BAE8-977E8DFBE319}"/>
              </a:ext>
            </a:extLst>
          </p:cNvPr>
          <p:cNvSpPr>
            <a:spLocks xmlns:a="http://schemas.openxmlformats.org/drawingml/2006/main" noGrp="1"/>
          </p:cNvSpPr>
          <p:nvPr/>
        </p:nvSpPr>
        <p:spPr>
          <a:xfrm xmlns:a="http://schemas.openxmlformats.org/drawingml/2006/main">
            <a:off x="419100" y="590550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8B8B8B"/>
                </a:solidFill>
                <a:latin typeface="Yu Gothic"/>
                <a:ea typeface="Yu Gothic"/>
                <a:cs typeface="Yu Gothic"/>
              </a:defRPr>
            </a:pPr>
            <a:r>
              <a:rPr sz="900" b="0">
                <a:solidFill>
                  <a:srgbClr val="8B8B8B"/>
                </a:solidFill>
                <a:latin typeface="Yu Gothic"/>
                <a:ea typeface="Yu Gothic"/>
                <a:cs typeface="Yu Gothic"/>
              </a:rPr>
              <a:t>Source: Freeman et al. (2014), PNAS, doi:10.1073/pnas.1319030111</a:t>
            </a:r>
          </a:p>
        </p:txBody>
      </p:sp>
      <p:sp>
        <p:nvSpPr>
          <p:cNvPr id="13" name="">
            <a:extLst xmlns:a="http://schemas.openxmlformats.org/drawingml/2006/main">
              <a:ext uri="{FF2B5EF4-FFF2-40B4-BE49-F238E27FC236}">
                <a16:creationId xmlns:a16="http://schemas.microsoft.com/office/drawing/2014/main" id="{68FD2674-2BCF-4DA2-9BF2-141CED2C3BF3}"/>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Active Learning</a:t>
            </a:r>
          </a:p>
        </p:txBody>
      </p:sp>
      <p:sp>
        <p:nvSpPr>
          <p:cNvPr id="14" name="">
            <a:extLst xmlns:a="http://schemas.openxmlformats.org/drawingml/2006/main">
              <a:ext uri="{FF2B5EF4-FFF2-40B4-BE49-F238E27FC236}">
                <a16:creationId xmlns:a16="http://schemas.microsoft.com/office/drawing/2014/main" id="{EDD5F394-1AF6-46A0-A119-7FD9598BF2C2}"/>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05</a:t>
            </a:r>
          </a:p>
        </p:txBody>
      </p:sp>
    </p:spTree>
    <p:extLst>
      <p:ext uri="{BB962C8B-B14F-4D97-AF65-F5344CB8AC3E}">
        <p14:creationId xmlns:p14="http://schemas.microsoft.com/office/powerpoint/2010/main" val="6004494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496D13-D688-4460-8DEE-3519E4125611}"/>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匿名性: 発言しにくさを下げる鍵</a:t>
            </a:r>
          </a:p>
        </p:txBody>
      </p:sp>
      <p:sp>
        <p:nvSpPr>
          <p:cNvPr id="2" name="">
            <a:extLst xmlns:a="http://schemas.openxmlformats.org/drawingml/2006/main">
              <a:ext uri="{FF2B5EF4-FFF2-40B4-BE49-F238E27FC236}">
                <a16:creationId xmlns:a16="http://schemas.microsoft.com/office/drawing/2014/main" id="{F35E8B0F-1158-431F-902D-FAC984772985}"/>
              </a:ext>
            </a:extLst>
          </p:cNvPr>
          <p:cNvSpPr>
            <a:spLocks xmlns:a="http://schemas.openxmlformats.org/drawingml/2006/main" noGrp="1"/>
          </p:cNvSpPr>
          <p:nvPr/>
        </p:nvSpPr>
        <p:spPr>
          <a:xfrm xmlns:a="http://schemas.openxmlformats.org/drawingml/2006/main">
            <a:off x="419100" y="102870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latin typeface="Yu Gothic"/>
                <a:ea typeface="Yu Gothic"/>
                <a:cs typeface="Yu Gothic"/>
              </a:defRPr>
            </a:pPr>
            <a:r>
              <a:rPr sz="1275" b="0">
                <a:solidFill>
                  <a:srgbClr val="555555"/>
                </a:solidFill>
                <a:latin typeface="Yu Gothic"/>
                <a:ea typeface="Yu Gothic"/>
                <a:cs typeface="Yu Gothic"/>
              </a:rPr>
              <a:t>Freeman, Blayney &amp; Ginns (2006) / Electronic response systems</a:t>
            </a:r>
          </a:p>
        </p:txBody>
      </p:sp>
      <p:sp>
        <p:nvSpPr>
          <p:cNvPr id="3" name="">
            <a:extLst xmlns:a="http://schemas.openxmlformats.org/drawingml/2006/main">
              <a:ext uri="{FF2B5EF4-FFF2-40B4-BE49-F238E27FC236}">
                <a16:creationId xmlns:a16="http://schemas.microsoft.com/office/drawing/2014/main" id="{1588FC64-540C-42DE-B716-7F14E4AB74EE}"/>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77F9F79-43E3-4796-A294-1E64AE2DF2C9}"/>
              </a:ext>
            </a:extLst>
          </p:cNvPr>
          <p:cNvSpPr>
            <a:spLocks xmlns:a="http://schemas.openxmlformats.org/drawingml/2006/main" noGrp="1"/>
          </p:cNvSpPr>
          <p:nvPr/>
        </p:nvSpPr>
        <p:spPr>
          <a:xfrm xmlns:a="http://schemas.openxmlformats.org/drawingml/2006/main">
            <a:off x="9525000" y="457200"/>
            <a:ext cx="1809750" cy="2857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20EC69C6-40BC-43C4-89C0-FB295B78CB1E}"/>
              </a:ext>
            </a:extLst>
          </p:cNvPr>
          <p:cNvSpPr>
            <a:spLocks xmlns:a="http://schemas.openxmlformats.org/drawingml/2006/main" noGrp="1"/>
          </p:cNvSpPr>
          <p:nvPr/>
        </p:nvSpPr>
        <p:spPr>
          <a:xfrm xmlns:a="http://schemas.openxmlformats.org/drawingml/2006/main">
            <a:off x="9620250" y="5048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3164D4"/>
                </a:solidFill>
                <a:latin typeface="Yu Gothic"/>
                <a:ea typeface="Yu Gothic"/>
                <a:cs typeface="Yu Gothic"/>
              </a:defRPr>
            </a:pPr>
            <a:r>
              <a:rPr sz="975" b="1">
                <a:solidFill>
                  <a:srgbClr val="3164D4"/>
                </a:solidFill>
                <a:latin typeface="Yu Gothic"/>
                <a:ea typeface="Yu Gothic"/>
                <a:cs typeface="Yu Gothic"/>
              </a:rPr>
              <a:t>匿名性</a:t>
            </a:r>
          </a:p>
        </p:txBody>
      </p:sp>
      <p:sp>
        <p:nvSpPr>
          <p:cNvPr id="6" name="">
            <a:extLst xmlns:a="http://schemas.openxmlformats.org/drawingml/2006/main">
              <a:ext uri="{FF2B5EF4-FFF2-40B4-BE49-F238E27FC236}">
                <a16:creationId xmlns:a16="http://schemas.microsoft.com/office/drawing/2014/main" id="{55BAF7F1-64B0-4C32-ACAB-F9ABA8EB17E6}"/>
              </a:ext>
            </a:extLst>
          </p:cNvPr>
          <p:cNvSpPr>
            <a:spLocks xmlns:a="http://schemas.openxmlformats.org/drawingml/2006/main" noGrp="1"/>
          </p:cNvSpPr>
          <p:nvPr/>
        </p:nvSpPr>
        <p:spPr>
          <a:xfrm xmlns:a="http://schemas.openxmlformats.org/drawingml/2006/main">
            <a:off x="400050" y="1847850"/>
            <a:ext cx="3371850" cy="37338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245FC8FD-52E7-4C06-9879-A256D120FF7D}"/>
              </a:ext>
            </a:extLst>
          </p:cNvPr>
          <p:cNvSpPr>
            <a:spLocks xmlns:a="http://schemas.openxmlformats.org/drawingml/2006/main" noGrp="1"/>
          </p:cNvSpPr>
          <p:nvPr/>
        </p:nvSpPr>
        <p:spPr>
          <a:xfrm xmlns:a="http://schemas.openxmlformats.org/drawingml/2006/main">
            <a:off x="666750" y="20955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研究の焦点</a:t>
            </a:r>
          </a:p>
        </p:txBody>
      </p:sp>
      <p:sp>
        <p:nvSpPr>
          <p:cNvPr id="8" name="">
            <a:extLst xmlns:a="http://schemas.openxmlformats.org/drawingml/2006/main">
              <a:ext uri="{FF2B5EF4-FFF2-40B4-BE49-F238E27FC236}">
                <a16:creationId xmlns:a16="http://schemas.microsoft.com/office/drawing/2014/main" id="{67D4C3C3-1228-4F54-83C2-D9F56718F89D}"/>
              </a:ext>
            </a:extLst>
          </p:cNvPr>
          <p:cNvSpPr>
            <a:spLocks xmlns:a="http://schemas.openxmlformats.org/drawingml/2006/main" noGrp="1"/>
          </p:cNvSpPr>
          <p:nvPr/>
        </p:nvSpPr>
        <p:spPr>
          <a:xfrm xmlns:a="http://schemas.openxmlformats.org/drawingml/2006/main">
            <a:off x="666750" y="2571750"/>
            <a:ext cx="2705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授業中の形成的質問に対して、回答方法の匿名性が学生の参加意欲にどう影響するか。</a:t>
            </a:r>
          </a:p>
        </p:txBody>
      </p:sp>
      <p:sp>
        <p:nvSpPr>
          <p:cNvPr id="9" name="">
            <a:extLst xmlns:a="http://schemas.openxmlformats.org/drawingml/2006/main">
              <a:ext uri="{FF2B5EF4-FFF2-40B4-BE49-F238E27FC236}">
                <a16:creationId xmlns:a16="http://schemas.microsoft.com/office/drawing/2014/main" id="{5BCE4ADE-A956-4E23-B95C-548EEFADCD08}"/>
              </a:ext>
            </a:extLst>
          </p:cNvPr>
          <p:cNvSpPr>
            <a:spLocks xmlns:a="http://schemas.openxmlformats.org/drawingml/2006/main" noGrp="1"/>
          </p:cNvSpPr>
          <p:nvPr/>
        </p:nvSpPr>
        <p:spPr>
          <a:xfrm xmlns:a="http://schemas.openxmlformats.org/drawingml/2006/main">
            <a:off x="666750" y="38576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方法・対象</a:t>
            </a:r>
          </a:p>
        </p:txBody>
      </p:sp>
      <p:sp>
        <p:nvSpPr>
          <p:cNvPr id="10" name="">
            <a:extLst xmlns:a="http://schemas.openxmlformats.org/drawingml/2006/main">
              <a:ext uri="{FF2B5EF4-FFF2-40B4-BE49-F238E27FC236}">
                <a16:creationId xmlns:a16="http://schemas.microsoft.com/office/drawing/2014/main" id="{EE8F7A6A-DD3D-4B90-970D-7E34A224E958}"/>
              </a:ext>
            </a:extLst>
          </p:cNvPr>
          <p:cNvSpPr>
            <a:spLocks xmlns:a="http://schemas.openxmlformats.org/drawingml/2006/main" noGrp="1"/>
          </p:cNvSpPr>
          <p:nvPr/>
        </p:nvSpPr>
        <p:spPr>
          <a:xfrm xmlns:a="http://schemas.openxmlformats.org/drawingml/2006/main">
            <a:off x="666750" y="4333875"/>
            <a:ext cx="2705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大講義室で同じ授業戦略を保ち、回答手段だけを変えて比較。授業後アンケートで匿名性の利点を確認。</a:t>
            </a:r>
          </a:p>
        </p:txBody>
      </p:sp>
      <p:sp>
        <p:nvSpPr>
          <p:cNvPr id="11" name="">
            <a:extLst xmlns:a="http://schemas.openxmlformats.org/drawingml/2006/main">
              <a:ext uri="{FF2B5EF4-FFF2-40B4-BE49-F238E27FC236}">
                <a16:creationId xmlns:a16="http://schemas.microsoft.com/office/drawing/2014/main" id="{53FCD278-2F28-479E-A6FF-092C26E445A2}"/>
              </a:ext>
            </a:extLst>
          </p:cNvPr>
          <p:cNvSpPr>
            <a:spLocks xmlns:a="http://schemas.openxmlformats.org/drawingml/2006/main" noGrp="1"/>
          </p:cNvSpPr>
          <p:nvPr/>
        </p:nvSpPr>
        <p:spPr>
          <a:xfrm xmlns:a="http://schemas.openxmlformats.org/drawingml/2006/main">
            <a:off x="4267200" y="18478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1111"/>
                </a:solidFill>
                <a:latin typeface="Yu Gothic"/>
                <a:ea typeface="Yu Gothic"/>
                <a:cs typeface="Yu Gothic"/>
              </a:defRPr>
            </a:pPr>
            <a:r>
              <a:rPr sz="1875" b="1">
                <a:solidFill>
                  <a:srgbClr val="111111"/>
                </a:solidFill>
                <a:latin typeface="Yu Gothic"/>
                <a:ea typeface="Yu Gothic"/>
                <a:cs typeface="Yu Gothic"/>
              </a:rPr>
              <a:t>主要知見</a:t>
            </a:r>
          </a:p>
        </p:txBody>
      </p:sp>
      <p:sp>
        <p:nvSpPr>
          <p:cNvPr id="12" name="">
            <a:extLst xmlns:a="http://schemas.openxmlformats.org/drawingml/2006/main">
              <a:ext uri="{FF2B5EF4-FFF2-40B4-BE49-F238E27FC236}">
                <a16:creationId xmlns:a16="http://schemas.microsoft.com/office/drawing/2014/main" id="{4BA39535-04F3-47EF-9BCD-33D26BB2000E}"/>
              </a:ext>
            </a:extLst>
          </p:cNvPr>
          <p:cNvSpPr>
            <a:spLocks xmlns:a="http://schemas.openxmlformats.org/drawingml/2006/main" noGrp="1"/>
          </p:cNvSpPr>
          <p:nvPr/>
        </p:nvSpPr>
        <p:spPr>
          <a:xfrm xmlns:a="http://schemas.openxmlformats.org/drawingml/2006/main">
            <a:off x="4267200" y="23717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5357284B-DD4A-4B14-82DB-26B9A600CD1B}"/>
              </a:ext>
            </a:extLst>
          </p:cNvPr>
          <p:cNvSpPr>
            <a:spLocks xmlns:a="http://schemas.openxmlformats.org/drawingml/2006/main" noGrp="1"/>
          </p:cNvSpPr>
          <p:nvPr/>
        </p:nvSpPr>
        <p:spPr>
          <a:xfrm xmlns:a="http://schemas.openxmlformats.org/drawingml/2006/main">
            <a:off x="4533900" y="23622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匿名性は授業中演習への参加意欲に影響する重要要因</a:t>
            </a:r>
          </a:p>
        </p:txBody>
      </p:sp>
      <p:sp>
        <p:nvSpPr>
          <p:cNvPr id="14" name="">
            <a:extLst xmlns:a="http://schemas.openxmlformats.org/drawingml/2006/main">
              <a:ext uri="{FF2B5EF4-FFF2-40B4-BE49-F238E27FC236}">
                <a16:creationId xmlns:a16="http://schemas.microsoft.com/office/drawing/2014/main" id="{71D54E73-3743-4211-83CF-D34A956841DF}"/>
              </a:ext>
            </a:extLst>
          </p:cNvPr>
          <p:cNvSpPr>
            <a:spLocks xmlns:a="http://schemas.openxmlformats.org/drawingml/2006/main" noGrp="1"/>
          </p:cNvSpPr>
          <p:nvPr/>
        </p:nvSpPr>
        <p:spPr>
          <a:xfrm xmlns:a="http://schemas.openxmlformats.org/drawingml/2006/main">
            <a:off x="4267200" y="27717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E790FB37-5062-42AB-A8C5-B71367A07B66}"/>
              </a:ext>
            </a:extLst>
          </p:cNvPr>
          <p:cNvSpPr>
            <a:spLocks xmlns:a="http://schemas.openxmlformats.org/drawingml/2006/main" noGrp="1"/>
          </p:cNvSpPr>
          <p:nvPr/>
        </p:nvSpPr>
        <p:spPr>
          <a:xfrm xmlns:a="http://schemas.openxmlformats.org/drawingml/2006/main">
            <a:off x="4533900" y="2762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匿名性が高いほど、質問へ関わる傾向が強まる</a:t>
            </a:r>
          </a:p>
        </p:txBody>
      </p:sp>
      <p:sp>
        <p:nvSpPr>
          <p:cNvPr id="16" name="">
            <a:extLst xmlns:a="http://schemas.openxmlformats.org/drawingml/2006/main">
              <a:ext uri="{FF2B5EF4-FFF2-40B4-BE49-F238E27FC236}">
                <a16:creationId xmlns:a16="http://schemas.microsoft.com/office/drawing/2014/main" id="{002BDC98-20F6-48AB-B571-D0120E851F54}"/>
              </a:ext>
            </a:extLst>
          </p:cNvPr>
          <p:cNvSpPr>
            <a:spLocks xmlns:a="http://schemas.openxmlformats.org/drawingml/2006/main" noGrp="1"/>
          </p:cNvSpPr>
          <p:nvPr/>
        </p:nvSpPr>
        <p:spPr>
          <a:xfrm xmlns:a="http://schemas.openxmlformats.org/drawingml/2006/main">
            <a:off x="4267200" y="31718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D6D14C30-A07E-41B3-B389-8DC6779D8318}"/>
              </a:ext>
            </a:extLst>
          </p:cNvPr>
          <p:cNvSpPr>
            <a:spLocks xmlns:a="http://schemas.openxmlformats.org/drawingml/2006/main" noGrp="1"/>
          </p:cNvSpPr>
          <p:nvPr/>
        </p:nvSpPr>
        <p:spPr>
          <a:xfrm xmlns:a="http://schemas.openxmlformats.org/drawingml/2006/main">
            <a:off x="4533900" y="31623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電子応答システムは参加しやすい学習環境づくりに有用</a:t>
            </a:r>
          </a:p>
        </p:txBody>
      </p:sp>
      <p:sp>
        <p:nvSpPr>
          <p:cNvPr id="18" name="">
            <a:extLst xmlns:a="http://schemas.openxmlformats.org/drawingml/2006/main">
              <a:ext uri="{FF2B5EF4-FFF2-40B4-BE49-F238E27FC236}">
                <a16:creationId xmlns:a16="http://schemas.microsoft.com/office/drawing/2014/main" id="{B4BFE1F0-B617-4102-8058-C781FB5CDFDB}"/>
              </a:ext>
            </a:extLst>
          </p:cNvPr>
          <p:cNvSpPr>
            <a:spLocks xmlns:a="http://schemas.openxmlformats.org/drawingml/2006/main" noGrp="1"/>
          </p:cNvSpPr>
          <p:nvPr/>
        </p:nvSpPr>
        <p:spPr>
          <a:xfrm xmlns:a="http://schemas.openxmlformats.org/drawingml/2006/main">
            <a:off x="8020050" y="1847850"/>
            <a:ext cx="3371850" cy="3733800"/>
          </a:xfrm>
          <a:prstGeom xmlns:a="http://schemas.openxmlformats.org/drawingml/2006/main" prst="rect">
            <a:avLst/>
          </a:prstGeom>
          <a:solidFill xmlns:a="http://schemas.openxmlformats.org/drawingml/2006/main">
            <a:srgbClr val="FFF4EF"/>
          </a:solidFill>
          <a:ln xmlns:a="http://schemas.openxmlformats.org/drawingml/2006/main" w="9525">
            <a:solidFill>
              <a:srgbClr val="FFD2C2"/>
            </a:solidFill>
            <a:prstDash val="solid"/>
          </a:ln>
        </p:spPr>
      </p:sp>
      <p:sp>
        <p:nvSpPr>
          <p:cNvPr id="19" name="">
            <a:extLst xmlns:a="http://schemas.openxmlformats.org/drawingml/2006/main">
              <a:ext uri="{FF2B5EF4-FFF2-40B4-BE49-F238E27FC236}">
                <a16:creationId xmlns:a16="http://schemas.microsoft.com/office/drawing/2014/main" id="{1691ABD3-5D25-4E80-9CD2-25E9526904EA}"/>
              </a:ext>
            </a:extLst>
          </p:cNvPr>
          <p:cNvSpPr>
            <a:spLocks xmlns:a="http://schemas.openxmlformats.org/drawingml/2006/main" noGrp="1"/>
          </p:cNvSpPr>
          <p:nvPr/>
        </p:nvSpPr>
        <p:spPr>
          <a:xfrm xmlns:a="http://schemas.openxmlformats.org/drawingml/2006/main">
            <a:off x="8305800" y="209550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6B35"/>
                </a:solidFill>
                <a:latin typeface="Yu Gothic"/>
                <a:ea typeface="Yu Gothic"/>
                <a:cs typeface="Yu Gothic"/>
              </a:defRPr>
            </a:pPr>
            <a:r>
              <a:rPr sz="1875" b="1">
                <a:solidFill>
                  <a:srgbClr val="FF6B35"/>
                </a:solidFill>
                <a:latin typeface="Yu Gothic"/>
                <a:ea typeface="Yu Gothic"/>
                <a:cs typeface="Yu Gothic"/>
              </a:rPr>
              <a:t>授業サポートボタンへの示唆</a:t>
            </a:r>
          </a:p>
        </p:txBody>
      </p:sp>
      <p:sp>
        <p:nvSpPr>
          <p:cNvPr id="20" name="">
            <a:extLst xmlns:a="http://schemas.openxmlformats.org/drawingml/2006/main">
              <a:ext uri="{FF2B5EF4-FFF2-40B4-BE49-F238E27FC236}">
                <a16:creationId xmlns:a16="http://schemas.microsoft.com/office/drawing/2014/main" id="{58C71C29-94FA-47D7-B52F-C7A9CBE756B1}"/>
              </a:ext>
            </a:extLst>
          </p:cNvPr>
          <p:cNvSpPr>
            <a:spLocks xmlns:a="http://schemas.openxmlformats.org/drawingml/2006/main" noGrp="1"/>
          </p:cNvSpPr>
          <p:nvPr/>
        </p:nvSpPr>
        <p:spPr>
          <a:xfrm xmlns:a="http://schemas.openxmlformats.org/drawingml/2006/main">
            <a:off x="8305800" y="29241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6FB25B6F-C692-4AC7-B6D9-5CA94BACDE34}"/>
              </a:ext>
            </a:extLst>
          </p:cNvPr>
          <p:cNvSpPr>
            <a:spLocks xmlns:a="http://schemas.openxmlformats.org/drawingml/2006/main" noGrp="1"/>
          </p:cNvSpPr>
          <p:nvPr/>
        </p:nvSpPr>
        <p:spPr>
          <a:xfrm xmlns:a="http://schemas.openxmlformats.org/drawingml/2006/main">
            <a:off x="8572500" y="29146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ボタン利用者名を学生側に出さない</a:t>
            </a:r>
          </a:p>
        </p:txBody>
      </p:sp>
      <p:sp>
        <p:nvSpPr>
          <p:cNvPr id="22" name="">
            <a:extLst xmlns:a="http://schemas.openxmlformats.org/drawingml/2006/main">
              <a:ext uri="{FF2B5EF4-FFF2-40B4-BE49-F238E27FC236}">
                <a16:creationId xmlns:a16="http://schemas.microsoft.com/office/drawing/2014/main" id="{C2914392-2293-4C27-8547-2590D0BE808C}"/>
              </a:ext>
            </a:extLst>
          </p:cNvPr>
          <p:cNvSpPr>
            <a:spLocks xmlns:a="http://schemas.openxmlformats.org/drawingml/2006/main" noGrp="1"/>
          </p:cNvSpPr>
          <p:nvPr/>
        </p:nvSpPr>
        <p:spPr>
          <a:xfrm xmlns:a="http://schemas.openxmlformats.org/drawingml/2006/main">
            <a:off x="8305800" y="33242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840AA654-E11C-4F00-B9E2-8668E052B3AC}"/>
              </a:ext>
            </a:extLst>
          </p:cNvPr>
          <p:cNvSpPr>
            <a:spLocks xmlns:a="http://schemas.openxmlformats.org/drawingml/2006/main" noGrp="1"/>
          </p:cNvSpPr>
          <p:nvPr/>
        </p:nvSpPr>
        <p:spPr>
          <a:xfrm xmlns:a="http://schemas.openxmlformats.org/drawingml/2006/main">
            <a:off x="8572500" y="33147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教員側も個人追跡より集計表示を基本にする</a:t>
            </a:r>
          </a:p>
        </p:txBody>
      </p:sp>
      <p:sp>
        <p:nvSpPr>
          <p:cNvPr id="24" name="">
            <a:extLst xmlns:a="http://schemas.openxmlformats.org/drawingml/2006/main">
              <a:ext uri="{FF2B5EF4-FFF2-40B4-BE49-F238E27FC236}">
                <a16:creationId xmlns:a16="http://schemas.microsoft.com/office/drawing/2014/main" id="{89EF5924-86C1-4337-99E9-0D508A69B55E}"/>
              </a:ext>
            </a:extLst>
          </p:cNvPr>
          <p:cNvSpPr>
            <a:spLocks xmlns:a="http://schemas.openxmlformats.org/drawingml/2006/main" noGrp="1"/>
          </p:cNvSpPr>
          <p:nvPr/>
        </p:nvSpPr>
        <p:spPr>
          <a:xfrm xmlns:a="http://schemas.openxmlformats.org/drawingml/2006/main">
            <a:off x="8305800" y="3724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B6C80D78-8E92-450E-9B26-3750047DDCAD}"/>
              </a:ext>
            </a:extLst>
          </p:cNvPr>
          <p:cNvSpPr>
            <a:spLocks xmlns:a="http://schemas.openxmlformats.org/drawingml/2006/main" noGrp="1"/>
          </p:cNvSpPr>
          <p:nvPr/>
        </p:nvSpPr>
        <p:spPr>
          <a:xfrm xmlns:a="http://schemas.openxmlformats.org/drawingml/2006/main">
            <a:off x="8572500" y="37147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「間違えても安全」な入口として設計する</a:t>
            </a:r>
          </a:p>
        </p:txBody>
      </p:sp>
      <p:sp>
        <p:nvSpPr>
          <p:cNvPr id="26" name="">
            <a:extLst xmlns:a="http://schemas.openxmlformats.org/drawingml/2006/main">
              <a:ext uri="{FF2B5EF4-FFF2-40B4-BE49-F238E27FC236}">
                <a16:creationId xmlns:a16="http://schemas.microsoft.com/office/drawing/2014/main" id="{FE1B5EA9-1E64-4B59-A122-25031D257AD1}"/>
              </a:ext>
            </a:extLst>
          </p:cNvPr>
          <p:cNvSpPr>
            <a:spLocks xmlns:a="http://schemas.openxmlformats.org/drawingml/2006/main" noGrp="1"/>
          </p:cNvSpPr>
          <p:nvPr/>
        </p:nvSpPr>
        <p:spPr>
          <a:xfrm xmlns:a="http://schemas.openxmlformats.org/drawingml/2006/main">
            <a:off x="419100" y="59055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8B8B8B"/>
                </a:solidFill>
                <a:latin typeface="Yu Gothic"/>
                <a:ea typeface="Yu Gothic"/>
                <a:cs typeface="Yu Gothic"/>
              </a:defRPr>
            </a:pPr>
            <a:r>
              <a:rPr sz="900" b="0">
                <a:solidFill>
                  <a:srgbClr val="8B8B8B"/>
                </a:solidFill>
                <a:latin typeface="Yu Gothic"/>
                <a:ea typeface="Yu Gothic"/>
                <a:cs typeface="Yu Gothic"/>
              </a:rPr>
              <a:t>Source: Freeman, M., Blayney, P., &amp; Ginns, P. (2006). Australasian Journal of Educational Technology. doi:10.14742/ajet.1286</a:t>
            </a:r>
          </a:p>
        </p:txBody>
      </p:sp>
      <p:sp>
        <p:nvSpPr>
          <p:cNvPr id="27" name="">
            <a:extLst xmlns:a="http://schemas.openxmlformats.org/drawingml/2006/main">
              <a:ext uri="{FF2B5EF4-FFF2-40B4-BE49-F238E27FC236}">
                <a16:creationId xmlns:a16="http://schemas.microsoft.com/office/drawing/2014/main" id="{DD3305EF-A334-4486-9674-2FD1B74CDB42}"/>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主要論文</a:t>
            </a:r>
          </a:p>
        </p:txBody>
      </p:sp>
      <p:sp>
        <p:nvSpPr>
          <p:cNvPr id="28" name="">
            <a:extLst xmlns:a="http://schemas.openxmlformats.org/drawingml/2006/main">
              <a:ext uri="{FF2B5EF4-FFF2-40B4-BE49-F238E27FC236}">
                <a16:creationId xmlns:a16="http://schemas.microsoft.com/office/drawing/2014/main" id="{9851634F-8727-4BA8-BAA6-8984ACC07889}"/>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06</a:t>
            </a:r>
          </a:p>
        </p:txBody>
      </p:sp>
    </p:spTree>
    <p:extLst>
      <p:ext uri="{BB962C8B-B14F-4D97-AF65-F5344CB8AC3E}">
        <p14:creationId xmlns:p14="http://schemas.microsoft.com/office/powerpoint/2010/main" val="17534928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4A5E75-E949-4C15-A279-F1DCB3F246DF}"/>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大人数授業: 手を挙げる以外の参加経路</a:t>
            </a:r>
          </a:p>
        </p:txBody>
      </p:sp>
      <p:sp>
        <p:nvSpPr>
          <p:cNvPr id="2" name="">
            <a:extLst xmlns:a="http://schemas.openxmlformats.org/drawingml/2006/main">
              <a:ext uri="{FF2B5EF4-FFF2-40B4-BE49-F238E27FC236}">
                <a16:creationId xmlns:a16="http://schemas.microsoft.com/office/drawing/2014/main" id="{A99B4FE9-9085-49E2-83F3-C0F35840EE9A}"/>
              </a:ext>
            </a:extLst>
          </p:cNvPr>
          <p:cNvSpPr>
            <a:spLocks xmlns:a="http://schemas.openxmlformats.org/drawingml/2006/main" noGrp="1"/>
          </p:cNvSpPr>
          <p:nvPr/>
        </p:nvSpPr>
        <p:spPr>
          <a:xfrm xmlns:a="http://schemas.openxmlformats.org/drawingml/2006/main">
            <a:off x="419100" y="102870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latin typeface="Yu Gothic"/>
                <a:ea typeface="Yu Gothic"/>
                <a:cs typeface="Yu Gothic"/>
              </a:defRPr>
            </a:pPr>
            <a:r>
              <a:rPr sz="1275" b="0">
                <a:solidFill>
                  <a:srgbClr val="555555"/>
                </a:solidFill>
                <a:latin typeface="Yu Gothic"/>
                <a:ea typeface="Yu Gothic"/>
                <a:cs typeface="Yu Gothic"/>
              </a:rPr>
              <a:t>Heaslip, Donovan &amp; Cullen (2014) / Student response systems</a:t>
            </a:r>
          </a:p>
        </p:txBody>
      </p:sp>
      <p:sp>
        <p:nvSpPr>
          <p:cNvPr id="3" name="">
            <a:extLst xmlns:a="http://schemas.openxmlformats.org/drawingml/2006/main">
              <a:ext uri="{FF2B5EF4-FFF2-40B4-BE49-F238E27FC236}">
                <a16:creationId xmlns:a16="http://schemas.microsoft.com/office/drawing/2014/main" id="{99A3AFAD-F60B-4C17-B430-FA3E792E3C87}"/>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2F50A7-286F-414C-A1FE-CB8B768973FB}"/>
              </a:ext>
            </a:extLst>
          </p:cNvPr>
          <p:cNvSpPr>
            <a:spLocks xmlns:a="http://schemas.openxmlformats.org/drawingml/2006/main" noGrp="1"/>
          </p:cNvSpPr>
          <p:nvPr/>
        </p:nvSpPr>
        <p:spPr>
          <a:xfrm xmlns:a="http://schemas.openxmlformats.org/drawingml/2006/main">
            <a:off x="9525000" y="457200"/>
            <a:ext cx="1809750" cy="2857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35417C1A-2DCB-4FF0-BDD8-758664B950C9}"/>
              </a:ext>
            </a:extLst>
          </p:cNvPr>
          <p:cNvSpPr>
            <a:spLocks xmlns:a="http://schemas.openxmlformats.org/drawingml/2006/main" noGrp="1"/>
          </p:cNvSpPr>
          <p:nvPr/>
        </p:nvSpPr>
        <p:spPr>
          <a:xfrm xmlns:a="http://schemas.openxmlformats.org/drawingml/2006/main">
            <a:off x="9620250" y="5048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5803D"/>
                </a:solidFill>
                <a:latin typeface="Yu Gothic"/>
                <a:ea typeface="Yu Gothic"/>
                <a:cs typeface="Yu Gothic"/>
              </a:defRPr>
            </a:pPr>
            <a:r>
              <a:rPr sz="975" b="1">
                <a:solidFill>
                  <a:srgbClr val="15803D"/>
                </a:solidFill>
                <a:latin typeface="Yu Gothic"/>
                <a:ea typeface="Yu Gothic"/>
                <a:cs typeface="Yu Gothic"/>
              </a:rPr>
              <a:t>SRS</a:t>
            </a:r>
          </a:p>
        </p:txBody>
      </p:sp>
      <p:sp>
        <p:nvSpPr>
          <p:cNvPr id="6" name="">
            <a:extLst xmlns:a="http://schemas.openxmlformats.org/drawingml/2006/main">
              <a:ext uri="{FF2B5EF4-FFF2-40B4-BE49-F238E27FC236}">
                <a16:creationId xmlns:a16="http://schemas.microsoft.com/office/drawing/2014/main" id="{449EE409-AD7C-4EA1-B27B-DB508F99636A}"/>
              </a:ext>
            </a:extLst>
          </p:cNvPr>
          <p:cNvSpPr>
            <a:spLocks xmlns:a="http://schemas.openxmlformats.org/drawingml/2006/main" noGrp="1"/>
          </p:cNvSpPr>
          <p:nvPr/>
        </p:nvSpPr>
        <p:spPr>
          <a:xfrm xmlns:a="http://schemas.openxmlformats.org/drawingml/2006/main">
            <a:off x="400050" y="1847850"/>
            <a:ext cx="3371850" cy="37338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132E3363-CB59-4BF1-9F86-A5A465610D51}"/>
              </a:ext>
            </a:extLst>
          </p:cNvPr>
          <p:cNvSpPr>
            <a:spLocks xmlns:a="http://schemas.openxmlformats.org/drawingml/2006/main" noGrp="1"/>
          </p:cNvSpPr>
          <p:nvPr/>
        </p:nvSpPr>
        <p:spPr>
          <a:xfrm xmlns:a="http://schemas.openxmlformats.org/drawingml/2006/main">
            <a:off x="666750" y="20955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研究の焦点</a:t>
            </a:r>
          </a:p>
        </p:txBody>
      </p:sp>
      <p:sp>
        <p:nvSpPr>
          <p:cNvPr id="8" name="">
            <a:extLst xmlns:a="http://schemas.openxmlformats.org/drawingml/2006/main">
              <a:ext uri="{FF2B5EF4-FFF2-40B4-BE49-F238E27FC236}">
                <a16:creationId xmlns:a16="http://schemas.microsoft.com/office/drawing/2014/main" id="{CC24C8E5-D7E7-403E-9A7B-C77404448F77}"/>
              </a:ext>
            </a:extLst>
          </p:cNvPr>
          <p:cNvSpPr>
            <a:spLocks xmlns:a="http://schemas.openxmlformats.org/drawingml/2006/main" noGrp="1"/>
          </p:cNvSpPr>
          <p:nvPr/>
        </p:nvSpPr>
        <p:spPr>
          <a:xfrm xmlns:a="http://schemas.openxmlformats.org/drawingml/2006/main">
            <a:off x="666750" y="2571750"/>
            <a:ext cx="2705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大人数授業において、Student Response System が参加・相互作用・エンゲージメントをなぜ高めるのか。</a:t>
            </a:r>
          </a:p>
        </p:txBody>
      </p:sp>
      <p:sp>
        <p:nvSpPr>
          <p:cNvPr id="9" name="">
            <a:extLst xmlns:a="http://schemas.openxmlformats.org/drawingml/2006/main">
              <a:ext uri="{FF2B5EF4-FFF2-40B4-BE49-F238E27FC236}">
                <a16:creationId xmlns:a16="http://schemas.microsoft.com/office/drawing/2014/main" id="{8527F86E-D74C-4499-8F61-00DA71C6D85E}"/>
              </a:ext>
            </a:extLst>
          </p:cNvPr>
          <p:cNvSpPr>
            <a:spLocks xmlns:a="http://schemas.openxmlformats.org/drawingml/2006/main" noGrp="1"/>
          </p:cNvSpPr>
          <p:nvPr/>
        </p:nvSpPr>
        <p:spPr>
          <a:xfrm xmlns:a="http://schemas.openxmlformats.org/drawingml/2006/main">
            <a:off x="666750" y="38576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方法・対象</a:t>
            </a:r>
          </a:p>
        </p:txBody>
      </p:sp>
      <p:sp>
        <p:nvSpPr>
          <p:cNvPr id="10" name="">
            <a:extLst xmlns:a="http://schemas.openxmlformats.org/drawingml/2006/main">
              <a:ext uri="{FF2B5EF4-FFF2-40B4-BE49-F238E27FC236}">
                <a16:creationId xmlns:a16="http://schemas.microsoft.com/office/drawing/2014/main" id="{990EBF65-A7D5-428B-BA08-7CDC67884C72}"/>
              </a:ext>
            </a:extLst>
          </p:cNvPr>
          <p:cNvSpPr>
            <a:spLocks xmlns:a="http://schemas.openxmlformats.org/drawingml/2006/main" noGrp="1"/>
          </p:cNvSpPr>
          <p:nvPr/>
        </p:nvSpPr>
        <p:spPr>
          <a:xfrm xmlns:a="http://schemas.openxmlformats.org/drawingml/2006/main">
            <a:off x="666750" y="4333875"/>
            <a:ext cx="2705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最終学年の学部ビジネス科目で、事前・中間・事後デザインと半構造化インタビューを組み合わせた混合研究。</a:t>
            </a:r>
          </a:p>
        </p:txBody>
      </p:sp>
      <p:sp>
        <p:nvSpPr>
          <p:cNvPr id="11" name="">
            <a:extLst xmlns:a="http://schemas.openxmlformats.org/drawingml/2006/main">
              <a:ext uri="{FF2B5EF4-FFF2-40B4-BE49-F238E27FC236}">
                <a16:creationId xmlns:a16="http://schemas.microsoft.com/office/drawing/2014/main" id="{DDD797D8-212B-407E-95BA-1C7B803DC94F}"/>
              </a:ext>
            </a:extLst>
          </p:cNvPr>
          <p:cNvSpPr>
            <a:spLocks xmlns:a="http://schemas.openxmlformats.org/drawingml/2006/main" noGrp="1"/>
          </p:cNvSpPr>
          <p:nvPr/>
        </p:nvSpPr>
        <p:spPr>
          <a:xfrm xmlns:a="http://schemas.openxmlformats.org/drawingml/2006/main">
            <a:off x="4267200" y="18478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1111"/>
                </a:solidFill>
                <a:latin typeface="Yu Gothic"/>
                <a:ea typeface="Yu Gothic"/>
                <a:cs typeface="Yu Gothic"/>
              </a:defRPr>
            </a:pPr>
            <a:r>
              <a:rPr sz="1875" b="1">
                <a:solidFill>
                  <a:srgbClr val="111111"/>
                </a:solidFill>
                <a:latin typeface="Yu Gothic"/>
                <a:ea typeface="Yu Gothic"/>
                <a:cs typeface="Yu Gothic"/>
              </a:rPr>
              <a:t>主要知見</a:t>
            </a:r>
          </a:p>
        </p:txBody>
      </p:sp>
      <p:sp>
        <p:nvSpPr>
          <p:cNvPr id="12" name="">
            <a:extLst xmlns:a="http://schemas.openxmlformats.org/drawingml/2006/main">
              <a:ext uri="{FF2B5EF4-FFF2-40B4-BE49-F238E27FC236}">
                <a16:creationId xmlns:a16="http://schemas.microsoft.com/office/drawing/2014/main" id="{721019BD-D8F0-4CB9-BCF2-AFED6A3450F4}"/>
              </a:ext>
            </a:extLst>
          </p:cNvPr>
          <p:cNvSpPr>
            <a:spLocks xmlns:a="http://schemas.openxmlformats.org/drawingml/2006/main" noGrp="1"/>
          </p:cNvSpPr>
          <p:nvPr/>
        </p:nvSpPr>
        <p:spPr>
          <a:xfrm xmlns:a="http://schemas.openxmlformats.org/drawingml/2006/main">
            <a:off x="4267200" y="23717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F5BE54D8-E3AF-4528-AC05-C9BA318FF8C6}"/>
              </a:ext>
            </a:extLst>
          </p:cNvPr>
          <p:cNvSpPr>
            <a:spLocks xmlns:a="http://schemas.openxmlformats.org/drawingml/2006/main" noGrp="1"/>
          </p:cNvSpPr>
          <p:nvPr/>
        </p:nvSpPr>
        <p:spPr>
          <a:xfrm xmlns:a="http://schemas.openxmlformats.org/drawingml/2006/main">
            <a:off x="4533900" y="23622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SRS は大人数授業のインタラクションを高める手段として位置づく</a:t>
            </a:r>
          </a:p>
        </p:txBody>
      </p:sp>
      <p:sp>
        <p:nvSpPr>
          <p:cNvPr id="14" name="">
            <a:extLst xmlns:a="http://schemas.openxmlformats.org/drawingml/2006/main">
              <a:ext uri="{FF2B5EF4-FFF2-40B4-BE49-F238E27FC236}">
                <a16:creationId xmlns:a16="http://schemas.microsoft.com/office/drawing/2014/main" id="{D5CAB55E-5AEC-49DA-89E8-96F5AA7AA51E}"/>
              </a:ext>
            </a:extLst>
          </p:cNvPr>
          <p:cNvSpPr>
            <a:spLocks xmlns:a="http://schemas.openxmlformats.org/drawingml/2006/main" noGrp="1"/>
          </p:cNvSpPr>
          <p:nvPr/>
        </p:nvSpPr>
        <p:spPr>
          <a:xfrm xmlns:a="http://schemas.openxmlformats.org/drawingml/2006/main">
            <a:off x="4267200" y="27717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2521505C-4519-472B-B095-38B593CC113E}"/>
              </a:ext>
            </a:extLst>
          </p:cNvPr>
          <p:cNvSpPr>
            <a:spLocks xmlns:a="http://schemas.openxmlformats.org/drawingml/2006/main" noGrp="1"/>
          </p:cNvSpPr>
          <p:nvPr/>
        </p:nvSpPr>
        <p:spPr>
          <a:xfrm xmlns:a="http://schemas.openxmlformats.org/drawingml/2006/main">
            <a:off x="4533900" y="2762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量的データだけでなく、学生視点から強み・弱みを分析</a:t>
            </a:r>
          </a:p>
        </p:txBody>
      </p:sp>
      <p:sp>
        <p:nvSpPr>
          <p:cNvPr id="16" name="">
            <a:extLst xmlns:a="http://schemas.openxmlformats.org/drawingml/2006/main">
              <a:ext uri="{FF2B5EF4-FFF2-40B4-BE49-F238E27FC236}">
                <a16:creationId xmlns:a16="http://schemas.microsoft.com/office/drawing/2014/main" id="{8A1DF136-C984-466A-9F01-B1A60907AF98}"/>
              </a:ext>
            </a:extLst>
          </p:cNvPr>
          <p:cNvSpPr>
            <a:spLocks xmlns:a="http://schemas.openxmlformats.org/drawingml/2006/main" noGrp="1"/>
          </p:cNvSpPr>
          <p:nvPr/>
        </p:nvSpPr>
        <p:spPr>
          <a:xfrm xmlns:a="http://schemas.openxmlformats.org/drawingml/2006/main">
            <a:off x="4267200" y="31718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F742F748-9080-4A88-AAB4-F4625E1451C1}"/>
              </a:ext>
            </a:extLst>
          </p:cNvPr>
          <p:cNvSpPr>
            <a:spLocks xmlns:a="http://schemas.openxmlformats.org/drawingml/2006/main" noGrp="1"/>
          </p:cNvSpPr>
          <p:nvPr/>
        </p:nvSpPr>
        <p:spPr>
          <a:xfrm xmlns:a="http://schemas.openxmlformats.org/drawingml/2006/main">
            <a:off x="4533900" y="31623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参加が増える理由の解明に踏み込んだ研究</a:t>
            </a:r>
          </a:p>
        </p:txBody>
      </p:sp>
      <p:sp>
        <p:nvSpPr>
          <p:cNvPr id="18" name="">
            <a:extLst xmlns:a="http://schemas.openxmlformats.org/drawingml/2006/main">
              <a:ext uri="{FF2B5EF4-FFF2-40B4-BE49-F238E27FC236}">
                <a16:creationId xmlns:a16="http://schemas.microsoft.com/office/drawing/2014/main" id="{84AF943A-8539-4726-8016-F67D19C53533}"/>
              </a:ext>
            </a:extLst>
          </p:cNvPr>
          <p:cNvSpPr>
            <a:spLocks xmlns:a="http://schemas.openxmlformats.org/drawingml/2006/main" noGrp="1"/>
          </p:cNvSpPr>
          <p:nvPr/>
        </p:nvSpPr>
        <p:spPr>
          <a:xfrm xmlns:a="http://schemas.openxmlformats.org/drawingml/2006/main">
            <a:off x="8020050" y="1847850"/>
            <a:ext cx="3371850" cy="3733800"/>
          </a:xfrm>
          <a:prstGeom xmlns:a="http://schemas.openxmlformats.org/drawingml/2006/main" prst="rect">
            <a:avLst/>
          </a:prstGeom>
          <a:solidFill xmlns:a="http://schemas.openxmlformats.org/drawingml/2006/main">
            <a:srgbClr val="FFF4EF"/>
          </a:solidFill>
          <a:ln xmlns:a="http://schemas.openxmlformats.org/drawingml/2006/main" w="9525">
            <a:solidFill>
              <a:srgbClr val="FFD2C2"/>
            </a:solidFill>
            <a:prstDash val="solid"/>
          </a:ln>
        </p:spPr>
      </p:sp>
      <p:sp>
        <p:nvSpPr>
          <p:cNvPr id="19" name="">
            <a:extLst xmlns:a="http://schemas.openxmlformats.org/drawingml/2006/main">
              <a:ext uri="{FF2B5EF4-FFF2-40B4-BE49-F238E27FC236}">
                <a16:creationId xmlns:a16="http://schemas.microsoft.com/office/drawing/2014/main" id="{56C2F0A4-FD8B-421F-A8D5-E82190CC7F1A}"/>
              </a:ext>
            </a:extLst>
          </p:cNvPr>
          <p:cNvSpPr>
            <a:spLocks xmlns:a="http://schemas.openxmlformats.org/drawingml/2006/main" noGrp="1"/>
          </p:cNvSpPr>
          <p:nvPr/>
        </p:nvSpPr>
        <p:spPr>
          <a:xfrm xmlns:a="http://schemas.openxmlformats.org/drawingml/2006/main">
            <a:off x="8305800" y="209550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6B35"/>
                </a:solidFill>
                <a:latin typeface="Yu Gothic"/>
                <a:ea typeface="Yu Gothic"/>
                <a:cs typeface="Yu Gothic"/>
              </a:defRPr>
            </a:pPr>
            <a:r>
              <a:rPr sz="1875" b="1">
                <a:solidFill>
                  <a:srgbClr val="FF6B35"/>
                </a:solidFill>
                <a:latin typeface="Yu Gothic"/>
                <a:ea typeface="Yu Gothic"/>
                <a:cs typeface="Yu Gothic"/>
              </a:rPr>
              <a:t>授業サポートボタンへの示唆</a:t>
            </a:r>
          </a:p>
        </p:txBody>
      </p:sp>
      <p:sp>
        <p:nvSpPr>
          <p:cNvPr id="20" name="">
            <a:extLst xmlns:a="http://schemas.openxmlformats.org/drawingml/2006/main">
              <a:ext uri="{FF2B5EF4-FFF2-40B4-BE49-F238E27FC236}">
                <a16:creationId xmlns:a16="http://schemas.microsoft.com/office/drawing/2014/main" id="{BF4F4AA8-32FA-42B4-9475-8ABD67BEA291}"/>
              </a:ext>
            </a:extLst>
          </p:cNvPr>
          <p:cNvSpPr>
            <a:spLocks xmlns:a="http://schemas.openxmlformats.org/drawingml/2006/main" noGrp="1"/>
          </p:cNvSpPr>
          <p:nvPr/>
        </p:nvSpPr>
        <p:spPr>
          <a:xfrm xmlns:a="http://schemas.openxmlformats.org/drawingml/2006/main">
            <a:off x="8305800" y="29241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B9883953-8105-4F22-9548-914B95D8E43D}"/>
              </a:ext>
            </a:extLst>
          </p:cNvPr>
          <p:cNvSpPr>
            <a:spLocks xmlns:a="http://schemas.openxmlformats.org/drawingml/2006/main" noGrp="1"/>
          </p:cNvSpPr>
          <p:nvPr/>
        </p:nvSpPr>
        <p:spPr>
          <a:xfrm xmlns:a="http://schemas.openxmlformats.org/drawingml/2006/main">
            <a:off x="8572500" y="29146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大人数ほど簡単な反応ボタンが必要</a:t>
            </a:r>
          </a:p>
        </p:txBody>
      </p:sp>
      <p:sp>
        <p:nvSpPr>
          <p:cNvPr id="22" name="">
            <a:extLst xmlns:a="http://schemas.openxmlformats.org/drawingml/2006/main">
              <a:ext uri="{FF2B5EF4-FFF2-40B4-BE49-F238E27FC236}">
                <a16:creationId xmlns:a16="http://schemas.microsoft.com/office/drawing/2014/main" id="{415743E6-D7E7-4FAC-AB92-EF79442754F6}"/>
              </a:ext>
            </a:extLst>
          </p:cNvPr>
          <p:cNvSpPr>
            <a:spLocks xmlns:a="http://schemas.openxmlformats.org/drawingml/2006/main" noGrp="1"/>
          </p:cNvSpPr>
          <p:nvPr/>
        </p:nvSpPr>
        <p:spPr>
          <a:xfrm xmlns:a="http://schemas.openxmlformats.org/drawingml/2006/main">
            <a:off x="8305800" y="33242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8AF30E7D-7824-48FB-BBC5-4AB01B8965BF}"/>
              </a:ext>
            </a:extLst>
          </p:cNvPr>
          <p:cNvSpPr>
            <a:spLocks xmlns:a="http://schemas.openxmlformats.org/drawingml/2006/main" noGrp="1"/>
          </p:cNvSpPr>
          <p:nvPr/>
        </p:nvSpPr>
        <p:spPr>
          <a:xfrm xmlns:a="http://schemas.openxmlformats.org/drawingml/2006/main">
            <a:off x="8572500" y="33147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教員が授業中に反応を読み取れる設計にする</a:t>
            </a:r>
          </a:p>
        </p:txBody>
      </p:sp>
      <p:sp>
        <p:nvSpPr>
          <p:cNvPr id="24" name="">
            <a:extLst xmlns:a="http://schemas.openxmlformats.org/drawingml/2006/main">
              <a:ext uri="{FF2B5EF4-FFF2-40B4-BE49-F238E27FC236}">
                <a16:creationId xmlns:a16="http://schemas.microsoft.com/office/drawing/2014/main" id="{71331373-CC06-4029-8C9E-1273A4F15F6B}"/>
              </a:ext>
            </a:extLst>
          </p:cNvPr>
          <p:cNvSpPr>
            <a:spLocks xmlns:a="http://schemas.openxmlformats.org/drawingml/2006/main" noGrp="1"/>
          </p:cNvSpPr>
          <p:nvPr/>
        </p:nvSpPr>
        <p:spPr>
          <a:xfrm xmlns:a="http://schemas.openxmlformats.org/drawingml/2006/main">
            <a:off x="8305800" y="3724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AA02B10F-AE70-47C3-B120-5C05E6E6F1A0}"/>
              </a:ext>
            </a:extLst>
          </p:cNvPr>
          <p:cNvSpPr>
            <a:spLocks xmlns:a="http://schemas.openxmlformats.org/drawingml/2006/main" noGrp="1"/>
          </p:cNvSpPr>
          <p:nvPr/>
        </p:nvSpPr>
        <p:spPr>
          <a:xfrm xmlns:a="http://schemas.openxmlformats.org/drawingml/2006/main">
            <a:off x="8572500" y="37147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学生の参加感を「発言」だけに依存させない</a:t>
            </a:r>
          </a:p>
        </p:txBody>
      </p:sp>
      <p:sp>
        <p:nvSpPr>
          <p:cNvPr id="26" name="">
            <a:extLst xmlns:a="http://schemas.openxmlformats.org/drawingml/2006/main">
              <a:ext uri="{FF2B5EF4-FFF2-40B4-BE49-F238E27FC236}">
                <a16:creationId xmlns:a16="http://schemas.microsoft.com/office/drawing/2014/main" id="{D593F1B3-0122-46BB-BE88-3C58443CBE61}"/>
              </a:ext>
            </a:extLst>
          </p:cNvPr>
          <p:cNvSpPr>
            <a:spLocks xmlns:a="http://schemas.openxmlformats.org/drawingml/2006/main" noGrp="1"/>
          </p:cNvSpPr>
          <p:nvPr/>
        </p:nvSpPr>
        <p:spPr>
          <a:xfrm xmlns:a="http://schemas.openxmlformats.org/drawingml/2006/main">
            <a:off x="419100" y="59055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8B8B8B"/>
                </a:solidFill>
                <a:latin typeface="Yu Gothic"/>
                <a:ea typeface="Yu Gothic"/>
                <a:cs typeface="Yu Gothic"/>
              </a:defRPr>
            </a:pPr>
            <a:r>
              <a:rPr sz="900" b="0">
                <a:solidFill>
                  <a:srgbClr val="8B8B8B"/>
                </a:solidFill>
                <a:latin typeface="Yu Gothic"/>
                <a:ea typeface="Yu Gothic"/>
                <a:cs typeface="Yu Gothic"/>
              </a:rPr>
              <a:t>Source: Heaslip, G., Donovan, P., &amp; Cullen, J. G. (2014). Active Learning in Higher Education. doi:10.1177/1469787413514648</a:t>
            </a:r>
          </a:p>
        </p:txBody>
      </p:sp>
      <p:sp>
        <p:nvSpPr>
          <p:cNvPr id="27" name="">
            <a:extLst xmlns:a="http://schemas.openxmlformats.org/drawingml/2006/main">
              <a:ext uri="{FF2B5EF4-FFF2-40B4-BE49-F238E27FC236}">
                <a16:creationId xmlns:a16="http://schemas.microsoft.com/office/drawing/2014/main" id="{B07B6CC3-BAC3-4D93-92A5-63D5BE5FDD24}"/>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主要論文</a:t>
            </a:r>
          </a:p>
        </p:txBody>
      </p:sp>
      <p:sp>
        <p:nvSpPr>
          <p:cNvPr id="28" name="">
            <a:extLst xmlns:a="http://schemas.openxmlformats.org/drawingml/2006/main">
              <a:ext uri="{FF2B5EF4-FFF2-40B4-BE49-F238E27FC236}">
                <a16:creationId xmlns:a16="http://schemas.microsoft.com/office/drawing/2014/main" id="{0050003C-48D0-413C-8CC2-0637DD58C5EA}"/>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07</a:t>
            </a:r>
          </a:p>
        </p:txBody>
      </p:sp>
    </p:spTree>
    <p:extLst>
      <p:ext uri="{BB962C8B-B14F-4D97-AF65-F5344CB8AC3E}">
        <p14:creationId xmlns:p14="http://schemas.microsoft.com/office/powerpoint/2010/main" val="2121342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BD8EED-0183-4695-8F39-FD6A4134A86F}"/>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匿名Q&amp;A: 質問・返信・投票で参加を広げる</a:t>
            </a:r>
          </a:p>
        </p:txBody>
      </p:sp>
      <p:sp>
        <p:nvSpPr>
          <p:cNvPr id="2" name="">
            <a:extLst xmlns:a="http://schemas.openxmlformats.org/drawingml/2006/main">
              <a:ext uri="{FF2B5EF4-FFF2-40B4-BE49-F238E27FC236}">
                <a16:creationId xmlns:a16="http://schemas.microsoft.com/office/drawing/2014/main" id="{3FB78C98-4D53-46A3-A948-0CDBC2F67807}"/>
              </a:ext>
            </a:extLst>
          </p:cNvPr>
          <p:cNvSpPr>
            <a:spLocks xmlns:a="http://schemas.openxmlformats.org/drawingml/2006/main" noGrp="1"/>
          </p:cNvSpPr>
          <p:nvPr/>
        </p:nvSpPr>
        <p:spPr>
          <a:xfrm xmlns:a="http://schemas.openxmlformats.org/drawingml/2006/main">
            <a:off x="419100" y="102870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latin typeface="Yu Gothic"/>
                <a:ea typeface="Yu Gothic"/>
                <a:cs typeface="Yu Gothic"/>
              </a:defRPr>
            </a:pPr>
            <a:r>
              <a:rPr sz="1275" b="0">
                <a:solidFill>
                  <a:srgbClr val="555555"/>
                </a:solidFill>
                <a:latin typeface="Yu Gothic"/>
                <a:ea typeface="Yu Gothic"/>
                <a:cs typeface="Yu Gothic"/>
              </a:rPr>
              <a:t>Tan, Small &amp; Lewis (2020) / Anonymous mobile discussion platform</a:t>
            </a:r>
          </a:p>
        </p:txBody>
      </p:sp>
      <p:sp>
        <p:nvSpPr>
          <p:cNvPr id="3" name="">
            <a:extLst xmlns:a="http://schemas.openxmlformats.org/drawingml/2006/main">
              <a:ext uri="{FF2B5EF4-FFF2-40B4-BE49-F238E27FC236}">
                <a16:creationId xmlns:a16="http://schemas.microsoft.com/office/drawing/2014/main" id="{E75751DE-F152-405D-9592-EF7BEA08EC2C}"/>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BA6C5C2-5AC3-466D-BA09-47CE4D4362C1}"/>
              </a:ext>
            </a:extLst>
          </p:cNvPr>
          <p:cNvSpPr>
            <a:spLocks xmlns:a="http://schemas.openxmlformats.org/drawingml/2006/main" noGrp="1"/>
          </p:cNvSpPr>
          <p:nvPr/>
        </p:nvSpPr>
        <p:spPr>
          <a:xfrm xmlns:a="http://schemas.openxmlformats.org/drawingml/2006/main">
            <a:off x="9525000" y="457200"/>
            <a:ext cx="1809750" cy="2857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E20C8633-6431-4A36-9420-A77F513E7FAF}"/>
              </a:ext>
            </a:extLst>
          </p:cNvPr>
          <p:cNvSpPr>
            <a:spLocks xmlns:a="http://schemas.openxmlformats.org/drawingml/2006/main" noGrp="1"/>
          </p:cNvSpPr>
          <p:nvPr/>
        </p:nvSpPr>
        <p:spPr>
          <a:xfrm xmlns:a="http://schemas.openxmlformats.org/drawingml/2006/main">
            <a:off x="9620250" y="5048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3164D4"/>
                </a:solidFill>
                <a:latin typeface="Yu Gothic"/>
                <a:ea typeface="Yu Gothic"/>
                <a:cs typeface="Yu Gothic"/>
              </a:defRPr>
            </a:pPr>
            <a:r>
              <a:rPr sz="975" b="1">
                <a:solidFill>
                  <a:srgbClr val="3164D4"/>
                </a:solidFill>
                <a:latin typeface="Yu Gothic"/>
                <a:ea typeface="Yu Gothic"/>
                <a:cs typeface="Yu Gothic"/>
              </a:rPr>
              <a:t>匿名Q&amp;A</a:t>
            </a:r>
          </a:p>
        </p:txBody>
      </p:sp>
      <p:sp>
        <p:nvSpPr>
          <p:cNvPr id="6" name="">
            <a:extLst xmlns:a="http://schemas.openxmlformats.org/drawingml/2006/main">
              <a:ext uri="{FF2B5EF4-FFF2-40B4-BE49-F238E27FC236}">
                <a16:creationId xmlns:a16="http://schemas.microsoft.com/office/drawing/2014/main" id="{393CB2D0-2E7B-40C8-B6D3-4025E41BBB43}"/>
              </a:ext>
            </a:extLst>
          </p:cNvPr>
          <p:cNvSpPr>
            <a:spLocks xmlns:a="http://schemas.openxmlformats.org/drawingml/2006/main" noGrp="1"/>
          </p:cNvSpPr>
          <p:nvPr/>
        </p:nvSpPr>
        <p:spPr>
          <a:xfrm xmlns:a="http://schemas.openxmlformats.org/drawingml/2006/main">
            <a:off x="400050" y="1847850"/>
            <a:ext cx="3371850" cy="37338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1EFF0A5A-2D29-4E94-9B2A-C68996BD9344}"/>
              </a:ext>
            </a:extLst>
          </p:cNvPr>
          <p:cNvSpPr>
            <a:spLocks xmlns:a="http://schemas.openxmlformats.org/drawingml/2006/main" noGrp="1"/>
          </p:cNvSpPr>
          <p:nvPr/>
        </p:nvSpPr>
        <p:spPr>
          <a:xfrm xmlns:a="http://schemas.openxmlformats.org/drawingml/2006/main">
            <a:off x="666750" y="20955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研究の焦点</a:t>
            </a:r>
          </a:p>
        </p:txBody>
      </p:sp>
      <p:sp>
        <p:nvSpPr>
          <p:cNvPr id="8" name="">
            <a:extLst xmlns:a="http://schemas.openxmlformats.org/drawingml/2006/main">
              <a:ext uri="{FF2B5EF4-FFF2-40B4-BE49-F238E27FC236}">
                <a16:creationId xmlns:a16="http://schemas.microsoft.com/office/drawing/2014/main" id="{ADD1936B-C190-472C-A83B-ADDC85B28CF9}"/>
              </a:ext>
            </a:extLst>
          </p:cNvPr>
          <p:cNvSpPr>
            <a:spLocks xmlns:a="http://schemas.openxmlformats.org/drawingml/2006/main" noGrp="1"/>
          </p:cNvSpPr>
          <p:nvPr/>
        </p:nvSpPr>
        <p:spPr>
          <a:xfrm xmlns:a="http://schemas.openxmlformats.org/drawingml/2006/main">
            <a:off x="666750" y="2571750"/>
            <a:ext cx="2705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460人規模の授業で、匿名質問・返信・投票が授業内外のコミュニケーションと学習参加をどう支援するか。</a:t>
            </a:r>
          </a:p>
        </p:txBody>
      </p:sp>
      <p:sp>
        <p:nvSpPr>
          <p:cNvPr id="9" name="">
            <a:extLst xmlns:a="http://schemas.openxmlformats.org/drawingml/2006/main">
              <a:ext uri="{FF2B5EF4-FFF2-40B4-BE49-F238E27FC236}">
                <a16:creationId xmlns:a16="http://schemas.microsoft.com/office/drawing/2014/main" id="{8BC3B292-2623-4E09-A065-4D98E9308586}"/>
              </a:ext>
            </a:extLst>
          </p:cNvPr>
          <p:cNvSpPr>
            <a:spLocks xmlns:a="http://schemas.openxmlformats.org/drawingml/2006/main" noGrp="1"/>
          </p:cNvSpPr>
          <p:nvPr/>
        </p:nvSpPr>
        <p:spPr>
          <a:xfrm xmlns:a="http://schemas.openxmlformats.org/drawingml/2006/main">
            <a:off x="666750" y="38576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方法・対象</a:t>
            </a:r>
          </a:p>
        </p:txBody>
      </p:sp>
      <p:sp>
        <p:nvSpPr>
          <p:cNvPr id="10" name="">
            <a:extLst xmlns:a="http://schemas.openxmlformats.org/drawingml/2006/main">
              <a:ext uri="{FF2B5EF4-FFF2-40B4-BE49-F238E27FC236}">
                <a16:creationId xmlns:a16="http://schemas.microsoft.com/office/drawing/2014/main" id="{A60748B5-2307-4091-9872-D5FAE921213E}"/>
              </a:ext>
            </a:extLst>
          </p:cNvPr>
          <p:cNvSpPr>
            <a:spLocks xmlns:a="http://schemas.openxmlformats.org/drawingml/2006/main" noGrp="1"/>
          </p:cNvSpPr>
          <p:nvPr/>
        </p:nvSpPr>
        <p:spPr>
          <a:xfrm xmlns:a="http://schemas.openxmlformats.org/drawingml/2006/main">
            <a:off x="666750" y="4333875"/>
            <a:ext cx="2705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Operations Strategy Management の大規模授業でモバイルQ&amp;Aアプリを導入。利用分析と投稿内容の主題分析を実施。</a:t>
            </a:r>
          </a:p>
        </p:txBody>
      </p:sp>
      <p:sp>
        <p:nvSpPr>
          <p:cNvPr id="11" name="">
            <a:extLst xmlns:a="http://schemas.openxmlformats.org/drawingml/2006/main">
              <a:ext uri="{FF2B5EF4-FFF2-40B4-BE49-F238E27FC236}">
                <a16:creationId xmlns:a16="http://schemas.microsoft.com/office/drawing/2014/main" id="{E8122845-D669-4A17-924E-4C3C9418DFA9}"/>
              </a:ext>
            </a:extLst>
          </p:cNvPr>
          <p:cNvSpPr>
            <a:spLocks xmlns:a="http://schemas.openxmlformats.org/drawingml/2006/main" noGrp="1"/>
          </p:cNvSpPr>
          <p:nvPr/>
        </p:nvSpPr>
        <p:spPr>
          <a:xfrm xmlns:a="http://schemas.openxmlformats.org/drawingml/2006/main">
            <a:off x="4267200" y="18478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1111"/>
                </a:solidFill>
                <a:latin typeface="Yu Gothic"/>
                <a:ea typeface="Yu Gothic"/>
                <a:cs typeface="Yu Gothic"/>
              </a:defRPr>
            </a:pPr>
            <a:r>
              <a:rPr sz="1875" b="1">
                <a:solidFill>
                  <a:srgbClr val="111111"/>
                </a:solidFill>
                <a:latin typeface="Yu Gothic"/>
                <a:ea typeface="Yu Gothic"/>
                <a:cs typeface="Yu Gothic"/>
              </a:rPr>
              <a:t>主要知見</a:t>
            </a:r>
          </a:p>
        </p:txBody>
      </p:sp>
      <p:sp>
        <p:nvSpPr>
          <p:cNvPr id="12" name="">
            <a:extLst xmlns:a="http://schemas.openxmlformats.org/drawingml/2006/main">
              <a:ext uri="{FF2B5EF4-FFF2-40B4-BE49-F238E27FC236}">
                <a16:creationId xmlns:a16="http://schemas.microsoft.com/office/drawing/2014/main" id="{FCA66F9B-1FA8-4C5E-8080-E83E9C101EF1}"/>
              </a:ext>
            </a:extLst>
          </p:cNvPr>
          <p:cNvSpPr>
            <a:spLocks xmlns:a="http://schemas.openxmlformats.org/drawingml/2006/main" noGrp="1"/>
          </p:cNvSpPr>
          <p:nvPr/>
        </p:nvSpPr>
        <p:spPr>
          <a:xfrm xmlns:a="http://schemas.openxmlformats.org/drawingml/2006/main">
            <a:off x="4267200" y="23717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3B08841B-5D04-4E3C-8154-445215E6F449}"/>
              </a:ext>
            </a:extLst>
          </p:cNvPr>
          <p:cNvSpPr>
            <a:spLocks xmlns:a="http://schemas.openxmlformats.org/drawingml/2006/main" noGrp="1"/>
          </p:cNvSpPr>
          <p:nvPr/>
        </p:nvSpPr>
        <p:spPr>
          <a:xfrm xmlns:a="http://schemas.openxmlformats.org/drawingml/2006/main">
            <a:off x="4533900" y="23622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多くの学生がアプリをインストールし、利用は時間とともに増加</a:t>
            </a:r>
          </a:p>
        </p:txBody>
      </p:sp>
      <p:sp>
        <p:nvSpPr>
          <p:cNvPr id="14" name="">
            <a:extLst xmlns:a="http://schemas.openxmlformats.org/drawingml/2006/main">
              <a:ext uri="{FF2B5EF4-FFF2-40B4-BE49-F238E27FC236}">
                <a16:creationId xmlns:a16="http://schemas.microsoft.com/office/drawing/2014/main" id="{96F53E2C-F69E-46FB-B96E-7BFA1F4F0B17}"/>
              </a:ext>
            </a:extLst>
          </p:cNvPr>
          <p:cNvSpPr>
            <a:spLocks xmlns:a="http://schemas.openxmlformats.org/drawingml/2006/main" noGrp="1"/>
          </p:cNvSpPr>
          <p:nvPr/>
        </p:nvSpPr>
        <p:spPr>
          <a:xfrm xmlns:a="http://schemas.openxmlformats.org/drawingml/2006/main">
            <a:off x="4267200" y="27717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3176B2CC-11C9-484A-9C80-6D95D81F0853}"/>
              </a:ext>
            </a:extLst>
          </p:cNvPr>
          <p:cNvSpPr>
            <a:spLocks xmlns:a="http://schemas.openxmlformats.org/drawingml/2006/main" noGrp="1"/>
          </p:cNvSpPr>
          <p:nvPr/>
        </p:nvSpPr>
        <p:spPr>
          <a:xfrm xmlns:a="http://schemas.openxmlformats.org/drawingml/2006/main">
            <a:off x="4533900" y="2762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投稿質問は単なる暗記確認を超える内容も含んでいた</a:t>
            </a:r>
          </a:p>
        </p:txBody>
      </p:sp>
      <p:sp>
        <p:nvSpPr>
          <p:cNvPr id="16" name="">
            <a:extLst xmlns:a="http://schemas.openxmlformats.org/drawingml/2006/main">
              <a:ext uri="{FF2B5EF4-FFF2-40B4-BE49-F238E27FC236}">
                <a16:creationId xmlns:a16="http://schemas.microsoft.com/office/drawing/2014/main" id="{43FEF040-8213-4109-8F6B-B5E3F9D62759}"/>
              </a:ext>
            </a:extLst>
          </p:cNvPr>
          <p:cNvSpPr>
            <a:spLocks xmlns:a="http://schemas.openxmlformats.org/drawingml/2006/main" noGrp="1"/>
          </p:cNvSpPr>
          <p:nvPr/>
        </p:nvSpPr>
        <p:spPr>
          <a:xfrm xmlns:a="http://schemas.openxmlformats.org/drawingml/2006/main">
            <a:off x="4267200" y="31718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E93AF3FF-B507-4A45-BE88-1D05B020A09E}"/>
              </a:ext>
            </a:extLst>
          </p:cNvPr>
          <p:cNvSpPr>
            <a:spLocks xmlns:a="http://schemas.openxmlformats.org/drawingml/2006/main" noGrp="1"/>
          </p:cNvSpPr>
          <p:nvPr/>
        </p:nvSpPr>
        <p:spPr>
          <a:xfrm xmlns:a="http://schemas.openxmlformats.org/drawingml/2006/main">
            <a:off x="4533900" y="31623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大人数授業でコミュニティ感覚と相互作用を支援する可能性</a:t>
            </a:r>
          </a:p>
        </p:txBody>
      </p:sp>
      <p:sp>
        <p:nvSpPr>
          <p:cNvPr id="18" name="">
            <a:extLst xmlns:a="http://schemas.openxmlformats.org/drawingml/2006/main">
              <a:ext uri="{FF2B5EF4-FFF2-40B4-BE49-F238E27FC236}">
                <a16:creationId xmlns:a16="http://schemas.microsoft.com/office/drawing/2014/main" id="{C0FD4D8C-2B30-4E0F-AEE7-431B1231758A}"/>
              </a:ext>
            </a:extLst>
          </p:cNvPr>
          <p:cNvSpPr>
            <a:spLocks xmlns:a="http://schemas.openxmlformats.org/drawingml/2006/main" noGrp="1"/>
          </p:cNvSpPr>
          <p:nvPr/>
        </p:nvSpPr>
        <p:spPr>
          <a:xfrm xmlns:a="http://schemas.openxmlformats.org/drawingml/2006/main">
            <a:off x="8020050" y="1847850"/>
            <a:ext cx="3371850" cy="3733800"/>
          </a:xfrm>
          <a:prstGeom xmlns:a="http://schemas.openxmlformats.org/drawingml/2006/main" prst="rect">
            <a:avLst/>
          </a:prstGeom>
          <a:solidFill xmlns:a="http://schemas.openxmlformats.org/drawingml/2006/main">
            <a:srgbClr val="FFF4EF"/>
          </a:solidFill>
          <a:ln xmlns:a="http://schemas.openxmlformats.org/drawingml/2006/main" w="9525">
            <a:solidFill>
              <a:srgbClr val="FFD2C2"/>
            </a:solidFill>
            <a:prstDash val="solid"/>
          </a:ln>
        </p:spPr>
      </p:sp>
      <p:sp>
        <p:nvSpPr>
          <p:cNvPr id="19" name="">
            <a:extLst xmlns:a="http://schemas.openxmlformats.org/drawingml/2006/main">
              <a:ext uri="{FF2B5EF4-FFF2-40B4-BE49-F238E27FC236}">
                <a16:creationId xmlns:a16="http://schemas.microsoft.com/office/drawing/2014/main" id="{69B6F710-6657-403E-BD80-F60EC3C04CB4}"/>
              </a:ext>
            </a:extLst>
          </p:cNvPr>
          <p:cNvSpPr>
            <a:spLocks xmlns:a="http://schemas.openxmlformats.org/drawingml/2006/main" noGrp="1"/>
          </p:cNvSpPr>
          <p:nvPr/>
        </p:nvSpPr>
        <p:spPr>
          <a:xfrm xmlns:a="http://schemas.openxmlformats.org/drawingml/2006/main">
            <a:off x="8305800" y="209550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6B35"/>
                </a:solidFill>
                <a:latin typeface="Yu Gothic"/>
                <a:ea typeface="Yu Gothic"/>
                <a:cs typeface="Yu Gothic"/>
              </a:defRPr>
            </a:pPr>
            <a:r>
              <a:rPr sz="1875" b="1">
                <a:solidFill>
                  <a:srgbClr val="FF6B35"/>
                </a:solidFill>
                <a:latin typeface="Yu Gothic"/>
                <a:ea typeface="Yu Gothic"/>
                <a:cs typeface="Yu Gothic"/>
              </a:rPr>
              <a:t>授業サポートボタンへの示唆</a:t>
            </a:r>
          </a:p>
        </p:txBody>
      </p:sp>
      <p:sp>
        <p:nvSpPr>
          <p:cNvPr id="20" name="">
            <a:extLst xmlns:a="http://schemas.openxmlformats.org/drawingml/2006/main">
              <a:ext uri="{FF2B5EF4-FFF2-40B4-BE49-F238E27FC236}">
                <a16:creationId xmlns:a16="http://schemas.microsoft.com/office/drawing/2014/main" id="{92AACF38-4581-4933-9301-4FEA6E031D16}"/>
              </a:ext>
            </a:extLst>
          </p:cNvPr>
          <p:cNvSpPr>
            <a:spLocks xmlns:a="http://schemas.openxmlformats.org/drawingml/2006/main" noGrp="1"/>
          </p:cNvSpPr>
          <p:nvPr/>
        </p:nvSpPr>
        <p:spPr>
          <a:xfrm xmlns:a="http://schemas.openxmlformats.org/drawingml/2006/main">
            <a:off x="8305800" y="29241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D4A5D115-3560-403B-AEC9-E2E0B1060CF7}"/>
              </a:ext>
            </a:extLst>
          </p:cNvPr>
          <p:cNvSpPr>
            <a:spLocks xmlns:a="http://schemas.openxmlformats.org/drawingml/2006/main" noGrp="1"/>
          </p:cNvSpPr>
          <p:nvPr/>
        </p:nvSpPr>
        <p:spPr>
          <a:xfrm xmlns:a="http://schemas.openxmlformats.org/drawingml/2006/main">
            <a:off x="8572500" y="29146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質問投稿に加え「自分も知りたい」投票を置く</a:t>
            </a:r>
          </a:p>
        </p:txBody>
      </p:sp>
      <p:sp>
        <p:nvSpPr>
          <p:cNvPr id="22" name="">
            <a:extLst xmlns:a="http://schemas.openxmlformats.org/drawingml/2006/main">
              <a:ext uri="{FF2B5EF4-FFF2-40B4-BE49-F238E27FC236}">
                <a16:creationId xmlns:a16="http://schemas.microsoft.com/office/drawing/2014/main" id="{5ABB2A73-CF4B-41FE-B88C-1FB22D508606}"/>
              </a:ext>
            </a:extLst>
          </p:cNvPr>
          <p:cNvSpPr>
            <a:spLocks xmlns:a="http://schemas.openxmlformats.org/drawingml/2006/main" noGrp="1"/>
          </p:cNvSpPr>
          <p:nvPr/>
        </p:nvSpPr>
        <p:spPr>
          <a:xfrm xmlns:a="http://schemas.openxmlformats.org/drawingml/2006/main">
            <a:off x="8305800" y="33242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15345A6F-D29B-4080-B3A4-47E40D219202}"/>
              </a:ext>
            </a:extLst>
          </p:cNvPr>
          <p:cNvSpPr>
            <a:spLocks xmlns:a="http://schemas.openxmlformats.org/drawingml/2006/main" noGrp="1"/>
          </p:cNvSpPr>
          <p:nvPr/>
        </p:nvSpPr>
        <p:spPr>
          <a:xfrm xmlns:a="http://schemas.openxmlformats.org/drawingml/2006/main">
            <a:off x="8572500" y="33147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学生同士が疑問の存在を共有できる</a:t>
            </a:r>
          </a:p>
        </p:txBody>
      </p:sp>
      <p:sp>
        <p:nvSpPr>
          <p:cNvPr id="24" name="">
            <a:extLst xmlns:a="http://schemas.openxmlformats.org/drawingml/2006/main">
              <a:ext uri="{FF2B5EF4-FFF2-40B4-BE49-F238E27FC236}">
                <a16:creationId xmlns:a16="http://schemas.microsoft.com/office/drawing/2014/main" id="{34707F9C-478F-41BA-A9F9-E5EEAC9AC082}"/>
              </a:ext>
            </a:extLst>
          </p:cNvPr>
          <p:cNvSpPr>
            <a:spLocks xmlns:a="http://schemas.openxmlformats.org/drawingml/2006/main" noGrp="1"/>
          </p:cNvSpPr>
          <p:nvPr/>
        </p:nvSpPr>
        <p:spPr>
          <a:xfrm xmlns:a="http://schemas.openxmlformats.org/drawingml/2006/main">
            <a:off x="8305800" y="3724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96010326-679A-46C1-8193-ADF4C57DA722}"/>
              </a:ext>
            </a:extLst>
          </p:cNvPr>
          <p:cNvSpPr>
            <a:spLocks xmlns:a="http://schemas.openxmlformats.org/drawingml/2006/main" noGrp="1"/>
          </p:cNvSpPr>
          <p:nvPr/>
        </p:nvSpPr>
        <p:spPr>
          <a:xfrm xmlns:a="http://schemas.openxmlformats.org/drawingml/2006/main">
            <a:off x="8572500" y="37147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授業外でも継続する質問チャンネルにできる</a:t>
            </a:r>
          </a:p>
        </p:txBody>
      </p:sp>
      <p:sp>
        <p:nvSpPr>
          <p:cNvPr id="26" name="">
            <a:extLst xmlns:a="http://schemas.openxmlformats.org/drawingml/2006/main">
              <a:ext uri="{FF2B5EF4-FFF2-40B4-BE49-F238E27FC236}">
                <a16:creationId xmlns:a16="http://schemas.microsoft.com/office/drawing/2014/main" id="{5B153D4E-3DD1-42A6-B268-16C6608D8DFE}"/>
              </a:ext>
            </a:extLst>
          </p:cNvPr>
          <p:cNvSpPr>
            <a:spLocks xmlns:a="http://schemas.openxmlformats.org/drawingml/2006/main" noGrp="1"/>
          </p:cNvSpPr>
          <p:nvPr/>
        </p:nvSpPr>
        <p:spPr>
          <a:xfrm xmlns:a="http://schemas.openxmlformats.org/drawingml/2006/main">
            <a:off x="419100" y="59055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8B8B8B"/>
                </a:solidFill>
                <a:latin typeface="Yu Gothic"/>
                <a:ea typeface="Yu Gothic"/>
                <a:cs typeface="Yu Gothic"/>
              </a:defRPr>
            </a:pPr>
            <a:r>
              <a:rPr sz="900" b="0">
                <a:solidFill>
                  <a:srgbClr val="8B8B8B"/>
                </a:solidFill>
                <a:latin typeface="Yu Gothic"/>
                <a:ea typeface="Yu Gothic"/>
                <a:cs typeface="Yu Gothic"/>
              </a:rPr>
              <a:t>Source: Tan, E., Small, A., &amp; Lewis, P. (2020). Research in Learning Technology. doi:10.25304/rlt.v28.2323</a:t>
            </a:r>
          </a:p>
        </p:txBody>
      </p:sp>
      <p:sp>
        <p:nvSpPr>
          <p:cNvPr id="27" name="">
            <a:extLst xmlns:a="http://schemas.openxmlformats.org/drawingml/2006/main">
              <a:ext uri="{FF2B5EF4-FFF2-40B4-BE49-F238E27FC236}">
                <a16:creationId xmlns:a16="http://schemas.microsoft.com/office/drawing/2014/main" id="{45577E44-8C69-4AF1-9669-0E1FBC1A24AA}"/>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主要論文</a:t>
            </a:r>
          </a:p>
        </p:txBody>
      </p:sp>
      <p:sp>
        <p:nvSpPr>
          <p:cNvPr id="28" name="">
            <a:extLst xmlns:a="http://schemas.openxmlformats.org/drawingml/2006/main">
              <a:ext uri="{FF2B5EF4-FFF2-40B4-BE49-F238E27FC236}">
                <a16:creationId xmlns:a16="http://schemas.microsoft.com/office/drawing/2014/main" id="{27B710BE-4E05-4606-AA13-0D4D5DA1838E}"/>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08</a:t>
            </a:r>
          </a:p>
        </p:txBody>
      </p:sp>
    </p:spTree>
    <p:extLst>
      <p:ext uri="{BB962C8B-B14F-4D97-AF65-F5344CB8AC3E}">
        <p14:creationId xmlns:p14="http://schemas.microsoft.com/office/powerpoint/2010/main" val="20769229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B3AB06-6541-4BB6-AAD8-D1DA16C67B09}"/>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リアルタイム匿名質問キュー</a:t>
            </a:r>
          </a:p>
        </p:txBody>
      </p:sp>
      <p:sp>
        <p:nvSpPr>
          <p:cNvPr id="2" name="">
            <a:extLst xmlns:a="http://schemas.openxmlformats.org/drawingml/2006/main">
              <a:ext uri="{FF2B5EF4-FFF2-40B4-BE49-F238E27FC236}">
                <a16:creationId xmlns:a16="http://schemas.microsoft.com/office/drawing/2014/main" id="{91D0911B-E295-467E-8C71-66A9783B1A5E}"/>
              </a:ext>
            </a:extLst>
          </p:cNvPr>
          <p:cNvSpPr>
            <a:spLocks xmlns:a="http://schemas.openxmlformats.org/drawingml/2006/main" noGrp="1"/>
          </p:cNvSpPr>
          <p:nvPr/>
        </p:nvSpPr>
        <p:spPr>
          <a:xfrm xmlns:a="http://schemas.openxmlformats.org/drawingml/2006/main">
            <a:off x="419100" y="102870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latin typeface="Yu Gothic"/>
                <a:ea typeface="Yu Gothic"/>
                <a:cs typeface="Yu Gothic"/>
              </a:defRPr>
            </a:pPr>
            <a:r>
              <a:rPr sz="1275" b="0">
                <a:solidFill>
                  <a:srgbClr val="555555"/>
                </a:solidFill>
                <a:latin typeface="Yu Gothic"/>
                <a:ea typeface="Yu Gothic"/>
                <a:cs typeface="Yu Gothic"/>
              </a:rPr>
              <a:t>Montgomery et al. (2019) / Live Anonymous Question Queue</a:t>
            </a:r>
          </a:p>
        </p:txBody>
      </p:sp>
      <p:sp>
        <p:nvSpPr>
          <p:cNvPr id="3" name="">
            <a:extLst xmlns:a="http://schemas.openxmlformats.org/drawingml/2006/main">
              <a:ext uri="{FF2B5EF4-FFF2-40B4-BE49-F238E27FC236}">
                <a16:creationId xmlns:a16="http://schemas.microsoft.com/office/drawing/2014/main" id="{439B71A4-873B-4371-8933-18A63377896C}"/>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33E2C4-5C2A-44EF-B618-313CB80A9375}"/>
              </a:ext>
            </a:extLst>
          </p:cNvPr>
          <p:cNvSpPr>
            <a:spLocks xmlns:a="http://schemas.openxmlformats.org/drawingml/2006/main" noGrp="1"/>
          </p:cNvSpPr>
          <p:nvPr/>
        </p:nvSpPr>
        <p:spPr>
          <a:xfrm xmlns:a="http://schemas.openxmlformats.org/drawingml/2006/main">
            <a:off x="9525000" y="457200"/>
            <a:ext cx="1809750" cy="2857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3BF96C75-C9C0-4704-AEBC-739A030E5913}"/>
              </a:ext>
            </a:extLst>
          </p:cNvPr>
          <p:cNvSpPr>
            <a:spLocks xmlns:a="http://schemas.openxmlformats.org/drawingml/2006/main" noGrp="1"/>
          </p:cNvSpPr>
          <p:nvPr/>
        </p:nvSpPr>
        <p:spPr>
          <a:xfrm xmlns:a="http://schemas.openxmlformats.org/drawingml/2006/main">
            <a:off x="9620250" y="5048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5803D"/>
                </a:solidFill>
                <a:latin typeface="Yu Gothic"/>
                <a:ea typeface="Yu Gothic"/>
                <a:cs typeface="Yu Gothic"/>
              </a:defRPr>
            </a:pPr>
            <a:r>
              <a:rPr sz="975" b="1">
                <a:solidFill>
                  <a:srgbClr val="15803D"/>
                </a:solidFill>
                <a:latin typeface="Yu Gothic"/>
                <a:ea typeface="Yu Gothic"/>
                <a:cs typeface="Yu Gothic"/>
              </a:rPr>
              <a:t>LAQQ</a:t>
            </a:r>
          </a:p>
        </p:txBody>
      </p:sp>
      <p:sp>
        <p:nvSpPr>
          <p:cNvPr id="6" name="">
            <a:extLst xmlns:a="http://schemas.openxmlformats.org/drawingml/2006/main">
              <a:ext uri="{FF2B5EF4-FFF2-40B4-BE49-F238E27FC236}">
                <a16:creationId xmlns:a16="http://schemas.microsoft.com/office/drawing/2014/main" id="{90ABF310-FD86-4E7C-BDC9-ADDAFF681496}"/>
              </a:ext>
            </a:extLst>
          </p:cNvPr>
          <p:cNvSpPr>
            <a:spLocks xmlns:a="http://schemas.openxmlformats.org/drawingml/2006/main" noGrp="1"/>
          </p:cNvSpPr>
          <p:nvPr/>
        </p:nvSpPr>
        <p:spPr>
          <a:xfrm xmlns:a="http://schemas.openxmlformats.org/drawingml/2006/main">
            <a:off x="400050" y="1847850"/>
            <a:ext cx="3371850" cy="37338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6554D35D-A742-4574-A9D1-A53E53EEBF9C}"/>
              </a:ext>
            </a:extLst>
          </p:cNvPr>
          <p:cNvSpPr>
            <a:spLocks xmlns:a="http://schemas.openxmlformats.org/drawingml/2006/main" noGrp="1"/>
          </p:cNvSpPr>
          <p:nvPr/>
        </p:nvSpPr>
        <p:spPr>
          <a:xfrm xmlns:a="http://schemas.openxmlformats.org/drawingml/2006/main">
            <a:off x="666750" y="20955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研究の焦点</a:t>
            </a:r>
          </a:p>
        </p:txBody>
      </p:sp>
      <p:sp>
        <p:nvSpPr>
          <p:cNvPr id="8" name="">
            <a:extLst xmlns:a="http://schemas.openxmlformats.org/drawingml/2006/main">
              <a:ext uri="{FF2B5EF4-FFF2-40B4-BE49-F238E27FC236}">
                <a16:creationId xmlns:a16="http://schemas.microsoft.com/office/drawing/2014/main" id="{906CB4A7-2723-479A-AE51-35C4CA2B77BF}"/>
              </a:ext>
            </a:extLst>
          </p:cNvPr>
          <p:cNvSpPr>
            <a:spLocks xmlns:a="http://schemas.openxmlformats.org/drawingml/2006/main" noGrp="1"/>
          </p:cNvSpPr>
          <p:nvPr/>
        </p:nvSpPr>
        <p:spPr>
          <a:xfrm xmlns:a="http://schemas.openxmlformats.org/drawingml/2006/main">
            <a:off x="666750" y="2571750"/>
            <a:ext cx="2705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大人数授業で学生が質問を控える評価不安を、リアルタイム匿名質問キューでどう下げられるか。</a:t>
            </a:r>
          </a:p>
        </p:txBody>
      </p:sp>
      <p:sp>
        <p:nvSpPr>
          <p:cNvPr id="9" name="">
            <a:extLst xmlns:a="http://schemas.openxmlformats.org/drawingml/2006/main">
              <a:ext uri="{FF2B5EF4-FFF2-40B4-BE49-F238E27FC236}">
                <a16:creationId xmlns:a16="http://schemas.microsoft.com/office/drawing/2014/main" id="{9FD606A5-966D-42EB-B432-B74A22454792}"/>
              </a:ext>
            </a:extLst>
          </p:cNvPr>
          <p:cNvSpPr>
            <a:spLocks xmlns:a="http://schemas.openxmlformats.org/drawingml/2006/main" noGrp="1"/>
          </p:cNvSpPr>
          <p:nvPr/>
        </p:nvSpPr>
        <p:spPr>
          <a:xfrm xmlns:a="http://schemas.openxmlformats.org/drawingml/2006/main">
            <a:off x="666750" y="38576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方法・対象</a:t>
            </a:r>
          </a:p>
        </p:txBody>
      </p:sp>
      <p:sp>
        <p:nvSpPr>
          <p:cNvPr id="10" name="">
            <a:extLst xmlns:a="http://schemas.openxmlformats.org/drawingml/2006/main">
              <a:ext uri="{FF2B5EF4-FFF2-40B4-BE49-F238E27FC236}">
                <a16:creationId xmlns:a16="http://schemas.microsoft.com/office/drawing/2014/main" id="{5CDDEBB6-B43C-4D68-9629-26DBEEE2B838}"/>
              </a:ext>
            </a:extLst>
          </p:cNvPr>
          <p:cNvSpPr>
            <a:spLocks xmlns:a="http://schemas.openxmlformats.org/drawingml/2006/main" noGrp="1"/>
          </p:cNvSpPr>
          <p:nvPr/>
        </p:nvSpPr>
        <p:spPr>
          <a:xfrm xmlns:a="http://schemas.openxmlformats.org/drawingml/2006/main">
            <a:off x="666750" y="4333875"/>
            <a:ext cx="2705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Google Moderator を大規模講義で試用し、授業観察・教員インタビュー・学生アンケートから必要機能を整理。</a:t>
            </a:r>
          </a:p>
        </p:txBody>
      </p:sp>
      <p:sp>
        <p:nvSpPr>
          <p:cNvPr id="11" name="">
            <a:extLst xmlns:a="http://schemas.openxmlformats.org/drawingml/2006/main">
              <a:ext uri="{FF2B5EF4-FFF2-40B4-BE49-F238E27FC236}">
                <a16:creationId xmlns:a16="http://schemas.microsoft.com/office/drawing/2014/main" id="{5016AA1A-646F-445C-99AE-EBC7D5F98EE1}"/>
              </a:ext>
            </a:extLst>
          </p:cNvPr>
          <p:cNvSpPr>
            <a:spLocks xmlns:a="http://schemas.openxmlformats.org/drawingml/2006/main" noGrp="1"/>
          </p:cNvSpPr>
          <p:nvPr/>
        </p:nvSpPr>
        <p:spPr>
          <a:xfrm xmlns:a="http://schemas.openxmlformats.org/drawingml/2006/main">
            <a:off x="4267200" y="18478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1111"/>
                </a:solidFill>
                <a:latin typeface="Yu Gothic"/>
                <a:ea typeface="Yu Gothic"/>
                <a:cs typeface="Yu Gothic"/>
              </a:defRPr>
            </a:pPr>
            <a:r>
              <a:rPr sz="1875" b="1">
                <a:solidFill>
                  <a:srgbClr val="111111"/>
                </a:solidFill>
                <a:latin typeface="Yu Gothic"/>
                <a:ea typeface="Yu Gothic"/>
                <a:cs typeface="Yu Gothic"/>
              </a:rPr>
              <a:t>主要知見</a:t>
            </a:r>
          </a:p>
        </p:txBody>
      </p:sp>
      <p:sp>
        <p:nvSpPr>
          <p:cNvPr id="12" name="">
            <a:extLst xmlns:a="http://schemas.openxmlformats.org/drawingml/2006/main">
              <a:ext uri="{FF2B5EF4-FFF2-40B4-BE49-F238E27FC236}">
                <a16:creationId xmlns:a16="http://schemas.microsoft.com/office/drawing/2014/main" id="{3F4C613D-C5C4-42EE-9894-A7438ECBCC48}"/>
              </a:ext>
            </a:extLst>
          </p:cNvPr>
          <p:cNvSpPr>
            <a:spLocks xmlns:a="http://schemas.openxmlformats.org/drawingml/2006/main" noGrp="1"/>
          </p:cNvSpPr>
          <p:nvPr/>
        </p:nvSpPr>
        <p:spPr>
          <a:xfrm xmlns:a="http://schemas.openxmlformats.org/drawingml/2006/main">
            <a:off x="4267200" y="23717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6B6A5C2E-84D4-4AFF-A7E5-B521BC5FEF20}"/>
              </a:ext>
            </a:extLst>
          </p:cNvPr>
          <p:cNvSpPr>
            <a:spLocks xmlns:a="http://schemas.openxmlformats.org/drawingml/2006/main" noGrp="1"/>
          </p:cNvSpPr>
          <p:nvPr/>
        </p:nvSpPr>
        <p:spPr>
          <a:xfrm xmlns:a="http://schemas.openxmlformats.org/drawingml/2006/main">
            <a:off x="4533900" y="23622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匿名質問は学生の不安軽減と参加促進を狙える</a:t>
            </a:r>
          </a:p>
        </p:txBody>
      </p:sp>
      <p:sp>
        <p:nvSpPr>
          <p:cNvPr id="14" name="">
            <a:extLst xmlns:a="http://schemas.openxmlformats.org/drawingml/2006/main">
              <a:ext uri="{FF2B5EF4-FFF2-40B4-BE49-F238E27FC236}">
                <a16:creationId xmlns:a16="http://schemas.microsoft.com/office/drawing/2014/main" id="{2A9BBD12-EEA6-40C3-97CC-FAD5C2C31B42}"/>
              </a:ext>
            </a:extLst>
          </p:cNvPr>
          <p:cNvSpPr>
            <a:spLocks xmlns:a="http://schemas.openxmlformats.org/drawingml/2006/main" noGrp="1"/>
          </p:cNvSpPr>
          <p:nvPr/>
        </p:nvSpPr>
        <p:spPr>
          <a:xfrm xmlns:a="http://schemas.openxmlformats.org/drawingml/2006/main">
            <a:off x="4267200" y="27717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AC0A54DD-6D07-4853-86AE-95C5B64A0283}"/>
              </a:ext>
            </a:extLst>
          </p:cNvPr>
          <p:cNvSpPr>
            <a:spLocks xmlns:a="http://schemas.openxmlformats.org/drawingml/2006/main" noGrp="1"/>
          </p:cNvSpPr>
          <p:nvPr/>
        </p:nvSpPr>
        <p:spPr>
          <a:xfrm xmlns:a="http://schemas.openxmlformats.org/drawingml/2006/main">
            <a:off x="4533900" y="2762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教員への通知、質問の文脈、マルチプラットフォーム対応が重要</a:t>
            </a:r>
          </a:p>
        </p:txBody>
      </p:sp>
      <p:sp>
        <p:nvSpPr>
          <p:cNvPr id="16" name="">
            <a:extLst xmlns:a="http://schemas.openxmlformats.org/drawingml/2006/main">
              <a:ext uri="{FF2B5EF4-FFF2-40B4-BE49-F238E27FC236}">
                <a16:creationId xmlns:a16="http://schemas.microsoft.com/office/drawing/2014/main" id="{992DB362-AB6C-47B6-8104-30723AE16C00}"/>
              </a:ext>
            </a:extLst>
          </p:cNvPr>
          <p:cNvSpPr>
            <a:spLocks xmlns:a="http://schemas.openxmlformats.org/drawingml/2006/main" noGrp="1"/>
          </p:cNvSpPr>
          <p:nvPr/>
        </p:nvSpPr>
        <p:spPr>
          <a:xfrm xmlns:a="http://schemas.openxmlformats.org/drawingml/2006/main">
            <a:off x="4267200" y="31718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680A6240-D3FB-4336-A9F2-E42C620E54CA}"/>
              </a:ext>
            </a:extLst>
          </p:cNvPr>
          <p:cNvSpPr>
            <a:spLocks xmlns:a="http://schemas.openxmlformats.org/drawingml/2006/main" noGrp="1"/>
          </p:cNvSpPr>
          <p:nvPr/>
        </p:nvSpPr>
        <p:spPr>
          <a:xfrm xmlns:a="http://schemas.openxmlformats.org/drawingml/2006/main">
            <a:off x="4533900" y="31623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成功には教員の採用と授業運営構造の変更が必要</a:t>
            </a:r>
          </a:p>
        </p:txBody>
      </p:sp>
      <p:sp>
        <p:nvSpPr>
          <p:cNvPr id="18" name="">
            <a:extLst xmlns:a="http://schemas.openxmlformats.org/drawingml/2006/main">
              <a:ext uri="{FF2B5EF4-FFF2-40B4-BE49-F238E27FC236}">
                <a16:creationId xmlns:a16="http://schemas.microsoft.com/office/drawing/2014/main" id="{324DE439-BA5F-4B38-AEB3-AD16BD592BCA}"/>
              </a:ext>
            </a:extLst>
          </p:cNvPr>
          <p:cNvSpPr>
            <a:spLocks xmlns:a="http://schemas.openxmlformats.org/drawingml/2006/main" noGrp="1"/>
          </p:cNvSpPr>
          <p:nvPr/>
        </p:nvSpPr>
        <p:spPr>
          <a:xfrm xmlns:a="http://schemas.openxmlformats.org/drawingml/2006/main">
            <a:off x="8020050" y="1847850"/>
            <a:ext cx="3371850" cy="3733800"/>
          </a:xfrm>
          <a:prstGeom xmlns:a="http://schemas.openxmlformats.org/drawingml/2006/main" prst="rect">
            <a:avLst/>
          </a:prstGeom>
          <a:solidFill xmlns:a="http://schemas.openxmlformats.org/drawingml/2006/main">
            <a:srgbClr val="FFF4EF"/>
          </a:solidFill>
          <a:ln xmlns:a="http://schemas.openxmlformats.org/drawingml/2006/main" w="9525">
            <a:solidFill>
              <a:srgbClr val="FFD2C2"/>
            </a:solidFill>
            <a:prstDash val="solid"/>
          </a:ln>
        </p:spPr>
      </p:sp>
      <p:sp>
        <p:nvSpPr>
          <p:cNvPr id="19" name="">
            <a:extLst xmlns:a="http://schemas.openxmlformats.org/drawingml/2006/main">
              <a:ext uri="{FF2B5EF4-FFF2-40B4-BE49-F238E27FC236}">
                <a16:creationId xmlns:a16="http://schemas.microsoft.com/office/drawing/2014/main" id="{EEBE4CA6-751F-49E9-BB32-0F84B4A19ECF}"/>
              </a:ext>
            </a:extLst>
          </p:cNvPr>
          <p:cNvSpPr>
            <a:spLocks xmlns:a="http://schemas.openxmlformats.org/drawingml/2006/main" noGrp="1"/>
          </p:cNvSpPr>
          <p:nvPr/>
        </p:nvSpPr>
        <p:spPr>
          <a:xfrm xmlns:a="http://schemas.openxmlformats.org/drawingml/2006/main">
            <a:off x="8305800" y="209550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6B35"/>
                </a:solidFill>
                <a:latin typeface="Yu Gothic"/>
                <a:ea typeface="Yu Gothic"/>
                <a:cs typeface="Yu Gothic"/>
              </a:defRPr>
            </a:pPr>
            <a:r>
              <a:rPr sz="1875" b="1">
                <a:solidFill>
                  <a:srgbClr val="FF6B35"/>
                </a:solidFill>
                <a:latin typeface="Yu Gothic"/>
                <a:ea typeface="Yu Gothic"/>
                <a:cs typeface="Yu Gothic"/>
              </a:rPr>
              <a:t>授業サポートボタンへの示唆</a:t>
            </a:r>
          </a:p>
        </p:txBody>
      </p:sp>
      <p:sp>
        <p:nvSpPr>
          <p:cNvPr id="20" name="">
            <a:extLst xmlns:a="http://schemas.openxmlformats.org/drawingml/2006/main">
              <a:ext uri="{FF2B5EF4-FFF2-40B4-BE49-F238E27FC236}">
                <a16:creationId xmlns:a16="http://schemas.microsoft.com/office/drawing/2014/main" id="{3651271C-4872-46AB-89EC-45F3AE061C06}"/>
              </a:ext>
            </a:extLst>
          </p:cNvPr>
          <p:cNvSpPr>
            <a:spLocks xmlns:a="http://schemas.openxmlformats.org/drawingml/2006/main" noGrp="1"/>
          </p:cNvSpPr>
          <p:nvPr/>
        </p:nvSpPr>
        <p:spPr>
          <a:xfrm xmlns:a="http://schemas.openxmlformats.org/drawingml/2006/main">
            <a:off x="8305800" y="29241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9C36EA38-B4A9-4343-8FC4-0C911AD1EFDD}"/>
              </a:ext>
            </a:extLst>
          </p:cNvPr>
          <p:cNvSpPr>
            <a:spLocks xmlns:a="http://schemas.openxmlformats.org/drawingml/2006/main" noGrp="1"/>
          </p:cNvSpPr>
          <p:nvPr/>
        </p:nvSpPr>
        <p:spPr>
          <a:xfrm xmlns:a="http://schemas.openxmlformats.org/drawingml/2006/main">
            <a:off x="8572500" y="29146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質問キューを教員画面に整理して出す</a:t>
            </a:r>
          </a:p>
        </p:txBody>
      </p:sp>
      <p:sp>
        <p:nvSpPr>
          <p:cNvPr id="22" name="">
            <a:extLst xmlns:a="http://schemas.openxmlformats.org/drawingml/2006/main">
              <a:ext uri="{FF2B5EF4-FFF2-40B4-BE49-F238E27FC236}">
                <a16:creationId xmlns:a16="http://schemas.microsoft.com/office/drawing/2014/main" id="{C359DE3C-DDAC-43D0-BFD2-F2035F2AECD5}"/>
              </a:ext>
            </a:extLst>
          </p:cNvPr>
          <p:cNvSpPr>
            <a:spLocks xmlns:a="http://schemas.openxmlformats.org/drawingml/2006/main" noGrp="1"/>
          </p:cNvSpPr>
          <p:nvPr/>
        </p:nvSpPr>
        <p:spPr>
          <a:xfrm xmlns:a="http://schemas.openxmlformats.org/drawingml/2006/main">
            <a:off x="8305800" y="33242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91B55DAE-F117-43ED-ABA4-4CF871640432}"/>
              </a:ext>
            </a:extLst>
          </p:cNvPr>
          <p:cNvSpPr>
            <a:spLocks xmlns:a="http://schemas.openxmlformats.org/drawingml/2006/main" noGrp="1"/>
          </p:cNvSpPr>
          <p:nvPr/>
        </p:nvSpPr>
        <p:spPr>
          <a:xfrm xmlns:a="http://schemas.openxmlformats.org/drawingml/2006/main">
            <a:off x="8572500" y="33147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質問に講義箇所・カテゴリなどの文脈を付ける</a:t>
            </a:r>
          </a:p>
        </p:txBody>
      </p:sp>
      <p:sp>
        <p:nvSpPr>
          <p:cNvPr id="24" name="">
            <a:extLst xmlns:a="http://schemas.openxmlformats.org/drawingml/2006/main">
              <a:ext uri="{FF2B5EF4-FFF2-40B4-BE49-F238E27FC236}">
                <a16:creationId xmlns:a16="http://schemas.microsoft.com/office/drawing/2014/main" id="{CFD877D5-2977-4815-A611-A78B9B3E0D2F}"/>
              </a:ext>
            </a:extLst>
          </p:cNvPr>
          <p:cNvSpPr>
            <a:spLocks xmlns:a="http://schemas.openxmlformats.org/drawingml/2006/main" noGrp="1"/>
          </p:cNvSpPr>
          <p:nvPr/>
        </p:nvSpPr>
        <p:spPr>
          <a:xfrm xmlns:a="http://schemas.openxmlformats.org/drawingml/2006/main">
            <a:off x="8305800" y="3724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08C52004-AE25-45F7-B22D-97130C490E6D}"/>
              </a:ext>
            </a:extLst>
          </p:cNvPr>
          <p:cNvSpPr>
            <a:spLocks xmlns:a="http://schemas.openxmlformats.org/drawingml/2006/main" noGrp="1"/>
          </p:cNvSpPr>
          <p:nvPr/>
        </p:nvSpPr>
        <p:spPr>
          <a:xfrm xmlns:a="http://schemas.openxmlformats.org/drawingml/2006/main">
            <a:off x="8572500" y="37147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導入時は教員が回答タイミングを決める運用も設計する</a:t>
            </a:r>
          </a:p>
        </p:txBody>
      </p:sp>
      <p:sp>
        <p:nvSpPr>
          <p:cNvPr id="26" name="">
            <a:extLst xmlns:a="http://schemas.openxmlformats.org/drawingml/2006/main">
              <a:ext uri="{FF2B5EF4-FFF2-40B4-BE49-F238E27FC236}">
                <a16:creationId xmlns:a16="http://schemas.microsoft.com/office/drawing/2014/main" id="{C2EAEF74-A096-4712-866D-AC4E4CD46D90}"/>
              </a:ext>
            </a:extLst>
          </p:cNvPr>
          <p:cNvSpPr>
            <a:spLocks xmlns:a="http://schemas.openxmlformats.org/drawingml/2006/main" noGrp="1"/>
          </p:cNvSpPr>
          <p:nvPr/>
        </p:nvSpPr>
        <p:spPr>
          <a:xfrm xmlns:a="http://schemas.openxmlformats.org/drawingml/2006/main">
            <a:off x="419100" y="59055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8B8B8B"/>
                </a:solidFill>
                <a:latin typeface="Yu Gothic"/>
                <a:ea typeface="Yu Gothic"/>
                <a:cs typeface="Yu Gothic"/>
              </a:defRPr>
            </a:pPr>
            <a:r>
              <a:rPr sz="900" b="0">
                <a:solidFill>
                  <a:srgbClr val="8B8B8B"/>
                </a:solidFill>
                <a:latin typeface="Yu Gothic"/>
                <a:ea typeface="Yu Gothic"/>
                <a:cs typeface="Yu Gothic"/>
              </a:rPr>
              <a:t>Source: Montgomery, L., Evans, G., Harrison, F., &amp; Damian, D. (2019). arXiv:1901.01061</a:t>
            </a:r>
          </a:p>
        </p:txBody>
      </p:sp>
      <p:sp>
        <p:nvSpPr>
          <p:cNvPr id="27" name="">
            <a:extLst xmlns:a="http://schemas.openxmlformats.org/drawingml/2006/main">
              <a:ext uri="{FF2B5EF4-FFF2-40B4-BE49-F238E27FC236}">
                <a16:creationId xmlns:a16="http://schemas.microsoft.com/office/drawing/2014/main" id="{39D97999-DA20-4126-A8E3-40CA00C05A0C}"/>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主要論文</a:t>
            </a:r>
          </a:p>
        </p:txBody>
      </p:sp>
      <p:sp>
        <p:nvSpPr>
          <p:cNvPr id="28" name="">
            <a:extLst xmlns:a="http://schemas.openxmlformats.org/drawingml/2006/main">
              <a:ext uri="{FF2B5EF4-FFF2-40B4-BE49-F238E27FC236}">
                <a16:creationId xmlns:a16="http://schemas.microsoft.com/office/drawing/2014/main" id="{6A695AE7-342F-453A-95C1-EF7EE876AC3F}"/>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09</a:t>
            </a:r>
          </a:p>
        </p:txBody>
      </p:sp>
    </p:spTree>
    <p:extLst>
      <p:ext uri="{BB962C8B-B14F-4D97-AF65-F5344CB8AC3E}">
        <p14:creationId xmlns:p14="http://schemas.microsoft.com/office/powerpoint/2010/main" val="3155580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EBDC7C-0648-4886-BF69-9A0396942FF4}"/>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匿名参加を好む学生は誰か</a:t>
            </a:r>
          </a:p>
        </p:txBody>
      </p:sp>
      <p:sp>
        <p:nvSpPr>
          <p:cNvPr id="2" name="">
            <a:extLst xmlns:a="http://schemas.openxmlformats.org/drawingml/2006/main">
              <a:ext uri="{FF2B5EF4-FFF2-40B4-BE49-F238E27FC236}">
                <a16:creationId xmlns:a16="http://schemas.microsoft.com/office/drawing/2014/main" id="{F58A2B6F-F396-4F71-B66F-9CC2A27A41AF}"/>
              </a:ext>
            </a:extLst>
          </p:cNvPr>
          <p:cNvSpPr>
            <a:spLocks xmlns:a="http://schemas.openxmlformats.org/drawingml/2006/main" noGrp="1"/>
          </p:cNvSpPr>
          <p:nvPr/>
        </p:nvSpPr>
        <p:spPr>
          <a:xfrm xmlns:a="http://schemas.openxmlformats.org/drawingml/2006/main">
            <a:off x="419100" y="102870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latin typeface="Yu Gothic"/>
                <a:ea typeface="Yu Gothic"/>
                <a:cs typeface="Yu Gothic"/>
              </a:defRPr>
            </a:pPr>
            <a:r>
              <a:rPr sz="1275" b="0">
                <a:solidFill>
                  <a:srgbClr val="555555"/>
                </a:solidFill>
                <a:latin typeface="Yu Gothic"/>
                <a:ea typeface="Yu Gothic"/>
                <a:cs typeface="Yu Gothic"/>
              </a:rPr>
              <a:t>Latham &amp; Hill (2014) / Preference for Anonymous Classroom Participation</a:t>
            </a:r>
          </a:p>
        </p:txBody>
      </p:sp>
      <p:sp>
        <p:nvSpPr>
          <p:cNvPr id="3" name="">
            <a:extLst xmlns:a="http://schemas.openxmlformats.org/drawingml/2006/main">
              <a:ext uri="{FF2B5EF4-FFF2-40B4-BE49-F238E27FC236}">
                <a16:creationId xmlns:a16="http://schemas.microsoft.com/office/drawing/2014/main" id="{219168F5-187D-42AF-9BDD-DBE9B1186D58}"/>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BCDD679-29B4-4C87-8459-AC5BBD5114C7}"/>
              </a:ext>
            </a:extLst>
          </p:cNvPr>
          <p:cNvSpPr>
            <a:spLocks xmlns:a="http://schemas.openxmlformats.org/drawingml/2006/main" noGrp="1"/>
          </p:cNvSpPr>
          <p:nvPr/>
        </p:nvSpPr>
        <p:spPr>
          <a:xfrm xmlns:a="http://schemas.openxmlformats.org/drawingml/2006/main">
            <a:off x="9525000" y="457200"/>
            <a:ext cx="1809750" cy="2857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29D8ACE1-2308-4C92-9B60-E9598C5BC13D}"/>
              </a:ext>
            </a:extLst>
          </p:cNvPr>
          <p:cNvSpPr>
            <a:spLocks xmlns:a="http://schemas.openxmlformats.org/drawingml/2006/main" noGrp="1"/>
          </p:cNvSpPr>
          <p:nvPr/>
        </p:nvSpPr>
        <p:spPr>
          <a:xfrm xmlns:a="http://schemas.openxmlformats.org/drawingml/2006/main">
            <a:off x="9620250" y="5048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3164D4"/>
                </a:solidFill>
                <a:latin typeface="Yu Gothic"/>
                <a:ea typeface="Yu Gothic"/>
                <a:cs typeface="Yu Gothic"/>
              </a:defRPr>
            </a:pPr>
            <a:r>
              <a:rPr sz="975" b="1">
                <a:solidFill>
                  <a:srgbClr val="3164D4"/>
                </a:solidFill>
                <a:latin typeface="Yu Gothic"/>
                <a:ea typeface="Yu Gothic"/>
                <a:cs typeface="Yu Gothic"/>
              </a:rPr>
              <a:t>多様な学生</a:t>
            </a:r>
          </a:p>
        </p:txBody>
      </p:sp>
      <p:sp>
        <p:nvSpPr>
          <p:cNvPr id="6" name="">
            <a:extLst xmlns:a="http://schemas.openxmlformats.org/drawingml/2006/main">
              <a:ext uri="{FF2B5EF4-FFF2-40B4-BE49-F238E27FC236}">
                <a16:creationId xmlns:a16="http://schemas.microsoft.com/office/drawing/2014/main" id="{C9E13571-DFF5-40F0-8720-89043AD22DD7}"/>
              </a:ext>
            </a:extLst>
          </p:cNvPr>
          <p:cNvSpPr>
            <a:spLocks xmlns:a="http://schemas.openxmlformats.org/drawingml/2006/main" noGrp="1"/>
          </p:cNvSpPr>
          <p:nvPr/>
        </p:nvSpPr>
        <p:spPr>
          <a:xfrm xmlns:a="http://schemas.openxmlformats.org/drawingml/2006/main">
            <a:off x="400050" y="1847850"/>
            <a:ext cx="3371850" cy="37338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9F1A21E9-F632-45D3-9F59-713811B5F2AE}"/>
              </a:ext>
            </a:extLst>
          </p:cNvPr>
          <p:cNvSpPr>
            <a:spLocks xmlns:a="http://schemas.openxmlformats.org/drawingml/2006/main" noGrp="1"/>
          </p:cNvSpPr>
          <p:nvPr/>
        </p:nvSpPr>
        <p:spPr>
          <a:xfrm xmlns:a="http://schemas.openxmlformats.org/drawingml/2006/main">
            <a:off x="666750" y="20955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研究の焦点</a:t>
            </a:r>
          </a:p>
        </p:txBody>
      </p:sp>
      <p:sp>
        <p:nvSpPr>
          <p:cNvPr id="8" name="">
            <a:extLst xmlns:a="http://schemas.openxmlformats.org/drawingml/2006/main">
              <a:ext uri="{FF2B5EF4-FFF2-40B4-BE49-F238E27FC236}">
                <a16:creationId xmlns:a16="http://schemas.microsoft.com/office/drawing/2014/main" id="{33004E26-3294-4E9A-9C5E-26FB805EB195}"/>
              </a:ext>
            </a:extLst>
          </p:cNvPr>
          <p:cNvSpPr>
            <a:spLocks xmlns:a="http://schemas.openxmlformats.org/drawingml/2006/main" noGrp="1"/>
          </p:cNvSpPr>
          <p:nvPr/>
        </p:nvSpPr>
        <p:spPr>
          <a:xfrm xmlns:a="http://schemas.openxmlformats.org/drawingml/2006/main">
            <a:off x="666750" y="2571750"/>
            <a:ext cx="2705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どのような学生特性が匿名参加への選好と関係し、それが電子応答システムへの態度にどうつながるか。</a:t>
            </a:r>
          </a:p>
        </p:txBody>
      </p:sp>
      <p:sp>
        <p:nvSpPr>
          <p:cNvPr id="9" name="">
            <a:extLst xmlns:a="http://schemas.openxmlformats.org/drawingml/2006/main">
              <a:ext uri="{FF2B5EF4-FFF2-40B4-BE49-F238E27FC236}">
                <a16:creationId xmlns:a16="http://schemas.microsoft.com/office/drawing/2014/main" id="{6733816E-499F-4DFA-93C5-9C908F49E68C}"/>
              </a:ext>
            </a:extLst>
          </p:cNvPr>
          <p:cNvSpPr>
            <a:spLocks xmlns:a="http://schemas.openxmlformats.org/drawingml/2006/main" noGrp="1"/>
          </p:cNvSpPr>
          <p:nvPr/>
        </p:nvSpPr>
        <p:spPr>
          <a:xfrm xmlns:a="http://schemas.openxmlformats.org/drawingml/2006/main">
            <a:off x="666750" y="38576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方法・対象</a:t>
            </a:r>
          </a:p>
        </p:txBody>
      </p:sp>
      <p:sp>
        <p:nvSpPr>
          <p:cNvPr id="10" name="">
            <a:extLst xmlns:a="http://schemas.openxmlformats.org/drawingml/2006/main">
              <a:ext uri="{FF2B5EF4-FFF2-40B4-BE49-F238E27FC236}">
                <a16:creationId xmlns:a16="http://schemas.microsoft.com/office/drawing/2014/main" id="{8A3CCB3E-DEE0-4D41-AE88-B686D0F784E6}"/>
              </a:ext>
            </a:extLst>
          </p:cNvPr>
          <p:cNvSpPr>
            <a:spLocks xmlns:a="http://schemas.openxmlformats.org/drawingml/2006/main" noGrp="1"/>
          </p:cNvSpPr>
          <p:nvPr/>
        </p:nvSpPr>
        <p:spPr>
          <a:xfrm xmlns:a="http://schemas.openxmlformats.org/drawingml/2006/main">
            <a:off x="666750" y="4333875"/>
            <a:ext cx="2705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匿名授業参加への選好、性格特性、目標志向、文化的志向、ERSへの態度・有用性認知を分析。</a:t>
            </a:r>
          </a:p>
        </p:txBody>
      </p:sp>
      <p:sp>
        <p:nvSpPr>
          <p:cNvPr id="11" name="">
            <a:extLst xmlns:a="http://schemas.openxmlformats.org/drawingml/2006/main">
              <a:ext uri="{FF2B5EF4-FFF2-40B4-BE49-F238E27FC236}">
                <a16:creationId xmlns:a16="http://schemas.microsoft.com/office/drawing/2014/main" id="{8DEA18E2-1137-4210-81C7-A9340A3FB7D2}"/>
              </a:ext>
            </a:extLst>
          </p:cNvPr>
          <p:cNvSpPr>
            <a:spLocks xmlns:a="http://schemas.openxmlformats.org/drawingml/2006/main" noGrp="1"/>
          </p:cNvSpPr>
          <p:nvPr/>
        </p:nvSpPr>
        <p:spPr>
          <a:xfrm xmlns:a="http://schemas.openxmlformats.org/drawingml/2006/main">
            <a:off x="4267200" y="18478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1111"/>
                </a:solidFill>
                <a:latin typeface="Yu Gothic"/>
                <a:ea typeface="Yu Gothic"/>
                <a:cs typeface="Yu Gothic"/>
              </a:defRPr>
            </a:pPr>
            <a:r>
              <a:rPr sz="1875" b="1">
                <a:solidFill>
                  <a:srgbClr val="111111"/>
                </a:solidFill>
                <a:latin typeface="Yu Gothic"/>
                <a:ea typeface="Yu Gothic"/>
                <a:cs typeface="Yu Gothic"/>
              </a:rPr>
              <a:t>主要知見</a:t>
            </a:r>
          </a:p>
        </p:txBody>
      </p:sp>
      <p:sp>
        <p:nvSpPr>
          <p:cNvPr id="12" name="">
            <a:extLst xmlns:a="http://schemas.openxmlformats.org/drawingml/2006/main">
              <a:ext uri="{FF2B5EF4-FFF2-40B4-BE49-F238E27FC236}">
                <a16:creationId xmlns:a16="http://schemas.microsoft.com/office/drawing/2014/main" id="{7C641411-511B-4A11-B48F-4500A82DCF49}"/>
              </a:ext>
            </a:extLst>
          </p:cNvPr>
          <p:cNvSpPr>
            <a:spLocks xmlns:a="http://schemas.openxmlformats.org/drawingml/2006/main" noGrp="1"/>
          </p:cNvSpPr>
          <p:nvPr/>
        </p:nvSpPr>
        <p:spPr>
          <a:xfrm xmlns:a="http://schemas.openxmlformats.org/drawingml/2006/main">
            <a:off x="4267200" y="23717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BB4A6AC5-C704-4B65-AFDC-2C61F79893DF}"/>
              </a:ext>
            </a:extLst>
          </p:cNvPr>
          <p:cNvSpPr>
            <a:spLocks xmlns:a="http://schemas.openxmlformats.org/drawingml/2006/main" noGrp="1"/>
          </p:cNvSpPr>
          <p:nvPr/>
        </p:nvSpPr>
        <p:spPr>
          <a:xfrm xmlns:a="http://schemas.openxmlformats.org/drawingml/2006/main">
            <a:off x="4533900" y="23622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外向性は匿名参加選好と負の関連</a:t>
            </a:r>
          </a:p>
        </p:txBody>
      </p:sp>
      <p:sp>
        <p:nvSpPr>
          <p:cNvPr id="14" name="">
            <a:extLst xmlns:a="http://schemas.openxmlformats.org/drawingml/2006/main">
              <a:ext uri="{FF2B5EF4-FFF2-40B4-BE49-F238E27FC236}">
                <a16:creationId xmlns:a16="http://schemas.microsoft.com/office/drawing/2014/main" id="{EE823F17-1556-4C81-981C-821BC0E0B1D4}"/>
              </a:ext>
            </a:extLst>
          </p:cNvPr>
          <p:cNvSpPr>
            <a:spLocks xmlns:a="http://schemas.openxmlformats.org/drawingml/2006/main" noGrp="1"/>
          </p:cNvSpPr>
          <p:nvPr/>
        </p:nvSpPr>
        <p:spPr>
          <a:xfrm xmlns:a="http://schemas.openxmlformats.org/drawingml/2006/main">
            <a:off x="4267200" y="27717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D1A9234E-C536-4F3A-AA28-B137FCC6F037}"/>
              </a:ext>
            </a:extLst>
          </p:cNvPr>
          <p:cNvSpPr>
            <a:spLocks xmlns:a="http://schemas.openxmlformats.org/drawingml/2006/main" noGrp="1"/>
          </p:cNvSpPr>
          <p:nvPr/>
        </p:nvSpPr>
        <p:spPr>
          <a:xfrm xmlns:a="http://schemas.openxmlformats.org/drawingml/2006/main">
            <a:off x="4533900" y="2762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失敗回避志向・権力距離志向は匿名参加選好と正の関連</a:t>
            </a:r>
          </a:p>
        </p:txBody>
      </p:sp>
      <p:sp>
        <p:nvSpPr>
          <p:cNvPr id="16" name="">
            <a:extLst xmlns:a="http://schemas.openxmlformats.org/drawingml/2006/main">
              <a:ext uri="{FF2B5EF4-FFF2-40B4-BE49-F238E27FC236}">
                <a16:creationId xmlns:a16="http://schemas.microsoft.com/office/drawing/2014/main" id="{1CC68695-8843-4FD1-9D63-59A0A1C7C74C}"/>
              </a:ext>
            </a:extLst>
          </p:cNvPr>
          <p:cNvSpPr>
            <a:spLocks xmlns:a="http://schemas.openxmlformats.org/drawingml/2006/main" noGrp="1"/>
          </p:cNvSpPr>
          <p:nvPr/>
        </p:nvSpPr>
        <p:spPr>
          <a:xfrm xmlns:a="http://schemas.openxmlformats.org/drawingml/2006/main">
            <a:off x="4267200" y="31718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B8F43E58-90B6-4D5E-84D3-CB6C58DB7F10}"/>
              </a:ext>
            </a:extLst>
          </p:cNvPr>
          <p:cNvSpPr>
            <a:spLocks xmlns:a="http://schemas.openxmlformats.org/drawingml/2006/main" noGrp="1"/>
          </p:cNvSpPr>
          <p:nvPr/>
        </p:nvSpPr>
        <p:spPr>
          <a:xfrm xmlns:a="http://schemas.openxmlformats.org/drawingml/2006/main">
            <a:off x="4533900" y="31623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匿名参加選好はERSへの態度・有用性認知と正の関連</a:t>
            </a:r>
          </a:p>
        </p:txBody>
      </p:sp>
      <p:sp>
        <p:nvSpPr>
          <p:cNvPr id="18" name="">
            <a:extLst xmlns:a="http://schemas.openxmlformats.org/drawingml/2006/main">
              <a:ext uri="{FF2B5EF4-FFF2-40B4-BE49-F238E27FC236}">
                <a16:creationId xmlns:a16="http://schemas.microsoft.com/office/drawing/2014/main" id="{AFF2FA22-3C37-483C-A893-21847D3C978E}"/>
              </a:ext>
            </a:extLst>
          </p:cNvPr>
          <p:cNvSpPr>
            <a:spLocks xmlns:a="http://schemas.openxmlformats.org/drawingml/2006/main" noGrp="1"/>
          </p:cNvSpPr>
          <p:nvPr/>
        </p:nvSpPr>
        <p:spPr>
          <a:xfrm xmlns:a="http://schemas.openxmlformats.org/drawingml/2006/main">
            <a:off x="8020050" y="1847850"/>
            <a:ext cx="3371850" cy="3733800"/>
          </a:xfrm>
          <a:prstGeom xmlns:a="http://schemas.openxmlformats.org/drawingml/2006/main" prst="rect">
            <a:avLst/>
          </a:prstGeom>
          <a:solidFill xmlns:a="http://schemas.openxmlformats.org/drawingml/2006/main">
            <a:srgbClr val="FFF4EF"/>
          </a:solidFill>
          <a:ln xmlns:a="http://schemas.openxmlformats.org/drawingml/2006/main" w="9525">
            <a:solidFill>
              <a:srgbClr val="FFD2C2"/>
            </a:solidFill>
            <a:prstDash val="solid"/>
          </a:ln>
        </p:spPr>
      </p:sp>
      <p:sp>
        <p:nvSpPr>
          <p:cNvPr id="19" name="">
            <a:extLst xmlns:a="http://schemas.openxmlformats.org/drawingml/2006/main">
              <a:ext uri="{FF2B5EF4-FFF2-40B4-BE49-F238E27FC236}">
                <a16:creationId xmlns:a16="http://schemas.microsoft.com/office/drawing/2014/main" id="{DB103189-3E18-47AB-AF58-D70357190FBD}"/>
              </a:ext>
            </a:extLst>
          </p:cNvPr>
          <p:cNvSpPr>
            <a:spLocks xmlns:a="http://schemas.openxmlformats.org/drawingml/2006/main" noGrp="1"/>
          </p:cNvSpPr>
          <p:nvPr/>
        </p:nvSpPr>
        <p:spPr>
          <a:xfrm xmlns:a="http://schemas.openxmlformats.org/drawingml/2006/main">
            <a:off x="8305800" y="209550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6B35"/>
                </a:solidFill>
                <a:latin typeface="Yu Gothic"/>
                <a:ea typeface="Yu Gothic"/>
                <a:cs typeface="Yu Gothic"/>
              </a:defRPr>
            </a:pPr>
            <a:r>
              <a:rPr sz="1875" b="1">
                <a:solidFill>
                  <a:srgbClr val="FF6B35"/>
                </a:solidFill>
                <a:latin typeface="Yu Gothic"/>
                <a:ea typeface="Yu Gothic"/>
                <a:cs typeface="Yu Gothic"/>
              </a:rPr>
              <a:t>授業サポートボタンへの示唆</a:t>
            </a:r>
          </a:p>
        </p:txBody>
      </p:sp>
      <p:sp>
        <p:nvSpPr>
          <p:cNvPr id="20" name="">
            <a:extLst xmlns:a="http://schemas.openxmlformats.org/drawingml/2006/main">
              <a:ext uri="{FF2B5EF4-FFF2-40B4-BE49-F238E27FC236}">
                <a16:creationId xmlns:a16="http://schemas.microsoft.com/office/drawing/2014/main" id="{3CD5407D-2F2D-46AC-856A-2BBB8798B9D7}"/>
              </a:ext>
            </a:extLst>
          </p:cNvPr>
          <p:cNvSpPr>
            <a:spLocks xmlns:a="http://schemas.openxmlformats.org/drawingml/2006/main" noGrp="1"/>
          </p:cNvSpPr>
          <p:nvPr/>
        </p:nvSpPr>
        <p:spPr>
          <a:xfrm xmlns:a="http://schemas.openxmlformats.org/drawingml/2006/main">
            <a:off x="8305800" y="29241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2485C059-8457-418B-9115-0BEA49200CC4}"/>
              </a:ext>
            </a:extLst>
          </p:cNvPr>
          <p:cNvSpPr>
            <a:spLocks xmlns:a="http://schemas.openxmlformats.org/drawingml/2006/main" noGrp="1"/>
          </p:cNvSpPr>
          <p:nvPr/>
        </p:nvSpPr>
        <p:spPr>
          <a:xfrm xmlns:a="http://schemas.openxmlformats.org/drawingml/2006/main">
            <a:off x="8572500" y="29146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匿名機能は「内向的な学生だけ」のためではない</a:t>
            </a:r>
          </a:p>
        </p:txBody>
      </p:sp>
      <p:sp>
        <p:nvSpPr>
          <p:cNvPr id="22" name="">
            <a:extLst xmlns:a="http://schemas.openxmlformats.org/drawingml/2006/main">
              <a:ext uri="{FF2B5EF4-FFF2-40B4-BE49-F238E27FC236}">
                <a16:creationId xmlns:a16="http://schemas.microsoft.com/office/drawing/2014/main" id="{4110C695-C0AC-48C2-A497-CF2894F0D639}"/>
              </a:ext>
            </a:extLst>
          </p:cNvPr>
          <p:cNvSpPr>
            <a:spLocks xmlns:a="http://schemas.openxmlformats.org/drawingml/2006/main" noGrp="1"/>
          </p:cNvSpPr>
          <p:nvPr/>
        </p:nvSpPr>
        <p:spPr>
          <a:xfrm xmlns:a="http://schemas.openxmlformats.org/drawingml/2006/main">
            <a:off x="8305800" y="33242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2FDB586E-696F-47C6-954C-190B0AEAC698}"/>
              </a:ext>
            </a:extLst>
          </p:cNvPr>
          <p:cNvSpPr>
            <a:spLocks xmlns:a="http://schemas.openxmlformats.org/drawingml/2006/main" noGrp="1"/>
          </p:cNvSpPr>
          <p:nvPr/>
        </p:nvSpPr>
        <p:spPr>
          <a:xfrm xmlns:a="http://schemas.openxmlformats.org/drawingml/2006/main">
            <a:off x="8572500" y="33147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失敗を避けたい学生にも参加の入口を作れる</a:t>
            </a:r>
          </a:p>
        </p:txBody>
      </p:sp>
      <p:sp>
        <p:nvSpPr>
          <p:cNvPr id="24" name="">
            <a:extLst xmlns:a="http://schemas.openxmlformats.org/drawingml/2006/main">
              <a:ext uri="{FF2B5EF4-FFF2-40B4-BE49-F238E27FC236}">
                <a16:creationId xmlns:a16="http://schemas.microsoft.com/office/drawing/2014/main" id="{89399953-ACE7-4EDE-8F1F-E546DE69CA9F}"/>
              </a:ext>
            </a:extLst>
          </p:cNvPr>
          <p:cNvSpPr>
            <a:spLocks xmlns:a="http://schemas.openxmlformats.org/drawingml/2006/main" noGrp="1"/>
          </p:cNvSpPr>
          <p:nvPr/>
        </p:nvSpPr>
        <p:spPr>
          <a:xfrm xmlns:a="http://schemas.openxmlformats.org/drawingml/2006/main">
            <a:off x="8305800" y="3724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DC605499-949A-4EFD-8E6A-E920F68C7014}"/>
              </a:ext>
            </a:extLst>
          </p:cNvPr>
          <p:cNvSpPr>
            <a:spLocks xmlns:a="http://schemas.openxmlformats.org/drawingml/2006/main" noGrp="1"/>
          </p:cNvSpPr>
          <p:nvPr/>
        </p:nvSpPr>
        <p:spPr>
          <a:xfrm xmlns:a="http://schemas.openxmlformats.org/drawingml/2006/main">
            <a:off x="8572500" y="37147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多様な学生を拾う公平性の仕組みとして説明できる</a:t>
            </a:r>
          </a:p>
        </p:txBody>
      </p:sp>
      <p:sp>
        <p:nvSpPr>
          <p:cNvPr id="26" name="">
            <a:extLst xmlns:a="http://schemas.openxmlformats.org/drawingml/2006/main">
              <a:ext uri="{FF2B5EF4-FFF2-40B4-BE49-F238E27FC236}">
                <a16:creationId xmlns:a16="http://schemas.microsoft.com/office/drawing/2014/main" id="{24D3F876-7C42-4F23-9D9B-5B40A1B50EDE}"/>
              </a:ext>
            </a:extLst>
          </p:cNvPr>
          <p:cNvSpPr>
            <a:spLocks xmlns:a="http://schemas.openxmlformats.org/drawingml/2006/main" noGrp="1"/>
          </p:cNvSpPr>
          <p:nvPr/>
        </p:nvSpPr>
        <p:spPr>
          <a:xfrm xmlns:a="http://schemas.openxmlformats.org/drawingml/2006/main">
            <a:off x="419100" y="59055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8B8B8B"/>
                </a:solidFill>
                <a:latin typeface="Yu Gothic"/>
                <a:ea typeface="Yu Gothic"/>
                <a:cs typeface="Yu Gothic"/>
              </a:defRPr>
            </a:pPr>
            <a:r>
              <a:rPr sz="900" b="0">
                <a:solidFill>
                  <a:srgbClr val="8B8B8B"/>
                </a:solidFill>
                <a:latin typeface="Yu Gothic"/>
                <a:ea typeface="Yu Gothic"/>
                <a:cs typeface="Yu Gothic"/>
              </a:rPr>
              <a:t>Source: Latham, A., &amp; Hill, N. S. (2014). Journal of Management Education. doi:10.1177/1052562913488109</a:t>
            </a:r>
          </a:p>
        </p:txBody>
      </p:sp>
      <p:sp>
        <p:nvSpPr>
          <p:cNvPr id="27" name="">
            <a:extLst xmlns:a="http://schemas.openxmlformats.org/drawingml/2006/main">
              <a:ext uri="{FF2B5EF4-FFF2-40B4-BE49-F238E27FC236}">
                <a16:creationId xmlns:a16="http://schemas.microsoft.com/office/drawing/2014/main" id="{8239412D-F60A-487F-AD11-191D5E2C510B}"/>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主要論文</a:t>
            </a:r>
          </a:p>
        </p:txBody>
      </p:sp>
      <p:sp>
        <p:nvSpPr>
          <p:cNvPr id="28" name="">
            <a:extLst xmlns:a="http://schemas.openxmlformats.org/drawingml/2006/main">
              <a:ext uri="{FF2B5EF4-FFF2-40B4-BE49-F238E27FC236}">
                <a16:creationId xmlns:a16="http://schemas.microsoft.com/office/drawing/2014/main" id="{12E44CC2-AAA2-4B04-B642-331081FC6A2C}"/>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10</a:t>
            </a:r>
          </a:p>
        </p:txBody>
      </p:sp>
    </p:spTree>
    <p:extLst>
      <p:ext uri="{BB962C8B-B14F-4D97-AF65-F5344CB8AC3E}">
        <p14:creationId xmlns:p14="http://schemas.microsoft.com/office/powerpoint/2010/main" val="3510911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DFFD2B-5E1B-4444-8AE8-ED897BB427F5}"/>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参加促進は不安を増やすこともある</a:t>
            </a:r>
          </a:p>
        </p:txBody>
      </p:sp>
      <p:sp>
        <p:nvSpPr>
          <p:cNvPr id="2" name="">
            <a:extLst xmlns:a="http://schemas.openxmlformats.org/drawingml/2006/main">
              <a:ext uri="{FF2B5EF4-FFF2-40B4-BE49-F238E27FC236}">
                <a16:creationId xmlns:a16="http://schemas.microsoft.com/office/drawing/2014/main" id="{A04FFDE5-D1B7-447A-B762-8B5B9936A1C4}"/>
              </a:ext>
            </a:extLst>
          </p:cNvPr>
          <p:cNvSpPr>
            <a:spLocks xmlns:a="http://schemas.openxmlformats.org/drawingml/2006/main" noGrp="1"/>
          </p:cNvSpPr>
          <p:nvPr/>
        </p:nvSpPr>
        <p:spPr>
          <a:xfrm xmlns:a="http://schemas.openxmlformats.org/drawingml/2006/main">
            <a:off x="419100" y="102870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latin typeface="Yu Gothic"/>
                <a:ea typeface="Yu Gothic"/>
                <a:cs typeface="Yu Gothic"/>
              </a:defRPr>
            </a:pPr>
            <a:r>
              <a:rPr sz="1275" b="0">
                <a:solidFill>
                  <a:srgbClr val="555555"/>
                </a:solidFill>
                <a:latin typeface="Yu Gothic"/>
                <a:ea typeface="Yu Gothic"/>
                <a:cs typeface="Yu Gothic"/>
              </a:rPr>
              <a:t>Cooper et al. (2018) / Active learning and student anxiety</a:t>
            </a:r>
          </a:p>
        </p:txBody>
      </p:sp>
      <p:sp>
        <p:nvSpPr>
          <p:cNvPr id="3" name="">
            <a:extLst xmlns:a="http://schemas.openxmlformats.org/drawingml/2006/main">
              <a:ext uri="{FF2B5EF4-FFF2-40B4-BE49-F238E27FC236}">
                <a16:creationId xmlns:a16="http://schemas.microsoft.com/office/drawing/2014/main" id="{E5107F3D-6851-46E3-A660-8A0567488EBB}"/>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F4E742-E779-4A2F-AB09-B2C01DFAA6FE}"/>
              </a:ext>
            </a:extLst>
          </p:cNvPr>
          <p:cNvSpPr>
            <a:spLocks xmlns:a="http://schemas.openxmlformats.org/drawingml/2006/main" noGrp="1"/>
          </p:cNvSpPr>
          <p:nvPr/>
        </p:nvSpPr>
        <p:spPr>
          <a:xfrm xmlns:a="http://schemas.openxmlformats.org/drawingml/2006/main">
            <a:off x="9525000" y="457200"/>
            <a:ext cx="1809750" cy="2857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D7E0DCDD-65C4-4798-93E9-D3F9A4525459}"/>
              </a:ext>
            </a:extLst>
          </p:cNvPr>
          <p:cNvSpPr>
            <a:spLocks xmlns:a="http://schemas.openxmlformats.org/drawingml/2006/main" noGrp="1"/>
          </p:cNvSpPr>
          <p:nvPr/>
        </p:nvSpPr>
        <p:spPr>
          <a:xfrm xmlns:a="http://schemas.openxmlformats.org/drawingml/2006/main">
            <a:off x="9620250" y="5048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B42318"/>
                </a:solidFill>
                <a:latin typeface="Yu Gothic"/>
                <a:ea typeface="Yu Gothic"/>
                <a:cs typeface="Yu Gothic"/>
              </a:defRPr>
            </a:pPr>
            <a:r>
              <a:rPr sz="975" b="1">
                <a:solidFill>
                  <a:srgbClr val="B42318"/>
                </a:solidFill>
                <a:latin typeface="Yu Gothic"/>
                <a:ea typeface="Yu Gothic"/>
                <a:cs typeface="Yu Gothic"/>
              </a:rPr>
              <a:t>心理的安全性</a:t>
            </a:r>
          </a:p>
        </p:txBody>
      </p:sp>
      <p:sp>
        <p:nvSpPr>
          <p:cNvPr id="6" name="">
            <a:extLst xmlns:a="http://schemas.openxmlformats.org/drawingml/2006/main">
              <a:ext uri="{FF2B5EF4-FFF2-40B4-BE49-F238E27FC236}">
                <a16:creationId xmlns:a16="http://schemas.microsoft.com/office/drawing/2014/main" id="{8153834C-8ABC-4FBF-8858-047570BD7458}"/>
              </a:ext>
            </a:extLst>
          </p:cNvPr>
          <p:cNvSpPr>
            <a:spLocks xmlns:a="http://schemas.openxmlformats.org/drawingml/2006/main" noGrp="1"/>
          </p:cNvSpPr>
          <p:nvPr/>
        </p:nvSpPr>
        <p:spPr>
          <a:xfrm xmlns:a="http://schemas.openxmlformats.org/drawingml/2006/main">
            <a:off x="400050" y="1847850"/>
            <a:ext cx="3371850" cy="37338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010ED90B-4A4F-49B7-AE85-8409A584E8F7}"/>
              </a:ext>
            </a:extLst>
          </p:cNvPr>
          <p:cNvSpPr>
            <a:spLocks xmlns:a="http://schemas.openxmlformats.org/drawingml/2006/main" noGrp="1"/>
          </p:cNvSpPr>
          <p:nvPr/>
        </p:nvSpPr>
        <p:spPr>
          <a:xfrm xmlns:a="http://schemas.openxmlformats.org/drawingml/2006/main">
            <a:off x="666750" y="20955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研究の焦点</a:t>
            </a:r>
          </a:p>
        </p:txBody>
      </p:sp>
      <p:sp>
        <p:nvSpPr>
          <p:cNvPr id="8" name="">
            <a:extLst xmlns:a="http://schemas.openxmlformats.org/drawingml/2006/main">
              <a:ext uri="{FF2B5EF4-FFF2-40B4-BE49-F238E27FC236}">
                <a16:creationId xmlns:a16="http://schemas.microsoft.com/office/drawing/2014/main" id="{F325D70B-D6F4-4A3C-97B2-639C340D0E28}"/>
              </a:ext>
            </a:extLst>
          </p:cNvPr>
          <p:cNvSpPr>
            <a:spLocks xmlns:a="http://schemas.openxmlformats.org/drawingml/2006/main" noGrp="1"/>
          </p:cNvSpPr>
          <p:nvPr/>
        </p:nvSpPr>
        <p:spPr>
          <a:xfrm xmlns:a="http://schemas.openxmlformats.org/drawingml/2006/main">
            <a:off x="666750" y="2571750"/>
            <a:ext cx="2705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大規模な大学理科授業において、アクティブラーニング実践が学生の不安をどう増減させるか。</a:t>
            </a:r>
          </a:p>
        </p:txBody>
      </p:sp>
      <p:sp>
        <p:nvSpPr>
          <p:cNvPr id="9" name="">
            <a:extLst xmlns:a="http://schemas.openxmlformats.org/drawingml/2006/main">
              <a:ext uri="{FF2B5EF4-FFF2-40B4-BE49-F238E27FC236}">
                <a16:creationId xmlns:a16="http://schemas.microsoft.com/office/drawing/2014/main" id="{9A536102-A9C7-4ECB-A5B6-7D7CF4D2EA40}"/>
              </a:ext>
            </a:extLst>
          </p:cNvPr>
          <p:cNvSpPr>
            <a:spLocks xmlns:a="http://schemas.openxmlformats.org/drawingml/2006/main" noGrp="1"/>
          </p:cNvSpPr>
          <p:nvPr/>
        </p:nvSpPr>
        <p:spPr>
          <a:xfrm xmlns:a="http://schemas.openxmlformats.org/drawingml/2006/main">
            <a:off x="666750" y="38576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方法・対象</a:t>
            </a:r>
          </a:p>
        </p:txBody>
      </p:sp>
      <p:sp>
        <p:nvSpPr>
          <p:cNvPr id="10" name="">
            <a:extLst xmlns:a="http://schemas.openxmlformats.org/drawingml/2006/main">
              <a:ext uri="{FF2B5EF4-FFF2-40B4-BE49-F238E27FC236}">
                <a16:creationId xmlns:a16="http://schemas.microsoft.com/office/drawing/2014/main" id="{22C68086-78D6-4909-A876-21A3D2622BF7}"/>
              </a:ext>
            </a:extLst>
          </p:cNvPr>
          <p:cNvSpPr>
            <a:spLocks xmlns:a="http://schemas.openxmlformats.org/drawingml/2006/main" noGrp="1"/>
          </p:cNvSpPr>
          <p:nvPr/>
        </p:nvSpPr>
        <p:spPr>
          <a:xfrm xmlns:a="http://schemas.openxmlformats.org/drawingml/2006/main">
            <a:off x="666750" y="4333875"/>
            <a:ext cx="2705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大人数理科授業の学生インタビューを分析し、クリック問題・グループワーク・コールドコール等の影響を整理。</a:t>
            </a:r>
          </a:p>
        </p:txBody>
      </p:sp>
      <p:sp>
        <p:nvSpPr>
          <p:cNvPr id="11" name="">
            <a:extLst xmlns:a="http://schemas.openxmlformats.org/drawingml/2006/main">
              <a:ext uri="{FF2B5EF4-FFF2-40B4-BE49-F238E27FC236}">
                <a16:creationId xmlns:a16="http://schemas.microsoft.com/office/drawing/2014/main" id="{2088035B-5FC3-42CF-86BD-B97924B80480}"/>
              </a:ext>
            </a:extLst>
          </p:cNvPr>
          <p:cNvSpPr>
            <a:spLocks xmlns:a="http://schemas.openxmlformats.org/drawingml/2006/main" noGrp="1"/>
          </p:cNvSpPr>
          <p:nvPr/>
        </p:nvSpPr>
        <p:spPr>
          <a:xfrm xmlns:a="http://schemas.openxmlformats.org/drawingml/2006/main">
            <a:off x="4267200" y="18478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1111"/>
                </a:solidFill>
                <a:latin typeface="Yu Gothic"/>
                <a:ea typeface="Yu Gothic"/>
                <a:cs typeface="Yu Gothic"/>
              </a:defRPr>
            </a:pPr>
            <a:r>
              <a:rPr sz="1875" b="1">
                <a:solidFill>
                  <a:srgbClr val="111111"/>
                </a:solidFill>
                <a:latin typeface="Yu Gothic"/>
                <a:ea typeface="Yu Gothic"/>
                <a:cs typeface="Yu Gothic"/>
              </a:rPr>
              <a:t>主要知見</a:t>
            </a:r>
          </a:p>
        </p:txBody>
      </p:sp>
      <p:sp>
        <p:nvSpPr>
          <p:cNvPr id="12" name="">
            <a:extLst xmlns:a="http://schemas.openxmlformats.org/drawingml/2006/main">
              <a:ext uri="{FF2B5EF4-FFF2-40B4-BE49-F238E27FC236}">
                <a16:creationId xmlns:a16="http://schemas.microsoft.com/office/drawing/2014/main" id="{3CEA7A5F-5DFB-40D8-AE70-9DC77B9F16AA}"/>
              </a:ext>
            </a:extLst>
          </p:cNvPr>
          <p:cNvSpPr>
            <a:spLocks xmlns:a="http://schemas.openxmlformats.org/drawingml/2006/main" noGrp="1"/>
          </p:cNvSpPr>
          <p:nvPr/>
        </p:nvSpPr>
        <p:spPr>
          <a:xfrm xmlns:a="http://schemas.openxmlformats.org/drawingml/2006/main">
            <a:off x="4267200" y="23717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F958BB0E-CC2D-4D0B-A52E-84F7C3574E59}"/>
              </a:ext>
            </a:extLst>
          </p:cNvPr>
          <p:cNvSpPr>
            <a:spLocks xmlns:a="http://schemas.openxmlformats.org/drawingml/2006/main" noGrp="1"/>
          </p:cNvSpPr>
          <p:nvPr/>
        </p:nvSpPr>
        <p:spPr>
          <a:xfrm xmlns:a="http://schemas.openxmlformats.org/drawingml/2006/main">
            <a:off x="4533900" y="23622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クリック問題やグループワークは不安を下げる場合も上げる場合もある</a:t>
            </a:r>
          </a:p>
        </p:txBody>
      </p:sp>
      <p:sp>
        <p:nvSpPr>
          <p:cNvPr id="14" name="">
            <a:extLst xmlns:a="http://schemas.openxmlformats.org/drawingml/2006/main">
              <a:ext uri="{FF2B5EF4-FFF2-40B4-BE49-F238E27FC236}">
                <a16:creationId xmlns:a16="http://schemas.microsoft.com/office/drawing/2014/main" id="{F8C2F644-FEDB-49BC-A13C-A1CC95FD35AE}"/>
              </a:ext>
            </a:extLst>
          </p:cNvPr>
          <p:cNvSpPr>
            <a:spLocks xmlns:a="http://schemas.openxmlformats.org/drawingml/2006/main" noGrp="1"/>
          </p:cNvSpPr>
          <p:nvPr/>
        </p:nvSpPr>
        <p:spPr>
          <a:xfrm xmlns:a="http://schemas.openxmlformats.org/drawingml/2006/main">
            <a:off x="4267200" y="27717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83AB813D-89FD-4F15-92E3-D26CEE89B4D2}"/>
              </a:ext>
            </a:extLst>
          </p:cNvPr>
          <p:cNvSpPr>
            <a:spLocks xmlns:a="http://schemas.openxmlformats.org/drawingml/2006/main" noGrp="1"/>
          </p:cNvSpPr>
          <p:nvPr/>
        </p:nvSpPr>
        <p:spPr>
          <a:xfrm xmlns:a="http://schemas.openxmlformats.org/drawingml/2006/main">
            <a:off x="4533900" y="2762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コールドコールやランダム指名は不安を高めやすい</a:t>
            </a:r>
          </a:p>
        </p:txBody>
      </p:sp>
      <p:sp>
        <p:nvSpPr>
          <p:cNvPr id="16" name="">
            <a:extLst xmlns:a="http://schemas.openxmlformats.org/drawingml/2006/main">
              <a:ext uri="{FF2B5EF4-FFF2-40B4-BE49-F238E27FC236}">
                <a16:creationId xmlns:a16="http://schemas.microsoft.com/office/drawing/2014/main" id="{3D115A1B-5319-4675-9BD0-03D3E69312AD}"/>
              </a:ext>
            </a:extLst>
          </p:cNvPr>
          <p:cNvSpPr>
            <a:spLocks xmlns:a="http://schemas.openxmlformats.org/drawingml/2006/main" noGrp="1"/>
          </p:cNvSpPr>
          <p:nvPr/>
        </p:nvSpPr>
        <p:spPr>
          <a:xfrm xmlns:a="http://schemas.openxmlformats.org/drawingml/2006/main">
            <a:off x="4267200" y="31718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8DD3916A-B2AC-4C59-9299-D01DC39D61DA}"/>
              </a:ext>
            </a:extLst>
          </p:cNvPr>
          <p:cNvSpPr>
            <a:spLocks xmlns:a="http://schemas.openxmlformats.org/drawingml/2006/main" noGrp="1"/>
          </p:cNvSpPr>
          <p:nvPr/>
        </p:nvSpPr>
        <p:spPr>
          <a:xfrm xmlns:a="http://schemas.openxmlformats.org/drawingml/2006/main">
            <a:off x="4533900" y="31623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中心要因は、他者から否定的に評価されることへの恐れ</a:t>
            </a:r>
          </a:p>
        </p:txBody>
      </p:sp>
      <p:sp>
        <p:nvSpPr>
          <p:cNvPr id="18" name="">
            <a:extLst xmlns:a="http://schemas.openxmlformats.org/drawingml/2006/main">
              <a:ext uri="{FF2B5EF4-FFF2-40B4-BE49-F238E27FC236}">
                <a16:creationId xmlns:a16="http://schemas.microsoft.com/office/drawing/2014/main" id="{C06C2E59-8EB9-4986-8180-0F5691239247}"/>
              </a:ext>
            </a:extLst>
          </p:cNvPr>
          <p:cNvSpPr>
            <a:spLocks xmlns:a="http://schemas.openxmlformats.org/drawingml/2006/main" noGrp="1"/>
          </p:cNvSpPr>
          <p:nvPr/>
        </p:nvSpPr>
        <p:spPr>
          <a:xfrm xmlns:a="http://schemas.openxmlformats.org/drawingml/2006/main">
            <a:off x="8020050" y="1847850"/>
            <a:ext cx="3371850" cy="3733800"/>
          </a:xfrm>
          <a:prstGeom xmlns:a="http://schemas.openxmlformats.org/drawingml/2006/main" prst="rect">
            <a:avLst/>
          </a:prstGeom>
          <a:solidFill xmlns:a="http://schemas.openxmlformats.org/drawingml/2006/main">
            <a:srgbClr val="FFF4EF"/>
          </a:solidFill>
          <a:ln xmlns:a="http://schemas.openxmlformats.org/drawingml/2006/main" w="9525">
            <a:solidFill>
              <a:srgbClr val="FFD2C2"/>
            </a:solidFill>
            <a:prstDash val="solid"/>
          </a:ln>
        </p:spPr>
      </p:sp>
      <p:sp>
        <p:nvSpPr>
          <p:cNvPr id="19" name="">
            <a:extLst xmlns:a="http://schemas.openxmlformats.org/drawingml/2006/main">
              <a:ext uri="{FF2B5EF4-FFF2-40B4-BE49-F238E27FC236}">
                <a16:creationId xmlns:a16="http://schemas.microsoft.com/office/drawing/2014/main" id="{1264AAA6-5EC9-4C0F-BBB0-7D4C2961C9DE}"/>
              </a:ext>
            </a:extLst>
          </p:cNvPr>
          <p:cNvSpPr>
            <a:spLocks xmlns:a="http://schemas.openxmlformats.org/drawingml/2006/main" noGrp="1"/>
          </p:cNvSpPr>
          <p:nvPr/>
        </p:nvSpPr>
        <p:spPr>
          <a:xfrm xmlns:a="http://schemas.openxmlformats.org/drawingml/2006/main">
            <a:off x="8305800" y="209550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6B35"/>
                </a:solidFill>
                <a:latin typeface="Yu Gothic"/>
                <a:ea typeface="Yu Gothic"/>
                <a:cs typeface="Yu Gothic"/>
              </a:defRPr>
            </a:pPr>
            <a:r>
              <a:rPr sz="1875" b="1">
                <a:solidFill>
                  <a:srgbClr val="FF6B35"/>
                </a:solidFill>
                <a:latin typeface="Yu Gothic"/>
                <a:ea typeface="Yu Gothic"/>
                <a:cs typeface="Yu Gothic"/>
              </a:rPr>
              <a:t>授業サポートボタンへの示唆</a:t>
            </a:r>
          </a:p>
        </p:txBody>
      </p:sp>
      <p:sp>
        <p:nvSpPr>
          <p:cNvPr id="20" name="">
            <a:extLst xmlns:a="http://schemas.openxmlformats.org/drawingml/2006/main">
              <a:ext uri="{FF2B5EF4-FFF2-40B4-BE49-F238E27FC236}">
                <a16:creationId xmlns:a16="http://schemas.microsoft.com/office/drawing/2014/main" id="{E5A69D8F-FDF3-4C3B-9E40-E2C6BA9E296C}"/>
              </a:ext>
            </a:extLst>
          </p:cNvPr>
          <p:cNvSpPr>
            <a:spLocks xmlns:a="http://schemas.openxmlformats.org/drawingml/2006/main" noGrp="1"/>
          </p:cNvSpPr>
          <p:nvPr/>
        </p:nvSpPr>
        <p:spPr>
          <a:xfrm xmlns:a="http://schemas.openxmlformats.org/drawingml/2006/main">
            <a:off x="8305800" y="29241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4A175187-EEFF-48C6-A345-351E8AF504C9}"/>
              </a:ext>
            </a:extLst>
          </p:cNvPr>
          <p:cNvSpPr>
            <a:spLocks xmlns:a="http://schemas.openxmlformats.org/drawingml/2006/main" noGrp="1"/>
          </p:cNvSpPr>
          <p:nvPr/>
        </p:nvSpPr>
        <p:spPr>
          <a:xfrm xmlns:a="http://schemas.openxmlformats.org/drawingml/2006/main">
            <a:off x="8572500" y="29146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参加を強制するUIにしない</a:t>
            </a:r>
          </a:p>
        </p:txBody>
      </p:sp>
      <p:sp>
        <p:nvSpPr>
          <p:cNvPr id="22" name="">
            <a:extLst xmlns:a="http://schemas.openxmlformats.org/drawingml/2006/main">
              <a:ext uri="{FF2B5EF4-FFF2-40B4-BE49-F238E27FC236}">
                <a16:creationId xmlns:a16="http://schemas.microsoft.com/office/drawing/2014/main" id="{582F5F57-6D88-4973-B2BB-61F138FC9C01}"/>
              </a:ext>
            </a:extLst>
          </p:cNvPr>
          <p:cNvSpPr>
            <a:spLocks xmlns:a="http://schemas.openxmlformats.org/drawingml/2006/main" noGrp="1"/>
          </p:cNvSpPr>
          <p:nvPr/>
        </p:nvSpPr>
        <p:spPr>
          <a:xfrm xmlns:a="http://schemas.openxmlformats.org/drawingml/2006/main">
            <a:off x="8305800" y="33242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78227DC6-3EEF-488E-86FA-56C45F95D785}"/>
              </a:ext>
            </a:extLst>
          </p:cNvPr>
          <p:cNvSpPr>
            <a:spLocks xmlns:a="http://schemas.openxmlformats.org/drawingml/2006/main" noGrp="1"/>
          </p:cNvSpPr>
          <p:nvPr/>
        </p:nvSpPr>
        <p:spPr>
          <a:xfrm xmlns:a="http://schemas.openxmlformats.org/drawingml/2006/main">
            <a:off x="8572500" y="33147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回答の正誤を公開しすぎない</a:t>
            </a:r>
          </a:p>
        </p:txBody>
      </p:sp>
      <p:sp>
        <p:nvSpPr>
          <p:cNvPr id="24" name="">
            <a:extLst xmlns:a="http://schemas.openxmlformats.org/drawingml/2006/main">
              <a:ext uri="{FF2B5EF4-FFF2-40B4-BE49-F238E27FC236}">
                <a16:creationId xmlns:a16="http://schemas.microsoft.com/office/drawing/2014/main" id="{A75488B4-1E32-4E99-8EA3-8F3D9C562234}"/>
              </a:ext>
            </a:extLst>
          </p:cNvPr>
          <p:cNvSpPr>
            <a:spLocks xmlns:a="http://schemas.openxmlformats.org/drawingml/2006/main" noGrp="1"/>
          </p:cNvSpPr>
          <p:nvPr/>
        </p:nvSpPr>
        <p:spPr>
          <a:xfrm xmlns:a="http://schemas.openxmlformats.org/drawingml/2006/main">
            <a:off x="8305800" y="3724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09A4F206-9680-4555-88FD-50CC58381235}"/>
              </a:ext>
            </a:extLst>
          </p:cNvPr>
          <p:cNvSpPr>
            <a:spLocks xmlns:a="http://schemas.openxmlformats.org/drawingml/2006/main" noGrp="1"/>
          </p:cNvSpPr>
          <p:nvPr/>
        </p:nvSpPr>
        <p:spPr>
          <a:xfrm xmlns:a="http://schemas.openxmlformats.org/drawingml/2006/main">
            <a:off x="8572500" y="37147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「助けを求める」行為が恥にならない設計にする</a:t>
            </a:r>
          </a:p>
        </p:txBody>
      </p:sp>
      <p:sp>
        <p:nvSpPr>
          <p:cNvPr id="26" name="">
            <a:extLst xmlns:a="http://schemas.openxmlformats.org/drawingml/2006/main">
              <a:ext uri="{FF2B5EF4-FFF2-40B4-BE49-F238E27FC236}">
                <a16:creationId xmlns:a16="http://schemas.microsoft.com/office/drawing/2014/main" id="{90EB1B32-00A9-4C11-AE51-5D0D1C5C6099}"/>
              </a:ext>
            </a:extLst>
          </p:cNvPr>
          <p:cNvSpPr>
            <a:spLocks xmlns:a="http://schemas.openxmlformats.org/drawingml/2006/main" noGrp="1"/>
          </p:cNvSpPr>
          <p:nvPr/>
        </p:nvSpPr>
        <p:spPr>
          <a:xfrm xmlns:a="http://schemas.openxmlformats.org/drawingml/2006/main">
            <a:off x="419100" y="59055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8B8B8B"/>
                </a:solidFill>
                <a:latin typeface="Yu Gothic"/>
                <a:ea typeface="Yu Gothic"/>
                <a:cs typeface="Yu Gothic"/>
              </a:defRPr>
            </a:pPr>
            <a:r>
              <a:rPr sz="900" b="0">
                <a:solidFill>
                  <a:srgbClr val="8B8B8B"/>
                </a:solidFill>
                <a:latin typeface="Yu Gothic"/>
                <a:ea typeface="Yu Gothic"/>
                <a:cs typeface="Yu Gothic"/>
              </a:rPr>
              <a:t>Source: Cooper et al. (2018). International Journal of STEM Education. doi:10.1186/s40594-018-0123-6</a:t>
            </a:r>
          </a:p>
        </p:txBody>
      </p:sp>
      <p:sp>
        <p:nvSpPr>
          <p:cNvPr id="27" name="">
            <a:extLst xmlns:a="http://schemas.openxmlformats.org/drawingml/2006/main">
              <a:ext uri="{FF2B5EF4-FFF2-40B4-BE49-F238E27FC236}">
                <a16:creationId xmlns:a16="http://schemas.microsoft.com/office/drawing/2014/main" id="{872E997A-50EA-422D-AF4C-92EB906EF61C}"/>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主要論文</a:t>
            </a:r>
          </a:p>
        </p:txBody>
      </p:sp>
      <p:sp>
        <p:nvSpPr>
          <p:cNvPr id="28" name="">
            <a:extLst xmlns:a="http://schemas.openxmlformats.org/drawingml/2006/main">
              <a:ext uri="{FF2B5EF4-FFF2-40B4-BE49-F238E27FC236}">
                <a16:creationId xmlns:a16="http://schemas.microsoft.com/office/drawing/2014/main" id="{4CEB7F45-8D09-41DC-98F1-3D4C71B7E9F3}"/>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11</a:t>
            </a:r>
          </a:p>
        </p:txBody>
      </p:sp>
    </p:spTree>
    <p:extLst>
      <p:ext uri="{BB962C8B-B14F-4D97-AF65-F5344CB8AC3E}">
        <p14:creationId xmlns:p14="http://schemas.microsoft.com/office/powerpoint/2010/main" val="8076091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668856-45E5-41ED-91AA-3FE326215049}"/>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ゲーミフィケーションは慎重に扱う</a:t>
            </a:r>
          </a:p>
        </p:txBody>
      </p:sp>
      <p:sp>
        <p:nvSpPr>
          <p:cNvPr id="2" name="">
            <a:extLst xmlns:a="http://schemas.openxmlformats.org/drawingml/2006/main">
              <a:ext uri="{FF2B5EF4-FFF2-40B4-BE49-F238E27FC236}">
                <a16:creationId xmlns:a16="http://schemas.microsoft.com/office/drawing/2014/main" id="{5BF12BBE-379D-4498-9C68-9215CB38C70E}"/>
              </a:ext>
            </a:extLst>
          </p:cNvPr>
          <p:cNvSpPr>
            <a:spLocks xmlns:a="http://schemas.openxmlformats.org/drawingml/2006/main" noGrp="1"/>
          </p:cNvSpPr>
          <p:nvPr/>
        </p:nvSpPr>
        <p:spPr>
          <a:xfrm xmlns:a="http://schemas.openxmlformats.org/drawingml/2006/main">
            <a:off x="419100" y="102870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latin typeface="Yu Gothic"/>
                <a:ea typeface="Yu Gothic"/>
                <a:cs typeface="Yu Gothic"/>
              </a:defRPr>
            </a:pPr>
            <a:r>
              <a:rPr sz="1275" b="0">
                <a:solidFill>
                  <a:srgbClr val="555555"/>
                </a:solidFill>
                <a:latin typeface="Yu Gothic"/>
                <a:ea typeface="Yu Gothic"/>
                <a:cs typeface="Yu Gothic"/>
              </a:rPr>
              <a:t>Almeida et al. (2023) / Negative effects of gamification in education software</a:t>
            </a:r>
          </a:p>
        </p:txBody>
      </p:sp>
      <p:sp>
        <p:nvSpPr>
          <p:cNvPr id="3" name="">
            <a:extLst xmlns:a="http://schemas.openxmlformats.org/drawingml/2006/main">
              <a:ext uri="{FF2B5EF4-FFF2-40B4-BE49-F238E27FC236}">
                <a16:creationId xmlns:a16="http://schemas.microsoft.com/office/drawing/2014/main" id="{393684B1-19B1-4F4D-836D-DF668CE7AA7A}"/>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0603AB-1574-4A94-8F75-83EDCF0CDBD7}"/>
              </a:ext>
            </a:extLst>
          </p:cNvPr>
          <p:cNvSpPr>
            <a:spLocks xmlns:a="http://schemas.openxmlformats.org/drawingml/2006/main" noGrp="1"/>
          </p:cNvSpPr>
          <p:nvPr/>
        </p:nvSpPr>
        <p:spPr>
          <a:xfrm xmlns:a="http://schemas.openxmlformats.org/drawingml/2006/main">
            <a:off x="9525000" y="457200"/>
            <a:ext cx="1809750" cy="2857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6632A075-5E95-4516-AFF2-743A84555FFB}"/>
              </a:ext>
            </a:extLst>
          </p:cNvPr>
          <p:cNvSpPr>
            <a:spLocks xmlns:a="http://schemas.openxmlformats.org/drawingml/2006/main" noGrp="1"/>
          </p:cNvSpPr>
          <p:nvPr/>
        </p:nvSpPr>
        <p:spPr>
          <a:xfrm xmlns:a="http://schemas.openxmlformats.org/drawingml/2006/main">
            <a:off x="9620250" y="5048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B42318"/>
                </a:solidFill>
                <a:latin typeface="Yu Gothic"/>
                <a:ea typeface="Yu Gothic"/>
                <a:cs typeface="Yu Gothic"/>
              </a:defRPr>
            </a:pPr>
            <a:r>
              <a:rPr sz="975" b="1">
                <a:solidFill>
                  <a:srgbClr val="B42318"/>
                </a:solidFill>
                <a:latin typeface="Yu Gothic"/>
                <a:ea typeface="Yu Gothic"/>
                <a:cs typeface="Yu Gothic"/>
              </a:rPr>
              <a:t>注意点</a:t>
            </a:r>
          </a:p>
        </p:txBody>
      </p:sp>
      <p:sp>
        <p:nvSpPr>
          <p:cNvPr id="6" name="">
            <a:extLst xmlns:a="http://schemas.openxmlformats.org/drawingml/2006/main">
              <a:ext uri="{FF2B5EF4-FFF2-40B4-BE49-F238E27FC236}">
                <a16:creationId xmlns:a16="http://schemas.microsoft.com/office/drawing/2014/main" id="{1C225F4F-62D2-4C7A-8903-465A042C82D5}"/>
              </a:ext>
            </a:extLst>
          </p:cNvPr>
          <p:cNvSpPr>
            <a:spLocks xmlns:a="http://schemas.openxmlformats.org/drawingml/2006/main" noGrp="1"/>
          </p:cNvSpPr>
          <p:nvPr/>
        </p:nvSpPr>
        <p:spPr>
          <a:xfrm xmlns:a="http://schemas.openxmlformats.org/drawingml/2006/main">
            <a:off x="400050" y="1847850"/>
            <a:ext cx="3371850" cy="373380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7ADB6694-1D45-4141-B565-1EC05E7E1B24}"/>
              </a:ext>
            </a:extLst>
          </p:cNvPr>
          <p:cNvSpPr>
            <a:spLocks xmlns:a="http://schemas.openxmlformats.org/drawingml/2006/main" noGrp="1"/>
          </p:cNvSpPr>
          <p:nvPr/>
        </p:nvSpPr>
        <p:spPr>
          <a:xfrm xmlns:a="http://schemas.openxmlformats.org/drawingml/2006/main">
            <a:off x="666750" y="20955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研究の焦点</a:t>
            </a:r>
          </a:p>
        </p:txBody>
      </p:sp>
      <p:sp>
        <p:nvSpPr>
          <p:cNvPr id="8" name="">
            <a:extLst xmlns:a="http://schemas.openxmlformats.org/drawingml/2006/main">
              <a:ext uri="{FF2B5EF4-FFF2-40B4-BE49-F238E27FC236}">
                <a16:creationId xmlns:a16="http://schemas.microsoft.com/office/drawing/2014/main" id="{9888480C-FC46-45AA-AC7F-A7F9066BA320}"/>
              </a:ext>
            </a:extLst>
          </p:cNvPr>
          <p:cNvSpPr>
            <a:spLocks xmlns:a="http://schemas.openxmlformats.org/drawingml/2006/main" noGrp="1"/>
          </p:cNvSpPr>
          <p:nvPr/>
        </p:nvSpPr>
        <p:spPr>
          <a:xfrm xmlns:a="http://schemas.openxmlformats.org/drawingml/2006/main">
            <a:off x="666750" y="2571750"/>
            <a:ext cx="2705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教育ソフトにおけるゲームデザイン要素が、どのような悪影響と関連して報告されているか。</a:t>
            </a:r>
          </a:p>
        </p:txBody>
      </p:sp>
      <p:sp>
        <p:nvSpPr>
          <p:cNvPr id="9" name="">
            <a:extLst xmlns:a="http://schemas.openxmlformats.org/drawingml/2006/main">
              <a:ext uri="{FF2B5EF4-FFF2-40B4-BE49-F238E27FC236}">
                <a16:creationId xmlns:a16="http://schemas.microsoft.com/office/drawing/2014/main" id="{E319EA1B-C1C8-4DD1-8A5B-3FD534B0844B}"/>
              </a:ext>
            </a:extLst>
          </p:cNvPr>
          <p:cNvSpPr>
            <a:spLocks xmlns:a="http://schemas.openxmlformats.org/drawingml/2006/main" noGrp="1"/>
          </p:cNvSpPr>
          <p:nvPr/>
        </p:nvSpPr>
        <p:spPr>
          <a:xfrm xmlns:a="http://schemas.openxmlformats.org/drawingml/2006/main">
            <a:off x="666750" y="3857625"/>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方法・対象</a:t>
            </a:r>
          </a:p>
        </p:txBody>
      </p:sp>
      <p:sp>
        <p:nvSpPr>
          <p:cNvPr id="10" name="">
            <a:extLst xmlns:a="http://schemas.openxmlformats.org/drawingml/2006/main">
              <a:ext uri="{FF2B5EF4-FFF2-40B4-BE49-F238E27FC236}">
                <a16:creationId xmlns:a16="http://schemas.microsoft.com/office/drawing/2014/main" id="{AF511169-DCB9-4C4F-A169-0DC5C56A6661}"/>
              </a:ext>
            </a:extLst>
          </p:cNvPr>
          <p:cNvSpPr>
            <a:spLocks xmlns:a="http://schemas.openxmlformats.org/drawingml/2006/main" noGrp="1"/>
          </p:cNvSpPr>
          <p:nvPr/>
        </p:nvSpPr>
        <p:spPr>
          <a:xfrm xmlns:a="http://schemas.openxmlformats.org/drawingml/2006/main">
            <a:off x="666750" y="4333875"/>
            <a:ext cx="27051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2020年末までの研究を対象に、87本の論文をシステマティック・マッピング。開発者フォーカスグループも実施。</a:t>
            </a:r>
          </a:p>
        </p:txBody>
      </p:sp>
      <p:sp>
        <p:nvSpPr>
          <p:cNvPr id="11" name="">
            <a:extLst xmlns:a="http://schemas.openxmlformats.org/drawingml/2006/main">
              <a:ext uri="{FF2B5EF4-FFF2-40B4-BE49-F238E27FC236}">
                <a16:creationId xmlns:a16="http://schemas.microsoft.com/office/drawing/2014/main" id="{7CA740B4-E4AF-4BEB-BF60-4A309978D02A}"/>
              </a:ext>
            </a:extLst>
          </p:cNvPr>
          <p:cNvSpPr>
            <a:spLocks xmlns:a="http://schemas.openxmlformats.org/drawingml/2006/main" noGrp="1"/>
          </p:cNvSpPr>
          <p:nvPr/>
        </p:nvSpPr>
        <p:spPr>
          <a:xfrm xmlns:a="http://schemas.openxmlformats.org/drawingml/2006/main">
            <a:off x="4267200" y="18478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1111"/>
                </a:solidFill>
                <a:latin typeface="Yu Gothic"/>
                <a:ea typeface="Yu Gothic"/>
                <a:cs typeface="Yu Gothic"/>
              </a:defRPr>
            </a:pPr>
            <a:r>
              <a:rPr sz="1875" b="1">
                <a:solidFill>
                  <a:srgbClr val="111111"/>
                </a:solidFill>
                <a:latin typeface="Yu Gothic"/>
                <a:ea typeface="Yu Gothic"/>
                <a:cs typeface="Yu Gothic"/>
              </a:rPr>
              <a:t>主要知見</a:t>
            </a:r>
          </a:p>
        </p:txBody>
      </p:sp>
      <p:sp>
        <p:nvSpPr>
          <p:cNvPr id="12" name="">
            <a:extLst xmlns:a="http://schemas.openxmlformats.org/drawingml/2006/main">
              <a:ext uri="{FF2B5EF4-FFF2-40B4-BE49-F238E27FC236}">
                <a16:creationId xmlns:a16="http://schemas.microsoft.com/office/drawing/2014/main" id="{287089B0-2383-4B07-9BAB-A1AD74345AE4}"/>
              </a:ext>
            </a:extLst>
          </p:cNvPr>
          <p:cNvSpPr>
            <a:spLocks xmlns:a="http://schemas.openxmlformats.org/drawingml/2006/main" noGrp="1"/>
          </p:cNvSpPr>
          <p:nvPr/>
        </p:nvSpPr>
        <p:spPr>
          <a:xfrm xmlns:a="http://schemas.openxmlformats.org/drawingml/2006/main">
            <a:off x="4267200" y="23717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CC4487C2-57AD-44E1-A736-C3A52BF0FC1D}"/>
              </a:ext>
            </a:extLst>
          </p:cNvPr>
          <p:cNvSpPr>
            <a:spLocks xmlns:a="http://schemas.openxmlformats.org/drawingml/2006/main" noGrp="1"/>
          </p:cNvSpPr>
          <p:nvPr/>
        </p:nvSpPr>
        <p:spPr>
          <a:xfrm xmlns:a="http://schemas.openxmlformats.org/drawingml/2006/main">
            <a:off x="4533900" y="23622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バッジ、リーダーボード、競争、ポイントが悪影響と関連しやすい</a:t>
            </a:r>
          </a:p>
        </p:txBody>
      </p:sp>
      <p:sp>
        <p:nvSpPr>
          <p:cNvPr id="14" name="">
            <a:extLst xmlns:a="http://schemas.openxmlformats.org/drawingml/2006/main">
              <a:ext uri="{FF2B5EF4-FFF2-40B4-BE49-F238E27FC236}">
                <a16:creationId xmlns:a16="http://schemas.microsoft.com/office/drawing/2014/main" id="{EF39EC8F-5E44-4E9D-83F4-506C60C7BDAD}"/>
              </a:ext>
            </a:extLst>
          </p:cNvPr>
          <p:cNvSpPr>
            <a:spLocks xmlns:a="http://schemas.openxmlformats.org/drawingml/2006/main" noGrp="1"/>
          </p:cNvSpPr>
          <p:nvPr/>
        </p:nvSpPr>
        <p:spPr>
          <a:xfrm xmlns:a="http://schemas.openxmlformats.org/drawingml/2006/main">
            <a:off x="4267200" y="27717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3ACBC360-4F99-44AA-B237-D8C14DD3A387}"/>
              </a:ext>
            </a:extLst>
          </p:cNvPr>
          <p:cNvSpPr>
            <a:spLocks xmlns:a="http://schemas.openxmlformats.org/drawingml/2006/main" noGrp="1"/>
          </p:cNvSpPr>
          <p:nvPr/>
        </p:nvSpPr>
        <p:spPr>
          <a:xfrm xmlns:a="http://schemas.openxmlformats.org/drawingml/2006/main">
            <a:off x="4533900" y="276225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効果なし、成績悪化、動機づけ問題、理解不足、無関連感が多い</a:t>
            </a:r>
          </a:p>
        </p:txBody>
      </p:sp>
      <p:sp>
        <p:nvSpPr>
          <p:cNvPr id="16" name="">
            <a:extLst xmlns:a="http://schemas.openxmlformats.org/drawingml/2006/main">
              <a:ext uri="{FF2B5EF4-FFF2-40B4-BE49-F238E27FC236}">
                <a16:creationId xmlns:a16="http://schemas.microsoft.com/office/drawing/2014/main" id="{BE01BB95-D982-49B7-9C6E-4DC407FC65FA}"/>
              </a:ext>
            </a:extLst>
          </p:cNvPr>
          <p:cNvSpPr>
            <a:spLocks xmlns:a="http://schemas.openxmlformats.org/drawingml/2006/main" noGrp="1"/>
          </p:cNvSpPr>
          <p:nvPr/>
        </p:nvSpPr>
        <p:spPr>
          <a:xfrm xmlns:a="http://schemas.openxmlformats.org/drawingml/2006/main">
            <a:off x="4267200" y="31718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CA15DB57-1A77-4ADB-848C-4EC430C71A5A}"/>
              </a:ext>
            </a:extLst>
          </p:cNvPr>
          <p:cNvSpPr>
            <a:spLocks xmlns:a="http://schemas.openxmlformats.org/drawingml/2006/main" noGrp="1"/>
          </p:cNvSpPr>
          <p:nvPr/>
        </p:nvSpPr>
        <p:spPr>
          <a:xfrm xmlns:a="http://schemas.openxmlformats.org/drawingml/2006/main">
            <a:off x="4533900" y="3162300"/>
            <a:ext cx="297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システム攻略・チートなどの倫理的問題も報告</a:t>
            </a:r>
          </a:p>
        </p:txBody>
      </p:sp>
      <p:sp>
        <p:nvSpPr>
          <p:cNvPr id="18" name="">
            <a:extLst xmlns:a="http://schemas.openxmlformats.org/drawingml/2006/main">
              <a:ext uri="{FF2B5EF4-FFF2-40B4-BE49-F238E27FC236}">
                <a16:creationId xmlns:a16="http://schemas.microsoft.com/office/drawing/2014/main" id="{781EE44F-13E8-4155-BB65-A5764B6808CC}"/>
              </a:ext>
            </a:extLst>
          </p:cNvPr>
          <p:cNvSpPr>
            <a:spLocks xmlns:a="http://schemas.openxmlformats.org/drawingml/2006/main" noGrp="1"/>
          </p:cNvSpPr>
          <p:nvPr/>
        </p:nvSpPr>
        <p:spPr>
          <a:xfrm xmlns:a="http://schemas.openxmlformats.org/drawingml/2006/main">
            <a:off x="8020050" y="1847850"/>
            <a:ext cx="3371850" cy="3733800"/>
          </a:xfrm>
          <a:prstGeom xmlns:a="http://schemas.openxmlformats.org/drawingml/2006/main" prst="rect">
            <a:avLst/>
          </a:prstGeom>
          <a:solidFill xmlns:a="http://schemas.openxmlformats.org/drawingml/2006/main">
            <a:srgbClr val="FFF4EF"/>
          </a:solidFill>
          <a:ln xmlns:a="http://schemas.openxmlformats.org/drawingml/2006/main" w="9525">
            <a:solidFill>
              <a:srgbClr val="FFD2C2"/>
            </a:solidFill>
            <a:prstDash val="solid"/>
          </a:ln>
        </p:spPr>
      </p:sp>
      <p:sp>
        <p:nvSpPr>
          <p:cNvPr id="19" name="">
            <a:extLst xmlns:a="http://schemas.openxmlformats.org/drawingml/2006/main">
              <a:ext uri="{FF2B5EF4-FFF2-40B4-BE49-F238E27FC236}">
                <a16:creationId xmlns:a16="http://schemas.microsoft.com/office/drawing/2014/main" id="{634872D1-0702-4339-93BB-5D82A89DBFC3}"/>
              </a:ext>
            </a:extLst>
          </p:cNvPr>
          <p:cNvSpPr>
            <a:spLocks xmlns:a="http://schemas.openxmlformats.org/drawingml/2006/main" noGrp="1"/>
          </p:cNvSpPr>
          <p:nvPr/>
        </p:nvSpPr>
        <p:spPr>
          <a:xfrm xmlns:a="http://schemas.openxmlformats.org/drawingml/2006/main">
            <a:off x="8305800" y="209550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6B35"/>
                </a:solidFill>
                <a:latin typeface="Yu Gothic"/>
                <a:ea typeface="Yu Gothic"/>
                <a:cs typeface="Yu Gothic"/>
              </a:defRPr>
            </a:pPr>
            <a:r>
              <a:rPr sz="1875" b="1">
                <a:solidFill>
                  <a:srgbClr val="FF6B35"/>
                </a:solidFill>
                <a:latin typeface="Yu Gothic"/>
                <a:ea typeface="Yu Gothic"/>
                <a:cs typeface="Yu Gothic"/>
              </a:rPr>
              <a:t>授業サポートボタンへの示唆</a:t>
            </a:r>
          </a:p>
        </p:txBody>
      </p:sp>
      <p:sp>
        <p:nvSpPr>
          <p:cNvPr id="20" name="">
            <a:extLst xmlns:a="http://schemas.openxmlformats.org/drawingml/2006/main">
              <a:ext uri="{FF2B5EF4-FFF2-40B4-BE49-F238E27FC236}">
                <a16:creationId xmlns:a16="http://schemas.microsoft.com/office/drawing/2014/main" id="{D77E9832-525F-47D8-AFC3-6531C476E81B}"/>
              </a:ext>
            </a:extLst>
          </p:cNvPr>
          <p:cNvSpPr>
            <a:spLocks xmlns:a="http://schemas.openxmlformats.org/drawingml/2006/main" noGrp="1"/>
          </p:cNvSpPr>
          <p:nvPr/>
        </p:nvSpPr>
        <p:spPr>
          <a:xfrm xmlns:a="http://schemas.openxmlformats.org/drawingml/2006/main">
            <a:off x="8305800" y="29241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D44A4D8A-8444-4B32-B8D6-93283C8D2514}"/>
              </a:ext>
            </a:extLst>
          </p:cNvPr>
          <p:cNvSpPr>
            <a:spLocks xmlns:a="http://schemas.openxmlformats.org/drawingml/2006/main" noGrp="1"/>
          </p:cNvSpPr>
          <p:nvPr/>
        </p:nvSpPr>
        <p:spPr>
          <a:xfrm xmlns:a="http://schemas.openxmlformats.org/drawingml/2006/main">
            <a:off x="8572500" y="29146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質問数ランキングやポイント競争は避ける</a:t>
            </a:r>
          </a:p>
        </p:txBody>
      </p:sp>
      <p:sp>
        <p:nvSpPr>
          <p:cNvPr id="22" name="">
            <a:extLst xmlns:a="http://schemas.openxmlformats.org/drawingml/2006/main">
              <a:ext uri="{FF2B5EF4-FFF2-40B4-BE49-F238E27FC236}">
                <a16:creationId xmlns:a16="http://schemas.microsoft.com/office/drawing/2014/main" id="{F054E0AF-8417-4065-82E2-5B97906F8EDA}"/>
              </a:ext>
            </a:extLst>
          </p:cNvPr>
          <p:cNvSpPr>
            <a:spLocks xmlns:a="http://schemas.openxmlformats.org/drawingml/2006/main" noGrp="1"/>
          </p:cNvSpPr>
          <p:nvPr/>
        </p:nvSpPr>
        <p:spPr>
          <a:xfrm xmlns:a="http://schemas.openxmlformats.org/drawingml/2006/main">
            <a:off x="8305800" y="33242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4DC9266B-B6F7-4465-9150-205F6B9A3D1A}"/>
              </a:ext>
            </a:extLst>
          </p:cNvPr>
          <p:cNvSpPr>
            <a:spLocks xmlns:a="http://schemas.openxmlformats.org/drawingml/2006/main" noGrp="1"/>
          </p:cNvSpPr>
          <p:nvPr/>
        </p:nvSpPr>
        <p:spPr>
          <a:xfrm xmlns:a="http://schemas.openxmlformats.org/drawingml/2006/main">
            <a:off x="8572500" y="331470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参加を可視化するなら個人内・支援目的に限定する</a:t>
            </a:r>
          </a:p>
        </p:txBody>
      </p:sp>
      <p:sp>
        <p:nvSpPr>
          <p:cNvPr id="24" name="">
            <a:extLst xmlns:a="http://schemas.openxmlformats.org/drawingml/2006/main">
              <a:ext uri="{FF2B5EF4-FFF2-40B4-BE49-F238E27FC236}">
                <a16:creationId xmlns:a16="http://schemas.microsoft.com/office/drawing/2014/main" id="{3A446EAB-754F-48C1-8EC0-D0C846595AEA}"/>
              </a:ext>
            </a:extLst>
          </p:cNvPr>
          <p:cNvSpPr>
            <a:spLocks xmlns:a="http://schemas.openxmlformats.org/drawingml/2006/main" noGrp="1"/>
          </p:cNvSpPr>
          <p:nvPr/>
        </p:nvSpPr>
        <p:spPr>
          <a:xfrm xmlns:a="http://schemas.openxmlformats.org/drawingml/2006/main">
            <a:off x="8305800" y="37242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6B35"/>
                </a:solidFill>
                <a:latin typeface="Yu Gothic"/>
                <a:ea typeface="Yu Gothic"/>
                <a:cs typeface="Yu Gothic"/>
              </a:defRPr>
            </a:pPr>
            <a:r>
              <a:rPr sz="1350" b="1">
                <a:solidFill>
                  <a:srgbClr val="FF6B35"/>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86F2A879-8027-4E5A-B30B-CBD9E3F74557}"/>
              </a:ext>
            </a:extLst>
          </p:cNvPr>
          <p:cNvSpPr>
            <a:spLocks xmlns:a="http://schemas.openxmlformats.org/drawingml/2006/main" noGrp="1"/>
          </p:cNvSpPr>
          <p:nvPr/>
        </p:nvSpPr>
        <p:spPr>
          <a:xfrm xmlns:a="http://schemas.openxmlformats.org/drawingml/2006/main">
            <a:off x="8572500" y="3714750"/>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11111"/>
                </a:solidFill>
                <a:latin typeface="Yu Gothic"/>
                <a:ea typeface="Yu Gothic"/>
                <a:cs typeface="Yu Gothic"/>
              </a:defRPr>
            </a:pPr>
            <a:r>
              <a:rPr sz="1350" b="0">
                <a:solidFill>
                  <a:srgbClr val="111111"/>
                </a:solidFill>
                <a:latin typeface="Yu Gothic"/>
                <a:ea typeface="Yu Gothic"/>
                <a:cs typeface="Yu Gothic"/>
              </a:rPr>
              <a:t>ゲーム化より形成的フィードバックを優先する</a:t>
            </a:r>
          </a:p>
        </p:txBody>
      </p:sp>
      <p:sp>
        <p:nvSpPr>
          <p:cNvPr id="26" name="">
            <a:extLst xmlns:a="http://schemas.openxmlformats.org/drawingml/2006/main">
              <a:ext uri="{FF2B5EF4-FFF2-40B4-BE49-F238E27FC236}">
                <a16:creationId xmlns:a16="http://schemas.microsoft.com/office/drawing/2014/main" id="{4663FCB4-3C5B-463D-B470-4F6352D914D1}"/>
              </a:ext>
            </a:extLst>
          </p:cNvPr>
          <p:cNvSpPr>
            <a:spLocks xmlns:a="http://schemas.openxmlformats.org/drawingml/2006/main" noGrp="1"/>
          </p:cNvSpPr>
          <p:nvPr/>
        </p:nvSpPr>
        <p:spPr>
          <a:xfrm xmlns:a="http://schemas.openxmlformats.org/drawingml/2006/main">
            <a:off x="419100" y="59055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8B8B8B"/>
                </a:solidFill>
                <a:latin typeface="Yu Gothic"/>
                <a:ea typeface="Yu Gothic"/>
                <a:cs typeface="Yu Gothic"/>
              </a:defRPr>
            </a:pPr>
            <a:r>
              <a:rPr sz="900" b="0">
                <a:solidFill>
                  <a:srgbClr val="8B8B8B"/>
                </a:solidFill>
                <a:latin typeface="Yu Gothic"/>
                <a:ea typeface="Yu Gothic"/>
                <a:cs typeface="Yu Gothic"/>
              </a:rPr>
              <a:t>Source: Almeida et al. (2023). Information and Software Technology. doi:10.1016/j.infsof.2022.107142</a:t>
            </a:r>
          </a:p>
        </p:txBody>
      </p:sp>
      <p:sp>
        <p:nvSpPr>
          <p:cNvPr id="27" name="">
            <a:extLst xmlns:a="http://schemas.openxmlformats.org/drawingml/2006/main">
              <a:ext uri="{FF2B5EF4-FFF2-40B4-BE49-F238E27FC236}">
                <a16:creationId xmlns:a16="http://schemas.microsoft.com/office/drawing/2014/main" id="{BD1E1972-2AF0-4EA9-8A1A-48ABA36A7B43}"/>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主要論文</a:t>
            </a:r>
          </a:p>
        </p:txBody>
      </p:sp>
      <p:sp>
        <p:nvSpPr>
          <p:cNvPr id="28" name="">
            <a:extLst xmlns:a="http://schemas.openxmlformats.org/drawingml/2006/main">
              <a:ext uri="{FF2B5EF4-FFF2-40B4-BE49-F238E27FC236}">
                <a16:creationId xmlns:a16="http://schemas.microsoft.com/office/drawing/2014/main" id="{EFC0E639-89EA-4539-9B0A-BC6C9544F4AB}"/>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12</a:t>
            </a:r>
          </a:p>
        </p:txBody>
      </p:sp>
    </p:spTree>
    <p:extLst>
      <p:ext uri="{BB962C8B-B14F-4D97-AF65-F5344CB8AC3E}">
        <p14:creationId xmlns:p14="http://schemas.microsoft.com/office/powerpoint/2010/main" val="3920822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A36551-9A24-45F8-AAA7-C0237800FFB5}"/>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文献から抽出した設計原則</a:t>
            </a:r>
          </a:p>
        </p:txBody>
      </p:sp>
      <p:sp>
        <p:nvSpPr>
          <p:cNvPr id="2" name="">
            <a:extLst xmlns:a="http://schemas.openxmlformats.org/drawingml/2006/main">
              <a:ext uri="{FF2B5EF4-FFF2-40B4-BE49-F238E27FC236}">
                <a16:creationId xmlns:a16="http://schemas.microsoft.com/office/drawing/2014/main" id="{6AF8A5E9-40A1-41BA-B69F-4318912CAFA1}"/>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CD259DF-2A60-4FAD-AE6D-641C8D666E35}"/>
              </a:ext>
            </a:extLst>
          </p:cNvPr>
          <p:cNvSpPr>
            <a:spLocks xmlns:a="http://schemas.openxmlformats.org/drawingml/2006/main" noGrp="1"/>
          </p:cNvSpPr>
          <p:nvPr/>
        </p:nvSpPr>
        <p:spPr>
          <a:xfrm xmlns:a="http://schemas.openxmlformats.org/drawingml/2006/main">
            <a:off x="590550" y="1809750"/>
            <a:ext cx="10668000" cy="4572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B305C7B-CEE1-4DD5-BC19-1D3919DB1A98}"/>
              </a:ext>
            </a:extLst>
          </p:cNvPr>
          <p:cNvSpPr>
            <a:spLocks xmlns:a="http://schemas.openxmlformats.org/drawingml/2006/main" noGrp="1"/>
          </p:cNvSpPr>
          <p:nvPr/>
        </p:nvSpPr>
        <p:spPr>
          <a:xfrm xmlns:a="http://schemas.openxmlformats.org/drawingml/2006/main">
            <a:off x="762000" y="1924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latin typeface="Yu Gothic"/>
                <a:ea typeface="Yu Gothic"/>
                <a:cs typeface="Yu Gothic"/>
              </a:defRPr>
            </a:pPr>
            <a:r>
              <a:rPr sz="1350" b="1">
                <a:solidFill>
                  <a:srgbClr val="FFFFFF"/>
                </a:solidFill>
                <a:latin typeface="Yu Gothic"/>
                <a:ea typeface="Yu Gothic"/>
                <a:cs typeface="Yu Gothic"/>
              </a:rPr>
              <a:t>原則</a:t>
            </a:r>
          </a:p>
        </p:txBody>
      </p:sp>
      <p:sp>
        <p:nvSpPr>
          <p:cNvPr id="5" name="">
            <a:extLst xmlns:a="http://schemas.openxmlformats.org/drawingml/2006/main">
              <a:ext uri="{FF2B5EF4-FFF2-40B4-BE49-F238E27FC236}">
                <a16:creationId xmlns:a16="http://schemas.microsoft.com/office/drawing/2014/main" id="{51B24AE8-B585-4923-A22C-4B72AEDA3ACD}"/>
              </a:ext>
            </a:extLst>
          </p:cNvPr>
          <p:cNvSpPr>
            <a:spLocks xmlns:a="http://schemas.openxmlformats.org/drawingml/2006/main" noGrp="1"/>
          </p:cNvSpPr>
          <p:nvPr/>
        </p:nvSpPr>
        <p:spPr>
          <a:xfrm xmlns:a="http://schemas.openxmlformats.org/drawingml/2006/main">
            <a:off x="3352800" y="1924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latin typeface="Yu Gothic"/>
                <a:ea typeface="Yu Gothic"/>
                <a:cs typeface="Yu Gothic"/>
              </a:defRPr>
            </a:pPr>
            <a:r>
              <a:rPr sz="1350" b="1">
                <a:solidFill>
                  <a:srgbClr val="FFFFFF"/>
                </a:solidFill>
                <a:latin typeface="Yu Gothic"/>
                <a:ea typeface="Yu Gothic"/>
                <a:cs typeface="Yu Gothic"/>
              </a:rPr>
              <a:t>意味</a:t>
            </a:r>
          </a:p>
        </p:txBody>
      </p:sp>
      <p:sp>
        <p:nvSpPr>
          <p:cNvPr id="6" name="">
            <a:extLst xmlns:a="http://schemas.openxmlformats.org/drawingml/2006/main">
              <a:ext uri="{FF2B5EF4-FFF2-40B4-BE49-F238E27FC236}">
                <a16:creationId xmlns:a16="http://schemas.microsoft.com/office/drawing/2014/main" id="{448EFDA1-4AE8-45BC-8E7E-736D94A8FAC2}"/>
              </a:ext>
            </a:extLst>
          </p:cNvPr>
          <p:cNvSpPr>
            <a:spLocks xmlns:a="http://schemas.openxmlformats.org/drawingml/2006/main" noGrp="1"/>
          </p:cNvSpPr>
          <p:nvPr/>
        </p:nvSpPr>
        <p:spPr>
          <a:xfrm xmlns:a="http://schemas.openxmlformats.org/drawingml/2006/main">
            <a:off x="8972550" y="19240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latin typeface="Yu Gothic"/>
                <a:ea typeface="Yu Gothic"/>
                <a:cs typeface="Yu Gothic"/>
              </a:defRPr>
            </a:pPr>
            <a:r>
              <a:rPr sz="1350" b="1">
                <a:solidFill>
                  <a:srgbClr val="FFFFFF"/>
                </a:solidFill>
                <a:latin typeface="Yu Gothic"/>
                <a:ea typeface="Yu Gothic"/>
                <a:cs typeface="Yu Gothic"/>
              </a:rPr>
              <a:t>根拠</a:t>
            </a:r>
          </a:p>
        </p:txBody>
      </p:sp>
      <p:sp>
        <p:nvSpPr>
          <p:cNvPr id="7" name="">
            <a:extLst xmlns:a="http://schemas.openxmlformats.org/drawingml/2006/main">
              <a:ext uri="{FF2B5EF4-FFF2-40B4-BE49-F238E27FC236}">
                <a16:creationId xmlns:a16="http://schemas.microsoft.com/office/drawing/2014/main" id="{992B5A94-B4FD-43DE-924B-131F3F0CD276}"/>
              </a:ext>
            </a:extLst>
          </p:cNvPr>
          <p:cNvSpPr>
            <a:spLocks xmlns:a="http://schemas.openxmlformats.org/drawingml/2006/main" noGrp="1"/>
          </p:cNvSpPr>
          <p:nvPr/>
        </p:nvSpPr>
        <p:spPr>
          <a:xfrm xmlns:a="http://schemas.openxmlformats.org/drawingml/2006/main">
            <a:off x="590550" y="2266950"/>
            <a:ext cx="10668000" cy="6667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182674F8-5995-4FE9-9723-52E03BCC134F}"/>
              </a:ext>
            </a:extLst>
          </p:cNvPr>
          <p:cNvSpPr>
            <a:spLocks xmlns:a="http://schemas.openxmlformats.org/drawingml/2006/main" noGrp="1"/>
          </p:cNvSpPr>
          <p:nvPr/>
        </p:nvSpPr>
        <p:spPr>
          <a:xfrm xmlns:a="http://schemas.openxmlformats.org/drawingml/2006/main">
            <a:off x="762000" y="2438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111"/>
                </a:solidFill>
                <a:latin typeface="Yu Gothic"/>
                <a:ea typeface="Yu Gothic"/>
                <a:cs typeface="Yu Gothic"/>
              </a:defRPr>
            </a:pPr>
            <a:r>
              <a:rPr sz="1500" b="1">
                <a:solidFill>
                  <a:srgbClr val="111111"/>
                </a:solidFill>
                <a:latin typeface="Yu Gothic"/>
                <a:ea typeface="Yu Gothic"/>
                <a:cs typeface="Yu Gothic"/>
              </a:rPr>
              <a:t>1. 匿名性</a:t>
            </a:r>
          </a:p>
        </p:txBody>
      </p:sp>
      <p:sp>
        <p:nvSpPr>
          <p:cNvPr id="9" name="">
            <a:extLst xmlns:a="http://schemas.openxmlformats.org/drawingml/2006/main">
              <a:ext uri="{FF2B5EF4-FFF2-40B4-BE49-F238E27FC236}">
                <a16:creationId xmlns:a16="http://schemas.microsoft.com/office/drawing/2014/main" id="{F59EB6E5-FD96-4955-9674-15E6A4C35D5C}"/>
              </a:ext>
            </a:extLst>
          </p:cNvPr>
          <p:cNvSpPr>
            <a:spLocks xmlns:a="http://schemas.openxmlformats.org/drawingml/2006/main" noGrp="1"/>
          </p:cNvSpPr>
          <p:nvPr/>
        </p:nvSpPr>
        <p:spPr>
          <a:xfrm xmlns:a="http://schemas.openxmlformats.org/drawingml/2006/main">
            <a:off x="3352800" y="242887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評価不安を下げ、発言が苦手な学生にも参加入口を作る</a:t>
            </a:r>
          </a:p>
        </p:txBody>
      </p:sp>
      <p:sp>
        <p:nvSpPr>
          <p:cNvPr id="10" name="">
            <a:extLst xmlns:a="http://schemas.openxmlformats.org/drawingml/2006/main">
              <a:ext uri="{FF2B5EF4-FFF2-40B4-BE49-F238E27FC236}">
                <a16:creationId xmlns:a16="http://schemas.microsoft.com/office/drawing/2014/main" id="{D7575643-BDA0-4220-B907-775E1F33F7DE}"/>
              </a:ext>
            </a:extLst>
          </p:cNvPr>
          <p:cNvSpPr>
            <a:spLocks xmlns:a="http://schemas.openxmlformats.org/drawingml/2006/main" noGrp="1"/>
          </p:cNvSpPr>
          <p:nvPr/>
        </p:nvSpPr>
        <p:spPr>
          <a:xfrm xmlns:a="http://schemas.openxmlformats.org/drawingml/2006/main">
            <a:off x="8972550" y="24288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8B8B8B"/>
                </a:solidFill>
                <a:latin typeface="Yu Gothic"/>
                <a:ea typeface="Yu Gothic"/>
                <a:cs typeface="Yu Gothic"/>
              </a:defRPr>
            </a:pPr>
            <a:r>
              <a:rPr sz="1275" b="0">
                <a:solidFill>
                  <a:srgbClr val="8B8B8B"/>
                </a:solidFill>
                <a:latin typeface="Yu Gothic"/>
                <a:ea typeface="Yu Gothic"/>
                <a:cs typeface="Yu Gothic"/>
              </a:rPr>
              <a:t>Freeman; Latham &amp; Hill</a:t>
            </a:r>
          </a:p>
        </p:txBody>
      </p:sp>
      <p:sp>
        <p:nvSpPr>
          <p:cNvPr id="11" name="">
            <a:extLst xmlns:a="http://schemas.openxmlformats.org/drawingml/2006/main">
              <a:ext uri="{FF2B5EF4-FFF2-40B4-BE49-F238E27FC236}">
                <a16:creationId xmlns:a16="http://schemas.microsoft.com/office/drawing/2014/main" id="{AE30DE39-B1A9-4E36-89E8-8BC135AD84CD}"/>
              </a:ext>
            </a:extLst>
          </p:cNvPr>
          <p:cNvSpPr>
            <a:spLocks xmlns:a="http://schemas.openxmlformats.org/drawingml/2006/main" noGrp="1"/>
          </p:cNvSpPr>
          <p:nvPr/>
        </p:nvSpPr>
        <p:spPr>
          <a:xfrm xmlns:a="http://schemas.openxmlformats.org/drawingml/2006/main">
            <a:off x="590550" y="2933700"/>
            <a:ext cx="106680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906C22E3-C48A-4A71-9EAB-D2B54F635912}"/>
              </a:ext>
            </a:extLst>
          </p:cNvPr>
          <p:cNvSpPr>
            <a:spLocks xmlns:a="http://schemas.openxmlformats.org/drawingml/2006/main" noGrp="1"/>
          </p:cNvSpPr>
          <p:nvPr/>
        </p:nvSpPr>
        <p:spPr>
          <a:xfrm xmlns:a="http://schemas.openxmlformats.org/drawingml/2006/main">
            <a:off x="762000" y="31051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111"/>
                </a:solidFill>
                <a:latin typeface="Yu Gothic"/>
                <a:ea typeface="Yu Gothic"/>
                <a:cs typeface="Yu Gothic"/>
              </a:defRPr>
            </a:pPr>
            <a:r>
              <a:rPr sz="1500" b="1">
                <a:solidFill>
                  <a:srgbClr val="111111"/>
                </a:solidFill>
                <a:latin typeface="Yu Gothic"/>
                <a:ea typeface="Yu Gothic"/>
                <a:cs typeface="Yu Gothic"/>
              </a:rPr>
              <a:t>2. 低負荷</a:t>
            </a:r>
          </a:p>
        </p:txBody>
      </p:sp>
      <p:sp>
        <p:nvSpPr>
          <p:cNvPr id="13" name="">
            <a:extLst xmlns:a="http://schemas.openxmlformats.org/drawingml/2006/main">
              <a:ext uri="{FF2B5EF4-FFF2-40B4-BE49-F238E27FC236}">
                <a16:creationId xmlns:a16="http://schemas.microsoft.com/office/drawing/2014/main" id="{57353F17-46DD-4D0B-9560-0AC5AE0F306C}"/>
              </a:ext>
            </a:extLst>
          </p:cNvPr>
          <p:cNvSpPr>
            <a:spLocks xmlns:a="http://schemas.openxmlformats.org/drawingml/2006/main" noGrp="1"/>
          </p:cNvSpPr>
          <p:nvPr/>
        </p:nvSpPr>
        <p:spPr>
          <a:xfrm xmlns:a="http://schemas.openxmlformats.org/drawingml/2006/main">
            <a:off x="3352800" y="309562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授業中に迷わず押せる。入力負担を下げる</a:t>
            </a:r>
          </a:p>
        </p:txBody>
      </p:sp>
      <p:sp>
        <p:nvSpPr>
          <p:cNvPr id="14" name="">
            <a:extLst xmlns:a="http://schemas.openxmlformats.org/drawingml/2006/main">
              <a:ext uri="{FF2B5EF4-FFF2-40B4-BE49-F238E27FC236}">
                <a16:creationId xmlns:a16="http://schemas.microsoft.com/office/drawing/2014/main" id="{4799272A-8CEF-4B07-802D-F008518E0177}"/>
              </a:ext>
            </a:extLst>
          </p:cNvPr>
          <p:cNvSpPr>
            <a:spLocks xmlns:a="http://schemas.openxmlformats.org/drawingml/2006/main" noGrp="1"/>
          </p:cNvSpPr>
          <p:nvPr/>
        </p:nvSpPr>
        <p:spPr>
          <a:xfrm xmlns:a="http://schemas.openxmlformats.org/drawingml/2006/main">
            <a:off x="8972550" y="30956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8B8B8B"/>
                </a:solidFill>
                <a:latin typeface="Yu Gothic"/>
                <a:ea typeface="Yu Gothic"/>
                <a:cs typeface="Yu Gothic"/>
              </a:defRPr>
            </a:pPr>
            <a:r>
              <a:rPr sz="1275" b="0">
                <a:solidFill>
                  <a:srgbClr val="8B8B8B"/>
                </a:solidFill>
                <a:latin typeface="Yu Gothic"/>
                <a:ea typeface="Yu Gothic"/>
                <a:cs typeface="Yu Gothic"/>
              </a:rPr>
              <a:t>SRS / Clickers</a:t>
            </a:r>
          </a:p>
        </p:txBody>
      </p:sp>
      <p:sp>
        <p:nvSpPr>
          <p:cNvPr id="15" name="">
            <a:extLst xmlns:a="http://schemas.openxmlformats.org/drawingml/2006/main">
              <a:ext uri="{FF2B5EF4-FFF2-40B4-BE49-F238E27FC236}">
                <a16:creationId xmlns:a16="http://schemas.microsoft.com/office/drawing/2014/main" id="{F86714D2-20D2-4220-80CC-F3DECC3E0AAD}"/>
              </a:ext>
            </a:extLst>
          </p:cNvPr>
          <p:cNvSpPr>
            <a:spLocks xmlns:a="http://schemas.openxmlformats.org/drawingml/2006/main" noGrp="1"/>
          </p:cNvSpPr>
          <p:nvPr/>
        </p:nvSpPr>
        <p:spPr>
          <a:xfrm xmlns:a="http://schemas.openxmlformats.org/drawingml/2006/main">
            <a:off x="590550" y="3600450"/>
            <a:ext cx="10668000" cy="6667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DF5862D3-1D61-42F7-A858-B39CA0B20571}"/>
              </a:ext>
            </a:extLst>
          </p:cNvPr>
          <p:cNvSpPr>
            <a:spLocks xmlns:a="http://schemas.openxmlformats.org/drawingml/2006/main" noGrp="1"/>
          </p:cNvSpPr>
          <p:nvPr/>
        </p:nvSpPr>
        <p:spPr>
          <a:xfrm xmlns:a="http://schemas.openxmlformats.org/drawingml/2006/main">
            <a:off x="762000" y="3771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111"/>
                </a:solidFill>
                <a:latin typeface="Yu Gothic"/>
                <a:ea typeface="Yu Gothic"/>
                <a:cs typeface="Yu Gothic"/>
              </a:defRPr>
            </a:pPr>
            <a:r>
              <a:rPr sz="1500" b="1">
                <a:solidFill>
                  <a:srgbClr val="111111"/>
                </a:solidFill>
                <a:latin typeface="Yu Gothic"/>
                <a:ea typeface="Yu Gothic"/>
                <a:cs typeface="Yu Gothic"/>
              </a:rPr>
              <a:t>3. リアルタイム性</a:t>
            </a:r>
          </a:p>
        </p:txBody>
      </p:sp>
      <p:sp>
        <p:nvSpPr>
          <p:cNvPr id="17" name="">
            <a:extLst xmlns:a="http://schemas.openxmlformats.org/drawingml/2006/main">
              <a:ext uri="{FF2B5EF4-FFF2-40B4-BE49-F238E27FC236}">
                <a16:creationId xmlns:a16="http://schemas.microsoft.com/office/drawing/2014/main" id="{8DCFA9B8-D334-4FAC-9A6D-9A4DEA6D34BB}"/>
              </a:ext>
            </a:extLst>
          </p:cNvPr>
          <p:cNvSpPr>
            <a:spLocks xmlns:a="http://schemas.openxmlformats.org/drawingml/2006/main" noGrp="1"/>
          </p:cNvSpPr>
          <p:nvPr/>
        </p:nvSpPr>
        <p:spPr>
          <a:xfrm xmlns:a="http://schemas.openxmlformats.org/drawingml/2006/main">
            <a:off x="3352800" y="376237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教員が授業中に理解度・困りごとを読める</a:t>
            </a:r>
          </a:p>
        </p:txBody>
      </p:sp>
      <p:sp>
        <p:nvSpPr>
          <p:cNvPr id="18" name="">
            <a:extLst xmlns:a="http://schemas.openxmlformats.org/drawingml/2006/main">
              <a:ext uri="{FF2B5EF4-FFF2-40B4-BE49-F238E27FC236}">
                <a16:creationId xmlns:a16="http://schemas.microsoft.com/office/drawing/2014/main" id="{4EFEFBE2-DAD5-435F-AE7F-D6B7DA7B31C0}"/>
              </a:ext>
            </a:extLst>
          </p:cNvPr>
          <p:cNvSpPr>
            <a:spLocks xmlns:a="http://schemas.openxmlformats.org/drawingml/2006/main" noGrp="1"/>
          </p:cNvSpPr>
          <p:nvPr/>
        </p:nvSpPr>
        <p:spPr>
          <a:xfrm xmlns:a="http://schemas.openxmlformats.org/drawingml/2006/main">
            <a:off x="8972550" y="3762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8B8B8B"/>
                </a:solidFill>
                <a:latin typeface="Yu Gothic"/>
                <a:ea typeface="Yu Gothic"/>
                <a:cs typeface="Yu Gothic"/>
              </a:defRPr>
            </a:pPr>
            <a:r>
              <a:rPr sz="1275" b="0">
                <a:solidFill>
                  <a:srgbClr val="8B8B8B"/>
                </a:solidFill>
                <a:latin typeface="Yu Gothic"/>
                <a:ea typeface="Yu Gothic"/>
                <a:cs typeface="Yu Gothic"/>
              </a:rPr>
              <a:t>Heaslip; Montgomery</a:t>
            </a:r>
          </a:p>
        </p:txBody>
      </p:sp>
      <p:sp>
        <p:nvSpPr>
          <p:cNvPr id="19" name="">
            <a:extLst xmlns:a="http://schemas.openxmlformats.org/drawingml/2006/main">
              <a:ext uri="{FF2B5EF4-FFF2-40B4-BE49-F238E27FC236}">
                <a16:creationId xmlns:a16="http://schemas.microsoft.com/office/drawing/2014/main" id="{919F5861-1E66-47D6-A190-0358918AC76B}"/>
              </a:ext>
            </a:extLst>
          </p:cNvPr>
          <p:cNvSpPr>
            <a:spLocks xmlns:a="http://schemas.openxmlformats.org/drawingml/2006/main" noGrp="1"/>
          </p:cNvSpPr>
          <p:nvPr/>
        </p:nvSpPr>
        <p:spPr>
          <a:xfrm xmlns:a="http://schemas.openxmlformats.org/drawingml/2006/main">
            <a:off x="590550" y="4267200"/>
            <a:ext cx="106680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906746CC-E1A8-43B0-BBB0-42134DBCBCAE}"/>
              </a:ext>
            </a:extLst>
          </p:cNvPr>
          <p:cNvSpPr>
            <a:spLocks xmlns:a="http://schemas.openxmlformats.org/drawingml/2006/main" noGrp="1"/>
          </p:cNvSpPr>
          <p:nvPr/>
        </p:nvSpPr>
        <p:spPr>
          <a:xfrm xmlns:a="http://schemas.openxmlformats.org/drawingml/2006/main">
            <a:off x="762000" y="44386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11111"/>
                </a:solidFill>
                <a:latin typeface="Yu Gothic"/>
                <a:ea typeface="Yu Gothic"/>
                <a:cs typeface="Yu Gothic"/>
              </a:defRPr>
            </a:pPr>
            <a:r>
              <a:rPr sz="1500" b="1">
                <a:solidFill>
                  <a:srgbClr val="111111"/>
                </a:solidFill>
                <a:latin typeface="Yu Gothic"/>
                <a:ea typeface="Yu Gothic"/>
                <a:cs typeface="Yu Gothic"/>
              </a:rPr>
              <a:t>4. 文脈付き質問</a:t>
            </a:r>
          </a:p>
        </p:txBody>
      </p:sp>
      <p:sp>
        <p:nvSpPr>
          <p:cNvPr id="21" name="">
            <a:extLst xmlns:a="http://schemas.openxmlformats.org/drawingml/2006/main">
              <a:ext uri="{FF2B5EF4-FFF2-40B4-BE49-F238E27FC236}">
                <a16:creationId xmlns:a16="http://schemas.microsoft.com/office/drawing/2014/main" id="{2F968D0E-2881-4283-975E-C7BBDAF27D46}"/>
              </a:ext>
            </a:extLst>
          </p:cNvPr>
          <p:cNvSpPr>
            <a:spLocks xmlns:a="http://schemas.openxmlformats.org/drawingml/2006/main" noGrp="1"/>
          </p:cNvSpPr>
          <p:nvPr/>
        </p:nvSpPr>
        <p:spPr>
          <a:xfrm xmlns:a="http://schemas.openxmlformats.org/drawingml/2006/main">
            <a:off x="3352800" y="442912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質問を講義箇所・カテゴリと結び、教員が答えやすくする</a:t>
            </a:r>
          </a:p>
        </p:txBody>
      </p:sp>
      <p:sp>
        <p:nvSpPr>
          <p:cNvPr id="22" name="">
            <a:extLst xmlns:a="http://schemas.openxmlformats.org/drawingml/2006/main">
              <a:ext uri="{FF2B5EF4-FFF2-40B4-BE49-F238E27FC236}">
                <a16:creationId xmlns:a16="http://schemas.microsoft.com/office/drawing/2014/main" id="{33CB48B7-AB44-4C74-BDB5-B2745CCF77DE}"/>
              </a:ext>
            </a:extLst>
          </p:cNvPr>
          <p:cNvSpPr>
            <a:spLocks xmlns:a="http://schemas.openxmlformats.org/drawingml/2006/main" noGrp="1"/>
          </p:cNvSpPr>
          <p:nvPr/>
        </p:nvSpPr>
        <p:spPr>
          <a:xfrm xmlns:a="http://schemas.openxmlformats.org/drawingml/2006/main">
            <a:off x="8972550" y="44291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8B8B8B"/>
                </a:solidFill>
                <a:latin typeface="Yu Gothic"/>
                <a:ea typeface="Yu Gothic"/>
                <a:cs typeface="Yu Gothic"/>
              </a:defRPr>
            </a:pPr>
            <a:r>
              <a:rPr sz="1275" b="0">
                <a:solidFill>
                  <a:srgbClr val="8B8B8B"/>
                </a:solidFill>
                <a:latin typeface="Yu Gothic"/>
                <a:ea typeface="Yu Gothic"/>
                <a:cs typeface="Yu Gothic"/>
              </a:rPr>
              <a:t>Montgomery; Tan</a:t>
            </a:r>
          </a:p>
        </p:txBody>
      </p:sp>
      <p:sp>
        <p:nvSpPr>
          <p:cNvPr id="23" name="">
            <a:extLst xmlns:a="http://schemas.openxmlformats.org/drawingml/2006/main">
              <a:ext uri="{FF2B5EF4-FFF2-40B4-BE49-F238E27FC236}">
                <a16:creationId xmlns:a16="http://schemas.microsoft.com/office/drawing/2014/main" id="{7D9A291A-F9F8-41D5-A820-77A1E63113C3}"/>
              </a:ext>
            </a:extLst>
          </p:cNvPr>
          <p:cNvSpPr>
            <a:spLocks xmlns:a="http://schemas.openxmlformats.org/drawingml/2006/main" noGrp="1"/>
          </p:cNvSpPr>
          <p:nvPr/>
        </p:nvSpPr>
        <p:spPr>
          <a:xfrm xmlns:a="http://schemas.openxmlformats.org/drawingml/2006/main">
            <a:off x="590550" y="4933950"/>
            <a:ext cx="10668000" cy="6667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8D3FFB28-8B61-4DFD-A4AE-138EB2DB1D81}"/>
              </a:ext>
            </a:extLst>
          </p:cNvPr>
          <p:cNvSpPr>
            <a:spLocks xmlns:a="http://schemas.openxmlformats.org/drawingml/2006/main" noGrp="1"/>
          </p:cNvSpPr>
          <p:nvPr/>
        </p:nvSpPr>
        <p:spPr>
          <a:xfrm xmlns:a="http://schemas.openxmlformats.org/drawingml/2006/main">
            <a:off x="762000" y="5105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6B35"/>
                </a:solidFill>
                <a:latin typeface="Yu Gothic"/>
                <a:ea typeface="Yu Gothic"/>
                <a:cs typeface="Yu Gothic"/>
              </a:defRPr>
            </a:pPr>
            <a:r>
              <a:rPr sz="1500" b="1">
                <a:solidFill>
                  <a:srgbClr val="FF6B35"/>
                </a:solidFill>
                <a:latin typeface="Yu Gothic"/>
                <a:ea typeface="Yu Gothic"/>
                <a:cs typeface="Yu Gothic"/>
              </a:rPr>
              <a:t>5. 支援中心</a:t>
            </a:r>
          </a:p>
        </p:txBody>
      </p:sp>
      <p:sp>
        <p:nvSpPr>
          <p:cNvPr id="25" name="">
            <a:extLst xmlns:a="http://schemas.openxmlformats.org/drawingml/2006/main">
              <a:ext uri="{FF2B5EF4-FFF2-40B4-BE49-F238E27FC236}">
                <a16:creationId xmlns:a16="http://schemas.microsoft.com/office/drawing/2014/main" id="{DDAFF794-59C9-442F-9057-F21237C58F0C}"/>
              </a:ext>
            </a:extLst>
          </p:cNvPr>
          <p:cNvSpPr>
            <a:spLocks xmlns:a="http://schemas.openxmlformats.org/drawingml/2006/main" noGrp="1"/>
          </p:cNvSpPr>
          <p:nvPr/>
        </p:nvSpPr>
        <p:spPr>
          <a:xfrm xmlns:a="http://schemas.openxmlformats.org/drawingml/2006/main">
            <a:off x="3352800" y="509587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競争や比較ではなく、理解支援・形成的フィードバックへ使う</a:t>
            </a:r>
          </a:p>
        </p:txBody>
      </p:sp>
      <p:sp>
        <p:nvSpPr>
          <p:cNvPr id="26" name="">
            <a:extLst xmlns:a="http://schemas.openxmlformats.org/drawingml/2006/main">
              <a:ext uri="{FF2B5EF4-FFF2-40B4-BE49-F238E27FC236}">
                <a16:creationId xmlns:a16="http://schemas.microsoft.com/office/drawing/2014/main" id="{29863B48-CD8B-4923-8E0E-4FE63EA1AE53}"/>
              </a:ext>
            </a:extLst>
          </p:cNvPr>
          <p:cNvSpPr>
            <a:spLocks xmlns:a="http://schemas.openxmlformats.org/drawingml/2006/main" noGrp="1"/>
          </p:cNvSpPr>
          <p:nvPr/>
        </p:nvSpPr>
        <p:spPr>
          <a:xfrm xmlns:a="http://schemas.openxmlformats.org/drawingml/2006/main">
            <a:off x="8972550" y="50958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8B8B8B"/>
                </a:solidFill>
                <a:latin typeface="Yu Gothic"/>
                <a:ea typeface="Yu Gothic"/>
                <a:cs typeface="Yu Gothic"/>
              </a:defRPr>
            </a:pPr>
            <a:r>
              <a:rPr sz="1275" b="0">
                <a:solidFill>
                  <a:srgbClr val="8B8B8B"/>
                </a:solidFill>
                <a:latin typeface="Yu Gothic"/>
                <a:ea typeface="Yu Gothic"/>
                <a:cs typeface="Yu Gothic"/>
              </a:rPr>
              <a:t>Almeida; Cooper</a:t>
            </a:r>
          </a:p>
        </p:txBody>
      </p:sp>
      <p:sp>
        <p:nvSpPr>
          <p:cNvPr id="27" name="">
            <a:extLst xmlns:a="http://schemas.openxmlformats.org/drawingml/2006/main">
              <a:ext uri="{FF2B5EF4-FFF2-40B4-BE49-F238E27FC236}">
                <a16:creationId xmlns:a16="http://schemas.microsoft.com/office/drawing/2014/main" id="{58BFD53F-A0D8-4B20-92B9-531461501B77}"/>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設計原則</a:t>
            </a:r>
          </a:p>
        </p:txBody>
      </p:sp>
      <p:sp>
        <p:nvSpPr>
          <p:cNvPr id="28" name="">
            <a:extLst xmlns:a="http://schemas.openxmlformats.org/drawingml/2006/main">
              <a:ext uri="{FF2B5EF4-FFF2-40B4-BE49-F238E27FC236}">
                <a16:creationId xmlns:a16="http://schemas.microsoft.com/office/drawing/2014/main" id="{3CC82395-23F5-43FE-9803-01C0D54F1AE3}"/>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13</a:t>
            </a:r>
          </a:p>
        </p:txBody>
      </p:sp>
    </p:spTree>
    <p:extLst>
      <p:ext uri="{BB962C8B-B14F-4D97-AF65-F5344CB8AC3E}">
        <p14:creationId xmlns:p14="http://schemas.microsoft.com/office/powerpoint/2010/main" val="6390054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3DD3B6-54D9-4507-9F3E-489440FCCC38}"/>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授業サポートボタンの機能案</a:t>
            </a:r>
          </a:p>
        </p:txBody>
      </p:sp>
      <p:sp>
        <p:nvSpPr>
          <p:cNvPr id="2" name="">
            <a:extLst xmlns:a="http://schemas.openxmlformats.org/drawingml/2006/main">
              <a:ext uri="{FF2B5EF4-FFF2-40B4-BE49-F238E27FC236}">
                <a16:creationId xmlns:a16="http://schemas.microsoft.com/office/drawing/2014/main" id="{3561C0E0-539F-4DDF-A581-131E8DFD1418}"/>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991ED50-4DFA-4A6D-8AC6-6BDC92101515}"/>
              </a:ext>
            </a:extLst>
          </p:cNvPr>
          <p:cNvSpPr>
            <a:spLocks xmlns:a="http://schemas.openxmlformats.org/drawingml/2006/main" noGrp="1"/>
          </p:cNvSpPr>
          <p:nvPr/>
        </p:nvSpPr>
        <p:spPr>
          <a:xfrm xmlns:a="http://schemas.openxmlformats.org/drawingml/2006/main">
            <a:off x="685800" y="18288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1111"/>
                </a:solidFill>
                <a:latin typeface="Yu Gothic"/>
                <a:ea typeface="Yu Gothic"/>
                <a:cs typeface="Yu Gothic"/>
              </a:defRPr>
            </a:pPr>
            <a:r>
              <a:rPr sz="1875" b="1">
                <a:solidFill>
                  <a:srgbClr val="111111"/>
                </a:solidFill>
                <a:latin typeface="Yu Gothic"/>
                <a:ea typeface="Yu Gothic"/>
                <a:cs typeface="Yu Gothic"/>
              </a:rPr>
              <a:t>学生画面: いまの状態を1タップで送る</a:t>
            </a:r>
          </a:p>
        </p:txBody>
      </p:sp>
      <p:sp>
        <p:nvSpPr>
          <p:cNvPr id="4" name="">
            <a:extLst xmlns:a="http://schemas.openxmlformats.org/drawingml/2006/main">
              <a:ext uri="{FF2B5EF4-FFF2-40B4-BE49-F238E27FC236}">
                <a16:creationId xmlns:a16="http://schemas.microsoft.com/office/drawing/2014/main" id="{F2E897F7-5869-4421-ACA5-EEEC8C543CE0}"/>
              </a:ext>
            </a:extLst>
          </p:cNvPr>
          <p:cNvSpPr>
            <a:spLocks xmlns:a="http://schemas.openxmlformats.org/drawingml/2006/main" noGrp="1"/>
          </p:cNvSpPr>
          <p:nvPr/>
        </p:nvSpPr>
        <p:spPr>
          <a:xfrm xmlns:a="http://schemas.openxmlformats.org/drawingml/2006/main">
            <a:off x="704850" y="2476500"/>
            <a:ext cx="1714500" cy="5143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A40A9395-F5AE-4B31-A7E3-62D1FD01F604}"/>
              </a:ext>
            </a:extLst>
          </p:cNvPr>
          <p:cNvSpPr>
            <a:spLocks xmlns:a="http://schemas.openxmlformats.org/drawingml/2006/main" noGrp="1"/>
          </p:cNvSpPr>
          <p:nvPr/>
        </p:nvSpPr>
        <p:spPr>
          <a:xfrm xmlns:a="http://schemas.openxmlformats.org/drawingml/2006/main">
            <a:off x="838200" y="26098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latin typeface="Yu Gothic"/>
                <a:ea typeface="Yu Gothic"/>
                <a:cs typeface="Yu Gothic"/>
              </a:defRPr>
            </a:pPr>
            <a:r>
              <a:rPr sz="1350" b="1">
                <a:solidFill>
                  <a:srgbClr val="111111"/>
                </a:solidFill>
                <a:latin typeface="Yu Gothic"/>
                <a:ea typeface="Yu Gothic"/>
                <a:cs typeface="Yu Gothic"/>
              </a:rPr>
              <a:t>分からない</a:t>
            </a:r>
          </a:p>
        </p:txBody>
      </p:sp>
      <p:sp>
        <p:nvSpPr>
          <p:cNvPr id="6" name="">
            <a:extLst xmlns:a="http://schemas.openxmlformats.org/drawingml/2006/main">
              <a:ext uri="{FF2B5EF4-FFF2-40B4-BE49-F238E27FC236}">
                <a16:creationId xmlns:a16="http://schemas.microsoft.com/office/drawing/2014/main" id="{44052B3A-A797-4365-8521-D7D543A38864}"/>
              </a:ext>
            </a:extLst>
          </p:cNvPr>
          <p:cNvSpPr>
            <a:spLocks xmlns:a="http://schemas.openxmlformats.org/drawingml/2006/main" noGrp="1"/>
          </p:cNvSpPr>
          <p:nvPr/>
        </p:nvSpPr>
        <p:spPr>
          <a:xfrm xmlns:a="http://schemas.openxmlformats.org/drawingml/2006/main">
            <a:off x="2705100" y="2476500"/>
            <a:ext cx="1714500" cy="5143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BC9DAE83-8AEF-437B-AF8E-1D2B2F88E7A8}"/>
              </a:ext>
            </a:extLst>
          </p:cNvPr>
          <p:cNvSpPr>
            <a:spLocks xmlns:a="http://schemas.openxmlformats.org/drawingml/2006/main" noGrp="1"/>
          </p:cNvSpPr>
          <p:nvPr/>
        </p:nvSpPr>
        <p:spPr>
          <a:xfrm xmlns:a="http://schemas.openxmlformats.org/drawingml/2006/main">
            <a:off x="2838450" y="26098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latin typeface="Yu Gothic"/>
                <a:ea typeface="Yu Gothic"/>
                <a:cs typeface="Yu Gothic"/>
              </a:defRPr>
            </a:pPr>
            <a:r>
              <a:rPr sz="1350" b="1">
                <a:solidFill>
                  <a:srgbClr val="111111"/>
                </a:solidFill>
                <a:latin typeface="Yu Gothic"/>
                <a:ea typeface="Yu Gothic"/>
                <a:cs typeface="Yu Gothic"/>
              </a:rPr>
              <a:t>もう一度</a:t>
            </a:r>
          </a:p>
        </p:txBody>
      </p:sp>
      <p:sp>
        <p:nvSpPr>
          <p:cNvPr id="8" name="">
            <a:extLst xmlns:a="http://schemas.openxmlformats.org/drawingml/2006/main">
              <a:ext uri="{FF2B5EF4-FFF2-40B4-BE49-F238E27FC236}">
                <a16:creationId xmlns:a16="http://schemas.microsoft.com/office/drawing/2014/main" id="{69149732-6593-4FB6-84B8-F7872833E2B5}"/>
              </a:ext>
            </a:extLst>
          </p:cNvPr>
          <p:cNvSpPr>
            <a:spLocks xmlns:a="http://schemas.openxmlformats.org/drawingml/2006/main" noGrp="1"/>
          </p:cNvSpPr>
          <p:nvPr/>
        </p:nvSpPr>
        <p:spPr>
          <a:xfrm xmlns:a="http://schemas.openxmlformats.org/drawingml/2006/main">
            <a:off x="704850" y="3257550"/>
            <a:ext cx="1714500" cy="5143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910F696E-C869-4D01-9003-94B373BCAF81}"/>
              </a:ext>
            </a:extLst>
          </p:cNvPr>
          <p:cNvSpPr>
            <a:spLocks xmlns:a="http://schemas.openxmlformats.org/drawingml/2006/main" noGrp="1"/>
          </p:cNvSpPr>
          <p:nvPr/>
        </p:nvSpPr>
        <p:spPr>
          <a:xfrm xmlns:a="http://schemas.openxmlformats.org/drawingml/2006/main">
            <a:off x="838200" y="33909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latin typeface="Yu Gothic"/>
                <a:ea typeface="Yu Gothic"/>
                <a:cs typeface="Yu Gothic"/>
              </a:defRPr>
            </a:pPr>
            <a:r>
              <a:rPr sz="1350" b="1">
                <a:solidFill>
                  <a:srgbClr val="111111"/>
                </a:solidFill>
                <a:latin typeface="Yu Gothic"/>
                <a:ea typeface="Yu Gothic"/>
                <a:cs typeface="Yu Gothic"/>
              </a:rPr>
              <a:t>速い</a:t>
            </a:r>
          </a:p>
        </p:txBody>
      </p:sp>
      <p:sp>
        <p:nvSpPr>
          <p:cNvPr id="10" name="">
            <a:extLst xmlns:a="http://schemas.openxmlformats.org/drawingml/2006/main">
              <a:ext uri="{FF2B5EF4-FFF2-40B4-BE49-F238E27FC236}">
                <a16:creationId xmlns:a16="http://schemas.microsoft.com/office/drawing/2014/main" id="{E1771697-9C69-495F-8AC6-5E034DF7AAB5}"/>
              </a:ext>
            </a:extLst>
          </p:cNvPr>
          <p:cNvSpPr>
            <a:spLocks xmlns:a="http://schemas.openxmlformats.org/drawingml/2006/main" noGrp="1"/>
          </p:cNvSpPr>
          <p:nvPr/>
        </p:nvSpPr>
        <p:spPr>
          <a:xfrm xmlns:a="http://schemas.openxmlformats.org/drawingml/2006/main">
            <a:off x="2705100" y="3257550"/>
            <a:ext cx="1714500" cy="5143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FB1263FC-BAB2-4FDC-9883-57B0E2D7B326}"/>
              </a:ext>
            </a:extLst>
          </p:cNvPr>
          <p:cNvSpPr>
            <a:spLocks xmlns:a="http://schemas.openxmlformats.org/drawingml/2006/main" noGrp="1"/>
          </p:cNvSpPr>
          <p:nvPr/>
        </p:nvSpPr>
        <p:spPr>
          <a:xfrm xmlns:a="http://schemas.openxmlformats.org/drawingml/2006/main">
            <a:off x="2838450" y="33909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latin typeface="Yu Gothic"/>
                <a:ea typeface="Yu Gothic"/>
                <a:cs typeface="Yu Gothic"/>
              </a:defRPr>
            </a:pPr>
            <a:r>
              <a:rPr sz="1350" b="1">
                <a:solidFill>
                  <a:srgbClr val="111111"/>
                </a:solidFill>
                <a:latin typeface="Yu Gothic"/>
                <a:ea typeface="Yu Gothic"/>
                <a:cs typeface="Yu Gothic"/>
              </a:rPr>
              <a:t>演習で詰まった</a:t>
            </a:r>
          </a:p>
        </p:txBody>
      </p:sp>
      <p:sp>
        <p:nvSpPr>
          <p:cNvPr id="12" name="">
            <a:extLst xmlns:a="http://schemas.openxmlformats.org/drawingml/2006/main">
              <a:ext uri="{FF2B5EF4-FFF2-40B4-BE49-F238E27FC236}">
                <a16:creationId xmlns:a16="http://schemas.microsoft.com/office/drawing/2014/main" id="{730604F8-0D0B-4B68-AB3E-C4B5AC7B72B0}"/>
              </a:ext>
            </a:extLst>
          </p:cNvPr>
          <p:cNvSpPr>
            <a:spLocks xmlns:a="http://schemas.openxmlformats.org/drawingml/2006/main" noGrp="1"/>
          </p:cNvSpPr>
          <p:nvPr/>
        </p:nvSpPr>
        <p:spPr>
          <a:xfrm xmlns:a="http://schemas.openxmlformats.org/drawingml/2006/main">
            <a:off x="704850" y="4038600"/>
            <a:ext cx="1714500" cy="5143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0D7E8924-7C79-4027-8216-31ED2112A87E}"/>
              </a:ext>
            </a:extLst>
          </p:cNvPr>
          <p:cNvSpPr>
            <a:spLocks xmlns:a="http://schemas.openxmlformats.org/drawingml/2006/main" noGrp="1"/>
          </p:cNvSpPr>
          <p:nvPr/>
        </p:nvSpPr>
        <p:spPr>
          <a:xfrm xmlns:a="http://schemas.openxmlformats.org/drawingml/2006/main">
            <a:off x="838200" y="41719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11111"/>
                </a:solidFill>
                <a:latin typeface="Yu Gothic"/>
                <a:ea typeface="Yu Gothic"/>
                <a:cs typeface="Yu Gothic"/>
              </a:defRPr>
            </a:pPr>
            <a:r>
              <a:rPr sz="1350" b="1">
                <a:solidFill>
                  <a:srgbClr val="111111"/>
                </a:solidFill>
                <a:latin typeface="Yu Gothic"/>
                <a:ea typeface="Yu Gothic"/>
                <a:cs typeface="Yu Gothic"/>
              </a:rPr>
              <a:t>質問したい</a:t>
            </a:r>
          </a:p>
        </p:txBody>
      </p:sp>
      <p:sp>
        <p:nvSpPr>
          <p:cNvPr id="14" name="">
            <a:extLst xmlns:a="http://schemas.openxmlformats.org/drawingml/2006/main">
              <a:ext uri="{FF2B5EF4-FFF2-40B4-BE49-F238E27FC236}">
                <a16:creationId xmlns:a16="http://schemas.microsoft.com/office/drawing/2014/main" id="{8BEE9F01-E96D-4FA4-8051-1BD0FFD25466}"/>
              </a:ext>
            </a:extLst>
          </p:cNvPr>
          <p:cNvSpPr>
            <a:spLocks xmlns:a="http://schemas.openxmlformats.org/drawingml/2006/main" noGrp="1"/>
          </p:cNvSpPr>
          <p:nvPr/>
        </p:nvSpPr>
        <p:spPr>
          <a:xfrm xmlns:a="http://schemas.openxmlformats.org/drawingml/2006/main">
            <a:off x="2705100" y="4038600"/>
            <a:ext cx="1714500" cy="514350"/>
          </a:xfrm>
          <a:prstGeom xmlns:a="http://schemas.openxmlformats.org/drawingml/2006/main" prst="rect">
            <a:avLst/>
          </a:prstGeom>
          <a:solidFill xmlns:a="http://schemas.openxmlformats.org/drawingml/2006/main">
            <a:srgbClr val="FFF4EF"/>
          </a:solidFill>
          <a:ln xmlns:a="http://schemas.openxmlformats.org/drawingml/2006/main" w="9525">
            <a:solidFill>
              <a:srgbClr val="FFD2C2"/>
            </a:solidFill>
            <a:prstDash val="solid"/>
          </a:ln>
        </p:spPr>
      </p:sp>
      <p:sp>
        <p:nvSpPr>
          <p:cNvPr id="15" name="">
            <a:extLst xmlns:a="http://schemas.openxmlformats.org/drawingml/2006/main">
              <a:ext uri="{FF2B5EF4-FFF2-40B4-BE49-F238E27FC236}">
                <a16:creationId xmlns:a16="http://schemas.microsoft.com/office/drawing/2014/main" id="{F582DA9D-979F-4A50-BE9A-55331EDF7815}"/>
              </a:ext>
            </a:extLst>
          </p:cNvPr>
          <p:cNvSpPr>
            <a:spLocks xmlns:a="http://schemas.openxmlformats.org/drawingml/2006/main" noGrp="1"/>
          </p:cNvSpPr>
          <p:nvPr/>
        </p:nvSpPr>
        <p:spPr>
          <a:xfrm xmlns:a="http://schemas.openxmlformats.org/drawingml/2006/main">
            <a:off x="2838450" y="41719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6B35"/>
                </a:solidFill>
                <a:latin typeface="Yu Gothic"/>
                <a:ea typeface="Yu Gothic"/>
                <a:cs typeface="Yu Gothic"/>
              </a:defRPr>
            </a:pPr>
            <a:r>
              <a:rPr sz="1350" b="1">
                <a:solidFill>
                  <a:srgbClr val="FF6B35"/>
                </a:solidFill>
                <a:latin typeface="Yu Gothic"/>
                <a:ea typeface="Yu Gothic"/>
                <a:cs typeface="Yu Gothic"/>
              </a:rPr>
              <a:t>自分も知りたい</a:t>
            </a:r>
          </a:p>
        </p:txBody>
      </p:sp>
      <p:sp>
        <p:nvSpPr>
          <p:cNvPr id="16" name="">
            <a:extLst xmlns:a="http://schemas.openxmlformats.org/drawingml/2006/main">
              <a:ext uri="{FF2B5EF4-FFF2-40B4-BE49-F238E27FC236}">
                <a16:creationId xmlns:a16="http://schemas.microsoft.com/office/drawing/2014/main" id="{71F3E4AB-731C-4643-B445-74B45ECF1A2E}"/>
              </a:ext>
            </a:extLst>
          </p:cNvPr>
          <p:cNvSpPr>
            <a:spLocks xmlns:a="http://schemas.openxmlformats.org/drawingml/2006/main" noGrp="1"/>
          </p:cNvSpPr>
          <p:nvPr/>
        </p:nvSpPr>
        <p:spPr>
          <a:xfrm xmlns:a="http://schemas.openxmlformats.org/drawingml/2006/main">
            <a:off x="6667500" y="18288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11111"/>
                </a:solidFill>
                <a:latin typeface="Yu Gothic"/>
                <a:ea typeface="Yu Gothic"/>
                <a:cs typeface="Yu Gothic"/>
              </a:defRPr>
            </a:pPr>
            <a:r>
              <a:rPr sz="1875" b="1">
                <a:solidFill>
                  <a:srgbClr val="111111"/>
                </a:solidFill>
                <a:latin typeface="Yu Gothic"/>
                <a:ea typeface="Yu Gothic"/>
                <a:cs typeface="Yu Gothic"/>
              </a:rPr>
              <a:t>教員画面: 授業中に読む</a:t>
            </a:r>
          </a:p>
        </p:txBody>
      </p:sp>
      <p:sp>
        <p:nvSpPr>
          <p:cNvPr id="17" name="">
            <a:extLst xmlns:a="http://schemas.openxmlformats.org/drawingml/2006/main">
              <a:ext uri="{FF2B5EF4-FFF2-40B4-BE49-F238E27FC236}">
                <a16:creationId xmlns:a16="http://schemas.microsoft.com/office/drawing/2014/main" id="{CCC49B4D-00E9-46D2-A3CB-06747D29B160}"/>
              </a:ext>
            </a:extLst>
          </p:cNvPr>
          <p:cNvSpPr>
            <a:spLocks xmlns:a="http://schemas.openxmlformats.org/drawingml/2006/main" noGrp="1"/>
          </p:cNvSpPr>
          <p:nvPr/>
        </p:nvSpPr>
        <p:spPr>
          <a:xfrm xmlns:a="http://schemas.openxmlformats.org/drawingml/2006/main">
            <a:off x="6667500" y="2457450"/>
            <a:ext cx="4000500" cy="2238375"/>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3039CDC3-110E-4229-993E-DCB376496BBB}"/>
              </a:ext>
            </a:extLst>
          </p:cNvPr>
          <p:cNvSpPr>
            <a:spLocks xmlns:a="http://schemas.openxmlformats.org/drawingml/2006/main" noGrp="1"/>
          </p:cNvSpPr>
          <p:nvPr/>
        </p:nvSpPr>
        <p:spPr>
          <a:xfrm xmlns:a="http://schemas.openxmlformats.org/drawingml/2006/main">
            <a:off x="6953250" y="2724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latin typeface="Yu Gothic"/>
                <a:ea typeface="Yu Gothic"/>
                <a:cs typeface="Yu Gothic"/>
              </a:defRPr>
            </a:pPr>
            <a:r>
              <a:rPr sz="1650" b="1">
                <a:solidFill>
                  <a:srgbClr val="111111"/>
                </a:solidFill>
                <a:latin typeface="Yu Gothic"/>
                <a:ea typeface="Yu Gothic"/>
                <a:cs typeface="Yu Gothic"/>
              </a:rPr>
              <a:t>リアルタイム集計</a:t>
            </a:r>
          </a:p>
        </p:txBody>
      </p:sp>
      <p:graphicFrame>
        <p:nvGraphicFramePr>
          <p:cNvPr id="42" name="Chart"/>
          <p:cNvGraphicFramePr/>
          <p:nvPr/>
        </p:nvGraphicFramePr>
        <p:xfrm>
          <a:off xmlns:a="http://schemas.openxmlformats.org/drawingml/2006/main" x="6953250" y="3190875"/>
          <a:ext xmlns:a="http://schemas.openxmlformats.org/drawingml/2006/main" cx="3143250" cy="1190625"/>
        </p:xfrm>
        <a:graphic xmlns:a="http://schemas.openxmlformats.org/drawingml/2006/main">
          <a:graphicData uri="http://schemas.openxmlformats.org/drawingml/2006/chart">
            <c:chart xmlns:r="http://schemas.openxmlformats.org/officeDocument/2006/relationships" xmlns:c="http://schemas.openxmlformats.org/drawingml/2006/chart" r:id="Rc542e3f462974397"/>
          </a:graphicData>
        </a:graphic>
      </p:graphicFrame>
      <p:sp>
        <p:nvSpPr>
          <p:cNvPr id="20" name="">
            <a:extLst xmlns:a="http://schemas.openxmlformats.org/drawingml/2006/main">
              <a:ext uri="{FF2B5EF4-FFF2-40B4-BE49-F238E27FC236}">
                <a16:creationId xmlns:a16="http://schemas.microsoft.com/office/drawing/2014/main" id="{1055D095-F399-4C27-A2A4-6DF70AD23ADD}"/>
              </a:ext>
            </a:extLst>
          </p:cNvPr>
          <p:cNvSpPr>
            <a:spLocks xmlns:a="http://schemas.openxmlformats.org/drawingml/2006/main" noGrp="1"/>
          </p:cNvSpPr>
          <p:nvPr/>
        </p:nvSpPr>
        <p:spPr>
          <a:xfrm xmlns:a="http://schemas.openxmlformats.org/drawingml/2006/main">
            <a:off x="6953250" y="44767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latin typeface="Yu Gothic"/>
                <a:ea typeface="Yu Gothic"/>
                <a:cs typeface="Yu Gothic"/>
              </a:defRPr>
            </a:pPr>
            <a:r>
              <a:rPr sz="1200" b="0">
                <a:solidFill>
                  <a:srgbClr val="555555"/>
                </a:solidFill>
                <a:latin typeface="Yu Gothic"/>
                <a:ea typeface="Yu Gothic"/>
                <a:cs typeface="Yu Gothic"/>
              </a:rPr>
              <a:t>質問キュー / 多い困りごと / 回答済み管理</a:t>
            </a:r>
          </a:p>
        </p:txBody>
      </p:sp>
      <p:sp>
        <p:nvSpPr>
          <p:cNvPr id="21" name="">
            <a:extLst xmlns:a="http://schemas.openxmlformats.org/drawingml/2006/main">
              <a:ext uri="{FF2B5EF4-FFF2-40B4-BE49-F238E27FC236}">
                <a16:creationId xmlns:a16="http://schemas.microsoft.com/office/drawing/2014/main" id="{2D1AF5E4-91C0-4A44-A598-FDDBB212B41B}"/>
              </a:ext>
            </a:extLst>
          </p:cNvPr>
          <p:cNvSpPr>
            <a:spLocks xmlns:a="http://schemas.openxmlformats.org/drawingml/2006/main" noGrp="1"/>
          </p:cNvSpPr>
          <p:nvPr/>
        </p:nvSpPr>
        <p:spPr>
          <a:xfrm xmlns:a="http://schemas.openxmlformats.org/drawingml/2006/main">
            <a:off x="742950" y="5524500"/>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FF6B35"/>
                </a:solidFill>
                <a:latin typeface="Yu Gothic"/>
                <a:ea typeface="Yu Gothic"/>
                <a:cs typeface="Yu Gothic"/>
              </a:defRPr>
            </a:pPr>
            <a:r>
              <a:rPr sz="1800" b="1">
                <a:solidFill>
                  <a:srgbClr val="FF6B35"/>
                </a:solidFill>
                <a:latin typeface="Yu Gothic"/>
                <a:ea typeface="Yu Gothic"/>
                <a:cs typeface="Yu Gothic"/>
              </a:rPr>
              <a:t>設計の中心は「盛り上げる」ではなく、学生の困りごとを授業へ戻すこと。</a:t>
            </a:r>
          </a:p>
        </p:txBody>
      </p:sp>
      <p:sp>
        <p:nvSpPr>
          <p:cNvPr id="22" name="">
            <a:extLst xmlns:a="http://schemas.openxmlformats.org/drawingml/2006/main">
              <a:ext uri="{FF2B5EF4-FFF2-40B4-BE49-F238E27FC236}">
                <a16:creationId xmlns:a16="http://schemas.microsoft.com/office/drawing/2014/main" id="{AD7C9C91-B8FC-4E06-87C9-3F15C8DDD124}"/>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提案</a:t>
            </a:r>
          </a:p>
        </p:txBody>
      </p:sp>
      <p:sp>
        <p:nvSpPr>
          <p:cNvPr id="23" name="">
            <a:extLst xmlns:a="http://schemas.openxmlformats.org/drawingml/2006/main">
              <a:ext uri="{FF2B5EF4-FFF2-40B4-BE49-F238E27FC236}">
                <a16:creationId xmlns:a16="http://schemas.microsoft.com/office/drawing/2014/main" id="{073FA9C3-C3FE-4CA6-A983-FA752A6DBD83}"/>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14</a:t>
            </a:r>
          </a:p>
        </p:txBody>
      </p:sp>
    </p:spTree>
    <p:extLst>
      <p:ext uri="{BB962C8B-B14F-4D97-AF65-F5344CB8AC3E}">
        <p14:creationId xmlns:p14="http://schemas.microsoft.com/office/powerpoint/2010/main" val="19131308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E1A9D2-0C5B-4FE4-BA0E-94CDEBBDC1A5}"/>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避けるべき設計と理由</a:t>
            </a:r>
          </a:p>
        </p:txBody>
      </p:sp>
      <p:sp>
        <p:nvSpPr>
          <p:cNvPr id="2" name="">
            <a:extLst xmlns:a="http://schemas.openxmlformats.org/drawingml/2006/main">
              <a:ext uri="{FF2B5EF4-FFF2-40B4-BE49-F238E27FC236}">
                <a16:creationId xmlns:a16="http://schemas.microsoft.com/office/drawing/2014/main" id="{7194A206-75F5-4403-92CF-4AA25F81757C}"/>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92D962B-ED58-4E35-8968-6A81B7D5F25F}"/>
              </a:ext>
            </a:extLst>
          </p:cNvPr>
          <p:cNvSpPr>
            <a:spLocks xmlns:a="http://schemas.openxmlformats.org/drawingml/2006/main" noGrp="1"/>
          </p:cNvSpPr>
          <p:nvPr/>
        </p:nvSpPr>
        <p:spPr>
          <a:xfrm xmlns:a="http://schemas.openxmlformats.org/drawingml/2006/main">
            <a:off x="723900" y="18859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B42318"/>
                </a:solidFill>
                <a:latin typeface="Yu Gothic"/>
                <a:ea typeface="Yu Gothic"/>
                <a:cs typeface="Yu Gothic"/>
              </a:defRPr>
            </a:pPr>
            <a:r>
              <a:rPr sz="2100" b="1">
                <a:solidFill>
                  <a:srgbClr val="B42318"/>
                </a:solidFill>
                <a:latin typeface="Yu Gothic"/>
                <a:ea typeface="Yu Gothic"/>
                <a:cs typeface="Yu Gothic"/>
              </a:rPr>
              <a:t>×</a:t>
            </a:r>
          </a:p>
        </p:txBody>
      </p:sp>
      <p:sp>
        <p:nvSpPr>
          <p:cNvPr id="4" name="">
            <a:extLst xmlns:a="http://schemas.openxmlformats.org/drawingml/2006/main">
              <a:ext uri="{FF2B5EF4-FFF2-40B4-BE49-F238E27FC236}">
                <a16:creationId xmlns:a16="http://schemas.microsoft.com/office/drawing/2014/main" id="{3F9E0BE4-F802-4990-A8E9-8DE743A9A0F7}"/>
              </a:ext>
            </a:extLst>
          </p:cNvPr>
          <p:cNvSpPr>
            <a:spLocks xmlns:a="http://schemas.openxmlformats.org/drawingml/2006/main" noGrp="1"/>
          </p:cNvSpPr>
          <p:nvPr/>
        </p:nvSpPr>
        <p:spPr>
          <a:xfrm xmlns:a="http://schemas.openxmlformats.org/drawingml/2006/main">
            <a:off x="1219200" y="1809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質問数ランキング</a:t>
            </a:r>
          </a:p>
        </p:txBody>
      </p:sp>
      <p:sp>
        <p:nvSpPr>
          <p:cNvPr id="5" name="">
            <a:extLst xmlns:a="http://schemas.openxmlformats.org/drawingml/2006/main">
              <a:ext uri="{FF2B5EF4-FFF2-40B4-BE49-F238E27FC236}">
                <a16:creationId xmlns:a16="http://schemas.microsoft.com/office/drawing/2014/main" id="{7A705E9B-129B-4879-A443-1BBC2103810B}"/>
              </a:ext>
            </a:extLst>
          </p:cNvPr>
          <p:cNvSpPr>
            <a:spLocks xmlns:a="http://schemas.openxmlformats.org/drawingml/2006/main" noGrp="1"/>
          </p:cNvSpPr>
          <p:nvPr/>
        </p:nvSpPr>
        <p:spPr>
          <a:xfrm xmlns:a="http://schemas.openxmlformats.org/drawingml/2006/main">
            <a:off x="3905250" y="18288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55555"/>
                </a:solidFill>
                <a:latin typeface="Yu Gothic"/>
                <a:ea typeface="Yu Gothic"/>
                <a:cs typeface="Yu Gothic"/>
              </a:defRPr>
            </a:pPr>
            <a:r>
              <a:rPr sz="1500" b="0">
                <a:solidFill>
                  <a:srgbClr val="555555"/>
                </a:solidFill>
                <a:latin typeface="Yu Gothic"/>
                <a:ea typeface="Yu Gothic"/>
                <a:cs typeface="Yu Gothic"/>
              </a:rPr>
              <a:t>比較・競争が前面化し、質問しづらい学生をさらに遠ざける</a:t>
            </a:r>
          </a:p>
        </p:txBody>
      </p:sp>
      <p:sp>
        <p:nvSpPr>
          <p:cNvPr id="6" name="">
            <a:extLst xmlns:a="http://schemas.openxmlformats.org/drawingml/2006/main">
              <a:ext uri="{FF2B5EF4-FFF2-40B4-BE49-F238E27FC236}">
                <a16:creationId xmlns:a16="http://schemas.microsoft.com/office/drawing/2014/main" id="{B25E6DF1-05FB-4675-9781-9BABB0B28A4B}"/>
              </a:ext>
            </a:extLst>
          </p:cNvPr>
          <p:cNvSpPr>
            <a:spLocks xmlns:a="http://schemas.openxmlformats.org/drawingml/2006/main" noGrp="1"/>
          </p:cNvSpPr>
          <p:nvPr/>
        </p:nvSpPr>
        <p:spPr>
          <a:xfrm xmlns:a="http://schemas.openxmlformats.org/drawingml/2006/main">
            <a:off x="704850" y="2343150"/>
            <a:ext cx="9906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11D6CE9-035D-44FE-B8E8-14D28E44292C}"/>
              </a:ext>
            </a:extLst>
          </p:cNvPr>
          <p:cNvSpPr>
            <a:spLocks xmlns:a="http://schemas.openxmlformats.org/drawingml/2006/main" noGrp="1"/>
          </p:cNvSpPr>
          <p:nvPr/>
        </p:nvSpPr>
        <p:spPr>
          <a:xfrm xmlns:a="http://schemas.openxmlformats.org/drawingml/2006/main">
            <a:off x="723900" y="26098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B42318"/>
                </a:solidFill>
                <a:latin typeface="Yu Gothic"/>
                <a:ea typeface="Yu Gothic"/>
                <a:cs typeface="Yu Gothic"/>
              </a:defRPr>
            </a:pPr>
            <a:r>
              <a:rPr sz="2100" b="1">
                <a:solidFill>
                  <a:srgbClr val="B4231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FE7CF30C-E525-4B2F-84A2-1CE5E79A0E2C}"/>
              </a:ext>
            </a:extLst>
          </p:cNvPr>
          <p:cNvSpPr>
            <a:spLocks xmlns:a="http://schemas.openxmlformats.org/drawingml/2006/main" noGrp="1"/>
          </p:cNvSpPr>
          <p:nvPr/>
        </p:nvSpPr>
        <p:spPr>
          <a:xfrm xmlns:a="http://schemas.openxmlformats.org/drawingml/2006/main">
            <a:off x="1219200" y="25336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ポイント/バッジ中心</a:t>
            </a:r>
          </a:p>
        </p:txBody>
      </p:sp>
      <p:sp>
        <p:nvSpPr>
          <p:cNvPr id="9" name="">
            <a:extLst xmlns:a="http://schemas.openxmlformats.org/drawingml/2006/main">
              <a:ext uri="{FF2B5EF4-FFF2-40B4-BE49-F238E27FC236}">
                <a16:creationId xmlns:a16="http://schemas.microsoft.com/office/drawing/2014/main" id="{0496A6F6-904C-4240-9208-F30804FBD262}"/>
              </a:ext>
            </a:extLst>
          </p:cNvPr>
          <p:cNvSpPr>
            <a:spLocks xmlns:a="http://schemas.openxmlformats.org/drawingml/2006/main" noGrp="1"/>
          </p:cNvSpPr>
          <p:nvPr/>
        </p:nvSpPr>
        <p:spPr>
          <a:xfrm xmlns:a="http://schemas.openxmlformats.org/drawingml/2006/main">
            <a:off x="3905250" y="25527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55555"/>
                </a:solidFill>
                <a:latin typeface="Yu Gothic"/>
                <a:ea typeface="Yu Gothic"/>
                <a:cs typeface="Yu Gothic"/>
              </a:defRPr>
            </a:pPr>
            <a:r>
              <a:rPr sz="1500" b="0">
                <a:solidFill>
                  <a:srgbClr val="555555"/>
                </a:solidFill>
                <a:latin typeface="Yu Gothic"/>
                <a:ea typeface="Yu Gothic"/>
                <a:cs typeface="Yu Gothic"/>
              </a:rPr>
              <a:t>参加の目的が学習支援から報酬獲得へずれる可能性</a:t>
            </a:r>
          </a:p>
        </p:txBody>
      </p:sp>
      <p:sp>
        <p:nvSpPr>
          <p:cNvPr id="10" name="">
            <a:extLst xmlns:a="http://schemas.openxmlformats.org/drawingml/2006/main">
              <a:ext uri="{FF2B5EF4-FFF2-40B4-BE49-F238E27FC236}">
                <a16:creationId xmlns:a16="http://schemas.microsoft.com/office/drawing/2014/main" id="{EE30119C-76DD-4D0A-9242-37EA1E36CE53}"/>
              </a:ext>
            </a:extLst>
          </p:cNvPr>
          <p:cNvSpPr>
            <a:spLocks xmlns:a="http://schemas.openxmlformats.org/drawingml/2006/main" noGrp="1"/>
          </p:cNvSpPr>
          <p:nvPr/>
        </p:nvSpPr>
        <p:spPr>
          <a:xfrm xmlns:a="http://schemas.openxmlformats.org/drawingml/2006/main">
            <a:off x="704850" y="3067050"/>
            <a:ext cx="9906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7C4E70A-61C9-4B52-916F-1E1C17CF555C}"/>
              </a:ext>
            </a:extLst>
          </p:cNvPr>
          <p:cNvSpPr>
            <a:spLocks xmlns:a="http://schemas.openxmlformats.org/drawingml/2006/main" noGrp="1"/>
          </p:cNvSpPr>
          <p:nvPr/>
        </p:nvSpPr>
        <p:spPr>
          <a:xfrm xmlns:a="http://schemas.openxmlformats.org/drawingml/2006/main">
            <a:off x="723900" y="33337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B42318"/>
                </a:solidFill>
                <a:latin typeface="Yu Gothic"/>
                <a:ea typeface="Yu Gothic"/>
                <a:cs typeface="Yu Gothic"/>
              </a:defRPr>
            </a:pPr>
            <a:r>
              <a:rPr sz="2100" b="1">
                <a:solidFill>
                  <a:srgbClr val="B4231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BFBB7712-0A7B-4FEA-9469-3B1BC7F250AB}"/>
              </a:ext>
            </a:extLst>
          </p:cNvPr>
          <p:cNvSpPr>
            <a:spLocks xmlns:a="http://schemas.openxmlformats.org/drawingml/2006/main" noGrp="1"/>
          </p:cNvSpPr>
          <p:nvPr/>
        </p:nvSpPr>
        <p:spPr>
          <a:xfrm xmlns:a="http://schemas.openxmlformats.org/drawingml/2006/main">
            <a:off x="1219200" y="32575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押した人の公開</a:t>
            </a:r>
          </a:p>
        </p:txBody>
      </p:sp>
      <p:sp>
        <p:nvSpPr>
          <p:cNvPr id="13" name="">
            <a:extLst xmlns:a="http://schemas.openxmlformats.org/drawingml/2006/main">
              <a:ext uri="{FF2B5EF4-FFF2-40B4-BE49-F238E27FC236}">
                <a16:creationId xmlns:a16="http://schemas.microsoft.com/office/drawing/2014/main" id="{3B466E05-65C4-46A9-AE3F-BC605B72268B}"/>
              </a:ext>
            </a:extLst>
          </p:cNvPr>
          <p:cNvSpPr>
            <a:spLocks xmlns:a="http://schemas.openxmlformats.org/drawingml/2006/main" noGrp="1"/>
          </p:cNvSpPr>
          <p:nvPr/>
        </p:nvSpPr>
        <p:spPr>
          <a:xfrm xmlns:a="http://schemas.openxmlformats.org/drawingml/2006/main">
            <a:off x="3905250" y="32766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55555"/>
                </a:solidFill>
                <a:latin typeface="Yu Gothic"/>
                <a:ea typeface="Yu Gothic"/>
                <a:cs typeface="Yu Gothic"/>
              </a:defRPr>
            </a:pPr>
            <a:r>
              <a:rPr sz="1500" b="0">
                <a:solidFill>
                  <a:srgbClr val="555555"/>
                </a:solidFill>
                <a:latin typeface="Yu Gothic"/>
                <a:ea typeface="Yu Gothic"/>
                <a:cs typeface="Yu Gothic"/>
              </a:rPr>
              <a:t>評価不安を高め、匿名参加の利点を失う</a:t>
            </a:r>
          </a:p>
        </p:txBody>
      </p:sp>
      <p:sp>
        <p:nvSpPr>
          <p:cNvPr id="14" name="">
            <a:extLst xmlns:a="http://schemas.openxmlformats.org/drawingml/2006/main">
              <a:ext uri="{FF2B5EF4-FFF2-40B4-BE49-F238E27FC236}">
                <a16:creationId xmlns:a16="http://schemas.microsoft.com/office/drawing/2014/main" id="{F3F7AB98-126E-4384-946B-9B2D864A6752}"/>
              </a:ext>
            </a:extLst>
          </p:cNvPr>
          <p:cNvSpPr>
            <a:spLocks xmlns:a="http://schemas.openxmlformats.org/drawingml/2006/main" noGrp="1"/>
          </p:cNvSpPr>
          <p:nvPr/>
        </p:nvSpPr>
        <p:spPr>
          <a:xfrm xmlns:a="http://schemas.openxmlformats.org/drawingml/2006/main">
            <a:off x="704850" y="3790950"/>
            <a:ext cx="9906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6BA9ECC-166D-40D9-B232-BB33FEAC1AF1}"/>
              </a:ext>
            </a:extLst>
          </p:cNvPr>
          <p:cNvSpPr>
            <a:spLocks xmlns:a="http://schemas.openxmlformats.org/drawingml/2006/main" noGrp="1"/>
          </p:cNvSpPr>
          <p:nvPr/>
        </p:nvSpPr>
        <p:spPr>
          <a:xfrm xmlns:a="http://schemas.openxmlformats.org/drawingml/2006/main">
            <a:off x="723900" y="40576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B42318"/>
                </a:solidFill>
                <a:latin typeface="Yu Gothic"/>
                <a:ea typeface="Yu Gothic"/>
                <a:cs typeface="Yu Gothic"/>
              </a:defRPr>
            </a:pPr>
            <a:r>
              <a:rPr sz="2100" b="1">
                <a:solidFill>
                  <a:srgbClr val="B42318"/>
                </a:solidFill>
                <a:latin typeface="Yu Gothic"/>
                <a:ea typeface="Yu Gothic"/>
                <a:cs typeface="Yu Gothic"/>
              </a:rPr>
              <a:t>×</a:t>
            </a:r>
          </a:p>
        </p:txBody>
      </p:sp>
      <p:sp>
        <p:nvSpPr>
          <p:cNvPr id="16" name="">
            <a:extLst xmlns:a="http://schemas.openxmlformats.org/drawingml/2006/main">
              <a:ext uri="{FF2B5EF4-FFF2-40B4-BE49-F238E27FC236}">
                <a16:creationId xmlns:a16="http://schemas.microsoft.com/office/drawing/2014/main" id="{27A6894C-E5A5-4BF5-9885-D846D6015D48}"/>
              </a:ext>
            </a:extLst>
          </p:cNvPr>
          <p:cNvSpPr>
            <a:spLocks xmlns:a="http://schemas.openxmlformats.org/drawingml/2006/main" noGrp="1"/>
          </p:cNvSpPr>
          <p:nvPr/>
        </p:nvSpPr>
        <p:spPr>
          <a:xfrm xmlns:a="http://schemas.openxmlformats.org/drawingml/2006/main">
            <a:off x="1219200" y="3981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成績評価への直結</a:t>
            </a:r>
          </a:p>
        </p:txBody>
      </p:sp>
      <p:sp>
        <p:nvSpPr>
          <p:cNvPr id="17" name="">
            <a:extLst xmlns:a="http://schemas.openxmlformats.org/drawingml/2006/main">
              <a:ext uri="{FF2B5EF4-FFF2-40B4-BE49-F238E27FC236}">
                <a16:creationId xmlns:a16="http://schemas.microsoft.com/office/drawing/2014/main" id="{E5EBFB33-FDBE-4370-9B99-D3BA7E26C0A4}"/>
              </a:ext>
            </a:extLst>
          </p:cNvPr>
          <p:cNvSpPr>
            <a:spLocks xmlns:a="http://schemas.openxmlformats.org/drawingml/2006/main" noGrp="1"/>
          </p:cNvSpPr>
          <p:nvPr/>
        </p:nvSpPr>
        <p:spPr>
          <a:xfrm xmlns:a="http://schemas.openxmlformats.org/drawingml/2006/main">
            <a:off x="3905250" y="40005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55555"/>
                </a:solidFill>
                <a:latin typeface="Yu Gothic"/>
                <a:ea typeface="Yu Gothic"/>
                <a:cs typeface="Yu Gothic"/>
              </a:defRPr>
            </a:pPr>
            <a:r>
              <a:rPr sz="1500" b="0">
                <a:solidFill>
                  <a:srgbClr val="555555"/>
                </a:solidFill>
                <a:latin typeface="Yu Gothic"/>
                <a:ea typeface="Yu Gothic"/>
                <a:cs typeface="Yu Gothic"/>
              </a:rPr>
              <a:t>支援要請が監視や強制参加として受け止められる</a:t>
            </a:r>
          </a:p>
        </p:txBody>
      </p:sp>
      <p:sp>
        <p:nvSpPr>
          <p:cNvPr id="18" name="">
            <a:extLst xmlns:a="http://schemas.openxmlformats.org/drawingml/2006/main">
              <a:ext uri="{FF2B5EF4-FFF2-40B4-BE49-F238E27FC236}">
                <a16:creationId xmlns:a16="http://schemas.microsoft.com/office/drawing/2014/main" id="{9E836623-497C-4093-99BB-4686C4C95E22}"/>
              </a:ext>
            </a:extLst>
          </p:cNvPr>
          <p:cNvSpPr>
            <a:spLocks xmlns:a="http://schemas.openxmlformats.org/drawingml/2006/main" noGrp="1"/>
          </p:cNvSpPr>
          <p:nvPr/>
        </p:nvSpPr>
        <p:spPr>
          <a:xfrm xmlns:a="http://schemas.openxmlformats.org/drawingml/2006/main">
            <a:off x="704850" y="4514850"/>
            <a:ext cx="9906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857C662-6062-45BB-ADD4-57A86B886269}"/>
              </a:ext>
            </a:extLst>
          </p:cNvPr>
          <p:cNvSpPr>
            <a:spLocks xmlns:a="http://schemas.openxmlformats.org/drawingml/2006/main" noGrp="1"/>
          </p:cNvSpPr>
          <p:nvPr/>
        </p:nvSpPr>
        <p:spPr>
          <a:xfrm xmlns:a="http://schemas.openxmlformats.org/drawingml/2006/main">
            <a:off x="723900" y="47815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B42318"/>
                </a:solidFill>
                <a:latin typeface="Yu Gothic"/>
                <a:ea typeface="Yu Gothic"/>
                <a:cs typeface="Yu Gothic"/>
              </a:defRPr>
            </a:pPr>
            <a:r>
              <a:rPr sz="2100" b="1">
                <a:solidFill>
                  <a:srgbClr val="B42318"/>
                </a:solidFill>
                <a:latin typeface="Yu Gothic"/>
                <a:ea typeface="Yu Gothic"/>
                <a:cs typeface="Yu Gothic"/>
              </a:rPr>
              <a:t>×</a:t>
            </a:r>
          </a:p>
        </p:txBody>
      </p:sp>
      <p:sp>
        <p:nvSpPr>
          <p:cNvPr id="20" name="">
            <a:extLst xmlns:a="http://schemas.openxmlformats.org/drawingml/2006/main">
              <a:ext uri="{FF2B5EF4-FFF2-40B4-BE49-F238E27FC236}">
                <a16:creationId xmlns:a16="http://schemas.microsoft.com/office/drawing/2014/main" id="{11764B7C-81AE-474B-BF84-DE84300F2574}"/>
              </a:ext>
            </a:extLst>
          </p:cNvPr>
          <p:cNvSpPr>
            <a:spLocks xmlns:a="http://schemas.openxmlformats.org/drawingml/2006/main" noGrp="1"/>
          </p:cNvSpPr>
          <p:nvPr/>
        </p:nvSpPr>
        <p:spPr>
          <a:xfrm xmlns:a="http://schemas.openxmlformats.org/drawingml/2006/main">
            <a:off x="1219200" y="47053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通知過多</a:t>
            </a:r>
          </a:p>
        </p:txBody>
      </p:sp>
      <p:sp>
        <p:nvSpPr>
          <p:cNvPr id="21" name="">
            <a:extLst xmlns:a="http://schemas.openxmlformats.org/drawingml/2006/main">
              <a:ext uri="{FF2B5EF4-FFF2-40B4-BE49-F238E27FC236}">
                <a16:creationId xmlns:a16="http://schemas.microsoft.com/office/drawing/2014/main" id="{13C796E4-489C-40EA-8BCB-41894626530E}"/>
              </a:ext>
            </a:extLst>
          </p:cNvPr>
          <p:cNvSpPr>
            <a:spLocks xmlns:a="http://schemas.openxmlformats.org/drawingml/2006/main" noGrp="1"/>
          </p:cNvSpPr>
          <p:nvPr/>
        </p:nvSpPr>
        <p:spPr>
          <a:xfrm xmlns:a="http://schemas.openxmlformats.org/drawingml/2006/main">
            <a:off x="3905250" y="47244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55555"/>
                </a:solidFill>
                <a:latin typeface="Yu Gothic"/>
                <a:ea typeface="Yu Gothic"/>
                <a:cs typeface="Yu Gothic"/>
              </a:defRPr>
            </a:pPr>
            <a:r>
              <a:rPr sz="1500" b="0">
                <a:solidFill>
                  <a:srgbClr val="555555"/>
                </a:solidFill>
                <a:latin typeface="Yu Gothic"/>
                <a:ea typeface="Yu Gothic"/>
                <a:cs typeface="Yu Gothic"/>
              </a:rPr>
              <a:t>教員が授業中に処理できず、結局使われなくなる</a:t>
            </a:r>
          </a:p>
        </p:txBody>
      </p:sp>
      <p:sp>
        <p:nvSpPr>
          <p:cNvPr id="22" name="">
            <a:extLst xmlns:a="http://schemas.openxmlformats.org/drawingml/2006/main">
              <a:ext uri="{FF2B5EF4-FFF2-40B4-BE49-F238E27FC236}">
                <a16:creationId xmlns:a16="http://schemas.microsoft.com/office/drawing/2014/main" id="{B21ECB05-2DAA-4C6E-A73B-3AA8DF66C750}"/>
              </a:ext>
            </a:extLst>
          </p:cNvPr>
          <p:cNvSpPr>
            <a:spLocks xmlns:a="http://schemas.openxmlformats.org/drawingml/2006/main" noGrp="1"/>
          </p:cNvSpPr>
          <p:nvPr/>
        </p:nvSpPr>
        <p:spPr>
          <a:xfrm xmlns:a="http://schemas.openxmlformats.org/drawingml/2006/main">
            <a:off x="704850" y="5238750"/>
            <a:ext cx="99060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1948244-2443-47F0-AF41-12AF35E0C3C4}"/>
              </a:ext>
            </a:extLst>
          </p:cNvPr>
          <p:cNvSpPr>
            <a:spLocks xmlns:a="http://schemas.openxmlformats.org/drawingml/2006/main" noGrp="1"/>
          </p:cNvSpPr>
          <p:nvPr/>
        </p:nvSpPr>
        <p:spPr>
          <a:xfrm xmlns:a="http://schemas.openxmlformats.org/drawingml/2006/main">
            <a:off x="876300" y="57150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6B35"/>
                </a:solidFill>
                <a:latin typeface="Yu Gothic"/>
                <a:ea typeface="Yu Gothic"/>
                <a:cs typeface="Yu Gothic"/>
              </a:defRPr>
            </a:pPr>
            <a:r>
              <a:rPr sz="1500" b="1">
                <a:solidFill>
                  <a:srgbClr val="FF6B35"/>
                </a:solidFill>
                <a:latin typeface="Yu Gothic"/>
                <a:ea typeface="Yu Gothic"/>
                <a:cs typeface="Yu Gothic"/>
              </a:rPr>
              <a:t>Almeida et al. の注意点と Cooper et al. の評価不安の議論を合わせると、「競争化」「可視化しすぎ」「強制化」はリスクが高い。</a:t>
            </a:r>
          </a:p>
        </p:txBody>
      </p:sp>
      <p:sp>
        <p:nvSpPr>
          <p:cNvPr id="24" name="">
            <a:extLst xmlns:a="http://schemas.openxmlformats.org/drawingml/2006/main">
              <a:ext uri="{FF2B5EF4-FFF2-40B4-BE49-F238E27FC236}">
                <a16:creationId xmlns:a16="http://schemas.microsoft.com/office/drawing/2014/main" id="{A40CBC2A-5829-4CAA-A6DE-5122844049AD}"/>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設計上のリスク</a:t>
            </a:r>
          </a:p>
        </p:txBody>
      </p:sp>
      <p:sp>
        <p:nvSpPr>
          <p:cNvPr id="25" name="">
            <a:extLst xmlns:a="http://schemas.openxmlformats.org/drawingml/2006/main">
              <a:ext uri="{FF2B5EF4-FFF2-40B4-BE49-F238E27FC236}">
                <a16:creationId xmlns:a16="http://schemas.microsoft.com/office/drawing/2014/main" id="{8FAC1BC6-FADC-4856-A530-E53DB1CFB852}"/>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15</a:t>
            </a:r>
          </a:p>
        </p:txBody>
      </p:sp>
    </p:spTree>
    <p:extLst>
      <p:ext uri="{BB962C8B-B14F-4D97-AF65-F5344CB8AC3E}">
        <p14:creationId xmlns:p14="http://schemas.microsoft.com/office/powerpoint/2010/main" val="17169913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B4BBD1-F653-4CA7-87F5-79B09BF62E3F}"/>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実装後に検証したいこと</a:t>
            </a:r>
          </a:p>
        </p:txBody>
      </p:sp>
      <p:sp>
        <p:nvSpPr>
          <p:cNvPr id="2" name="">
            <a:extLst xmlns:a="http://schemas.openxmlformats.org/drawingml/2006/main">
              <a:ext uri="{FF2B5EF4-FFF2-40B4-BE49-F238E27FC236}">
                <a16:creationId xmlns:a16="http://schemas.microsoft.com/office/drawing/2014/main" id="{010E5498-D4FF-48E5-A771-A174A6E1A2C5}"/>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A5DFA2-ADE5-486F-B28E-08CF3CF02FC4}"/>
              </a:ext>
            </a:extLst>
          </p:cNvPr>
          <p:cNvSpPr>
            <a:spLocks xmlns:a="http://schemas.openxmlformats.org/drawingml/2006/main" noGrp="1"/>
          </p:cNvSpPr>
          <p:nvPr/>
        </p:nvSpPr>
        <p:spPr>
          <a:xfrm xmlns:a="http://schemas.openxmlformats.org/drawingml/2006/main">
            <a:off x="685800" y="20383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FF6B35"/>
                </a:solidFill>
                <a:latin typeface="Yu Gothic"/>
                <a:ea typeface="Yu Gothic"/>
                <a:cs typeface="Yu Gothic"/>
              </a:defRPr>
            </a:pPr>
            <a:r>
              <a:rPr sz="2400" b="1">
                <a:solidFill>
                  <a:srgbClr val="FF6B35"/>
                </a:solidFill>
                <a:latin typeface="Yu Gothic"/>
                <a:ea typeface="Yu Gothic"/>
                <a:cs typeface="Yu Gothic"/>
              </a:rPr>
              <a:t>01</a:t>
            </a:r>
          </a:p>
        </p:txBody>
      </p:sp>
      <p:sp>
        <p:nvSpPr>
          <p:cNvPr id="4" name="">
            <a:extLst xmlns:a="http://schemas.openxmlformats.org/drawingml/2006/main">
              <a:ext uri="{FF2B5EF4-FFF2-40B4-BE49-F238E27FC236}">
                <a16:creationId xmlns:a16="http://schemas.microsoft.com/office/drawing/2014/main" id="{3650F89C-FD8A-4EDC-AF7C-0B8D8C7E1DA2}"/>
              </a:ext>
            </a:extLst>
          </p:cNvPr>
          <p:cNvSpPr>
            <a:spLocks xmlns:a="http://schemas.openxmlformats.org/drawingml/2006/main" noGrp="1"/>
          </p:cNvSpPr>
          <p:nvPr/>
        </p:nvSpPr>
        <p:spPr>
          <a:xfrm xmlns:a="http://schemas.openxmlformats.org/drawingml/2006/main">
            <a:off x="685800" y="2628900"/>
            <a:ext cx="2266950" cy="20002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3C815525-E5E7-4B6B-9CD9-5598335B88A0}"/>
              </a:ext>
            </a:extLst>
          </p:cNvPr>
          <p:cNvSpPr>
            <a:spLocks xmlns:a="http://schemas.openxmlformats.org/drawingml/2006/main" noGrp="1"/>
          </p:cNvSpPr>
          <p:nvPr/>
        </p:nvSpPr>
        <p:spPr>
          <a:xfrm xmlns:a="http://schemas.openxmlformats.org/drawingml/2006/main">
            <a:off x="876300" y="28956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導入前</a:t>
            </a:r>
          </a:p>
        </p:txBody>
      </p:sp>
      <p:sp>
        <p:nvSpPr>
          <p:cNvPr id="6" name="">
            <a:extLst xmlns:a="http://schemas.openxmlformats.org/drawingml/2006/main">
              <a:ext uri="{FF2B5EF4-FFF2-40B4-BE49-F238E27FC236}">
                <a16:creationId xmlns:a16="http://schemas.microsoft.com/office/drawing/2014/main" id="{E07AEF63-9B6E-4EDD-A27E-3EAF1D4C3B86}"/>
              </a:ext>
            </a:extLst>
          </p:cNvPr>
          <p:cNvSpPr>
            <a:spLocks xmlns:a="http://schemas.openxmlformats.org/drawingml/2006/main" noGrp="1"/>
          </p:cNvSpPr>
          <p:nvPr/>
        </p:nvSpPr>
        <p:spPr>
          <a:xfrm xmlns:a="http://schemas.openxmlformats.org/drawingml/2006/main">
            <a:off x="876300" y="3390900"/>
            <a:ext cx="180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学生の発言不安・質問頻度・授業理解度の自己評価を把握</a:t>
            </a:r>
          </a:p>
        </p:txBody>
      </p:sp>
      <p:sp>
        <p:nvSpPr>
          <p:cNvPr id="7" name="">
            <a:extLst xmlns:a="http://schemas.openxmlformats.org/drawingml/2006/main">
              <a:ext uri="{FF2B5EF4-FFF2-40B4-BE49-F238E27FC236}">
                <a16:creationId xmlns:a16="http://schemas.microsoft.com/office/drawing/2014/main" id="{A3C390A7-C669-4A9D-839A-9EA29C350DEE}"/>
              </a:ext>
            </a:extLst>
          </p:cNvPr>
          <p:cNvSpPr>
            <a:spLocks xmlns:a="http://schemas.openxmlformats.org/drawingml/2006/main" noGrp="1"/>
          </p:cNvSpPr>
          <p:nvPr/>
        </p:nvSpPr>
        <p:spPr>
          <a:xfrm xmlns:a="http://schemas.openxmlformats.org/drawingml/2006/main">
            <a:off x="3467100" y="20383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FF6B35"/>
                </a:solidFill>
                <a:latin typeface="Yu Gothic"/>
                <a:ea typeface="Yu Gothic"/>
                <a:cs typeface="Yu Gothic"/>
              </a:defRPr>
            </a:pPr>
            <a:r>
              <a:rPr sz="2400" b="1">
                <a:solidFill>
                  <a:srgbClr val="FF6B35"/>
                </a:solidFill>
                <a:latin typeface="Yu Gothic"/>
                <a:ea typeface="Yu Gothic"/>
                <a:cs typeface="Yu Gothic"/>
              </a:rPr>
              <a:t>02</a:t>
            </a:r>
          </a:p>
        </p:txBody>
      </p:sp>
      <p:sp>
        <p:nvSpPr>
          <p:cNvPr id="8" name="">
            <a:extLst xmlns:a="http://schemas.openxmlformats.org/drawingml/2006/main">
              <a:ext uri="{FF2B5EF4-FFF2-40B4-BE49-F238E27FC236}">
                <a16:creationId xmlns:a16="http://schemas.microsoft.com/office/drawing/2014/main" id="{BA91380D-F474-4C00-A69E-46986CAE7A7A}"/>
              </a:ext>
            </a:extLst>
          </p:cNvPr>
          <p:cNvSpPr>
            <a:spLocks xmlns:a="http://schemas.openxmlformats.org/drawingml/2006/main" noGrp="1"/>
          </p:cNvSpPr>
          <p:nvPr/>
        </p:nvSpPr>
        <p:spPr>
          <a:xfrm xmlns:a="http://schemas.openxmlformats.org/drawingml/2006/main">
            <a:off x="3467100" y="2628900"/>
            <a:ext cx="2266950" cy="20002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554E541B-FDF2-467B-86DC-3B45869C505F}"/>
              </a:ext>
            </a:extLst>
          </p:cNvPr>
          <p:cNvSpPr>
            <a:spLocks xmlns:a="http://schemas.openxmlformats.org/drawingml/2006/main" noGrp="1"/>
          </p:cNvSpPr>
          <p:nvPr/>
        </p:nvSpPr>
        <p:spPr>
          <a:xfrm xmlns:a="http://schemas.openxmlformats.org/drawingml/2006/main">
            <a:off x="3657600" y="28956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授業中</a:t>
            </a:r>
          </a:p>
        </p:txBody>
      </p:sp>
      <p:sp>
        <p:nvSpPr>
          <p:cNvPr id="10" name="">
            <a:extLst xmlns:a="http://schemas.openxmlformats.org/drawingml/2006/main">
              <a:ext uri="{FF2B5EF4-FFF2-40B4-BE49-F238E27FC236}">
                <a16:creationId xmlns:a16="http://schemas.microsoft.com/office/drawing/2014/main" id="{4BC76625-E696-4372-9AC3-207309C706AB}"/>
              </a:ext>
            </a:extLst>
          </p:cNvPr>
          <p:cNvSpPr>
            <a:spLocks xmlns:a="http://schemas.openxmlformats.org/drawingml/2006/main" noGrp="1"/>
          </p:cNvSpPr>
          <p:nvPr/>
        </p:nvSpPr>
        <p:spPr>
          <a:xfrm xmlns:a="http://schemas.openxmlformats.org/drawingml/2006/main">
            <a:off x="3657600" y="3390900"/>
            <a:ext cx="180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ボタン押下数、カテゴリ別反応、質問キュー、教員の対応タイミングを記録</a:t>
            </a:r>
          </a:p>
        </p:txBody>
      </p:sp>
      <p:sp>
        <p:nvSpPr>
          <p:cNvPr id="11" name="">
            <a:extLst xmlns:a="http://schemas.openxmlformats.org/drawingml/2006/main">
              <a:ext uri="{FF2B5EF4-FFF2-40B4-BE49-F238E27FC236}">
                <a16:creationId xmlns:a16="http://schemas.microsoft.com/office/drawing/2014/main" id="{E7C0CCD6-D3AF-4957-B0F0-8D70400CBB67}"/>
              </a:ext>
            </a:extLst>
          </p:cNvPr>
          <p:cNvSpPr>
            <a:spLocks xmlns:a="http://schemas.openxmlformats.org/drawingml/2006/main" noGrp="1"/>
          </p:cNvSpPr>
          <p:nvPr/>
        </p:nvSpPr>
        <p:spPr>
          <a:xfrm xmlns:a="http://schemas.openxmlformats.org/drawingml/2006/main">
            <a:off x="6248400" y="20383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FF6B35"/>
                </a:solidFill>
                <a:latin typeface="Yu Gothic"/>
                <a:ea typeface="Yu Gothic"/>
                <a:cs typeface="Yu Gothic"/>
              </a:defRPr>
            </a:pPr>
            <a:r>
              <a:rPr sz="2400" b="1">
                <a:solidFill>
                  <a:srgbClr val="FF6B35"/>
                </a:solidFill>
                <a:latin typeface="Yu Gothic"/>
                <a:ea typeface="Yu Gothic"/>
                <a:cs typeface="Yu Gothic"/>
              </a:rPr>
              <a:t>03</a:t>
            </a:r>
          </a:p>
        </p:txBody>
      </p:sp>
      <p:sp>
        <p:nvSpPr>
          <p:cNvPr id="12" name="">
            <a:extLst xmlns:a="http://schemas.openxmlformats.org/drawingml/2006/main">
              <a:ext uri="{FF2B5EF4-FFF2-40B4-BE49-F238E27FC236}">
                <a16:creationId xmlns:a16="http://schemas.microsoft.com/office/drawing/2014/main" id="{C4061159-D727-4758-AD50-77445BD53510}"/>
              </a:ext>
            </a:extLst>
          </p:cNvPr>
          <p:cNvSpPr>
            <a:spLocks xmlns:a="http://schemas.openxmlformats.org/drawingml/2006/main" noGrp="1"/>
          </p:cNvSpPr>
          <p:nvPr/>
        </p:nvSpPr>
        <p:spPr>
          <a:xfrm xmlns:a="http://schemas.openxmlformats.org/drawingml/2006/main">
            <a:off x="6248400" y="2628900"/>
            <a:ext cx="2266950" cy="20002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2426E831-49AC-4CF1-A031-5D57989750D4}"/>
              </a:ext>
            </a:extLst>
          </p:cNvPr>
          <p:cNvSpPr>
            <a:spLocks xmlns:a="http://schemas.openxmlformats.org/drawingml/2006/main" noGrp="1"/>
          </p:cNvSpPr>
          <p:nvPr/>
        </p:nvSpPr>
        <p:spPr>
          <a:xfrm xmlns:a="http://schemas.openxmlformats.org/drawingml/2006/main">
            <a:off x="6438900" y="28956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導入後</a:t>
            </a:r>
          </a:p>
        </p:txBody>
      </p:sp>
      <p:sp>
        <p:nvSpPr>
          <p:cNvPr id="14" name="">
            <a:extLst xmlns:a="http://schemas.openxmlformats.org/drawingml/2006/main">
              <a:ext uri="{FF2B5EF4-FFF2-40B4-BE49-F238E27FC236}">
                <a16:creationId xmlns:a16="http://schemas.microsoft.com/office/drawing/2014/main" id="{DEB96A2A-B0FD-4393-9ED7-AF06BB663C46}"/>
              </a:ext>
            </a:extLst>
          </p:cNvPr>
          <p:cNvSpPr>
            <a:spLocks xmlns:a="http://schemas.openxmlformats.org/drawingml/2006/main" noGrp="1"/>
          </p:cNvSpPr>
          <p:nvPr/>
        </p:nvSpPr>
        <p:spPr>
          <a:xfrm xmlns:a="http://schemas.openxmlformats.org/drawingml/2006/main">
            <a:off x="6438900" y="3390900"/>
            <a:ext cx="180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参加しやすさ、匿名性への安心感、理解支援感、教員負担を調査</a:t>
            </a:r>
          </a:p>
        </p:txBody>
      </p:sp>
      <p:sp>
        <p:nvSpPr>
          <p:cNvPr id="15" name="">
            <a:extLst xmlns:a="http://schemas.openxmlformats.org/drawingml/2006/main">
              <a:ext uri="{FF2B5EF4-FFF2-40B4-BE49-F238E27FC236}">
                <a16:creationId xmlns:a16="http://schemas.microsoft.com/office/drawing/2014/main" id="{69A597FB-8770-4922-A1DC-5EA8625B7BBD}"/>
              </a:ext>
            </a:extLst>
          </p:cNvPr>
          <p:cNvSpPr>
            <a:spLocks xmlns:a="http://schemas.openxmlformats.org/drawingml/2006/main" noGrp="1"/>
          </p:cNvSpPr>
          <p:nvPr/>
        </p:nvSpPr>
        <p:spPr>
          <a:xfrm xmlns:a="http://schemas.openxmlformats.org/drawingml/2006/main">
            <a:off x="9029700" y="20383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FF6B35"/>
                </a:solidFill>
                <a:latin typeface="Yu Gothic"/>
                <a:ea typeface="Yu Gothic"/>
                <a:cs typeface="Yu Gothic"/>
              </a:defRPr>
            </a:pPr>
            <a:r>
              <a:rPr sz="2400" b="1">
                <a:solidFill>
                  <a:srgbClr val="FF6B35"/>
                </a:solidFill>
                <a:latin typeface="Yu Gothic"/>
                <a:ea typeface="Yu Gothic"/>
                <a:cs typeface="Yu Gothic"/>
              </a:rPr>
              <a:t>04</a:t>
            </a:r>
          </a:p>
        </p:txBody>
      </p:sp>
      <p:sp>
        <p:nvSpPr>
          <p:cNvPr id="16" name="">
            <a:extLst xmlns:a="http://schemas.openxmlformats.org/drawingml/2006/main">
              <a:ext uri="{FF2B5EF4-FFF2-40B4-BE49-F238E27FC236}">
                <a16:creationId xmlns:a16="http://schemas.microsoft.com/office/drawing/2014/main" id="{E1C27E96-4CA9-4A7B-A291-F39EF77E6FC8}"/>
              </a:ext>
            </a:extLst>
          </p:cNvPr>
          <p:cNvSpPr>
            <a:spLocks xmlns:a="http://schemas.openxmlformats.org/drawingml/2006/main" noGrp="1"/>
          </p:cNvSpPr>
          <p:nvPr/>
        </p:nvSpPr>
        <p:spPr>
          <a:xfrm xmlns:a="http://schemas.openxmlformats.org/drawingml/2006/main">
            <a:off x="9029700" y="2628900"/>
            <a:ext cx="2266950" cy="2000250"/>
          </a:xfrm>
          <a:prstGeom xmlns:a="http://schemas.openxmlformats.org/drawingml/2006/main" prst="rect">
            <a:avLst/>
          </a:prstGeom>
          <a:solidFill xmlns:a="http://schemas.openxmlformats.org/drawingml/2006/main">
            <a:srgbClr val="F7F7F8"/>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6A2C02E5-E035-4EDE-97AB-FF60616256C3}"/>
              </a:ext>
            </a:extLst>
          </p:cNvPr>
          <p:cNvSpPr>
            <a:spLocks xmlns:a="http://schemas.openxmlformats.org/drawingml/2006/main" noGrp="1"/>
          </p:cNvSpPr>
          <p:nvPr/>
        </p:nvSpPr>
        <p:spPr>
          <a:xfrm xmlns:a="http://schemas.openxmlformats.org/drawingml/2006/main">
            <a:off x="9220200" y="28956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111"/>
                </a:solidFill>
                <a:latin typeface="Yu Gothic"/>
                <a:ea typeface="Yu Gothic"/>
                <a:cs typeface="Yu Gothic"/>
              </a:defRPr>
            </a:pPr>
            <a:r>
              <a:rPr sz="1800" b="1">
                <a:solidFill>
                  <a:srgbClr val="111111"/>
                </a:solidFill>
                <a:latin typeface="Yu Gothic"/>
                <a:ea typeface="Yu Gothic"/>
                <a:cs typeface="Yu Gothic"/>
              </a:rPr>
              <a:t>比較</a:t>
            </a:r>
          </a:p>
        </p:txBody>
      </p:sp>
      <p:sp>
        <p:nvSpPr>
          <p:cNvPr id="18" name="">
            <a:extLst xmlns:a="http://schemas.openxmlformats.org/drawingml/2006/main">
              <a:ext uri="{FF2B5EF4-FFF2-40B4-BE49-F238E27FC236}">
                <a16:creationId xmlns:a16="http://schemas.microsoft.com/office/drawing/2014/main" id="{22AC6FE3-D74A-4BB7-A470-8D4963BA52A5}"/>
              </a:ext>
            </a:extLst>
          </p:cNvPr>
          <p:cNvSpPr>
            <a:spLocks xmlns:a="http://schemas.openxmlformats.org/drawingml/2006/main" noGrp="1"/>
          </p:cNvSpPr>
          <p:nvPr/>
        </p:nvSpPr>
        <p:spPr>
          <a:xfrm xmlns:a="http://schemas.openxmlformats.org/drawingml/2006/main">
            <a:off x="9220200" y="3390900"/>
            <a:ext cx="180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latin typeface="Yu Gothic"/>
                <a:ea typeface="Yu Gothic"/>
                <a:cs typeface="Yu Gothic"/>
              </a:defRPr>
            </a:pPr>
            <a:r>
              <a:rPr sz="1350" b="0">
                <a:solidFill>
                  <a:srgbClr val="555555"/>
                </a:solidFill>
                <a:latin typeface="Yu Gothic"/>
                <a:ea typeface="Yu Gothic"/>
                <a:cs typeface="Yu Gothic"/>
              </a:rPr>
              <a:t>ボタンあり/なし、匿名/記名、投票あり/なしなどを比較</a:t>
            </a:r>
          </a:p>
        </p:txBody>
      </p:sp>
      <p:sp>
        <p:nvSpPr>
          <p:cNvPr id="19" name="">
            <a:extLst xmlns:a="http://schemas.openxmlformats.org/drawingml/2006/main">
              <a:ext uri="{FF2B5EF4-FFF2-40B4-BE49-F238E27FC236}">
                <a16:creationId xmlns:a16="http://schemas.microsoft.com/office/drawing/2014/main" id="{94AD7036-68D8-436C-87EC-AF89F00AC5A4}"/>
              </a:ext>
            </a:extLst>
          </p:cNvPr>
          <p:cNvSpPr>
            <a:spLocks xmlns:a="http://schemas.openxmlformats.org/drawingml/2006/main" noGrp="1"/>
          </p:cNvSpPr>
          <p:nvPr/>
        </p:nvSpPr>
        <p:spPr>
          <a:xfrm xmlns:a="http://schemas.openxmlformats.org/drawingml/2006/main">
            <a:off x="762000" y="54292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latin typeface="Yu Gothic"/>
                <a:ea typeface="Yu Gothic"/>
                <a:cs typeface="Yu Gothic"/>
              </a:defRPr>
            </a:pPr>
            <a:r>
              <a:rPr sz="1650" b="1">
                <a:solidFill>
                  <a:srgbClr val="111111"/>
                </a:solidFill>
                <a:latin typeface="Yu Gothic"/>
                <a:ea typeface="Yu Gothic"/>
                <a:cs typeface="Yu Gothic"/>
              </a:rPr>
              <a:t>評価指標例: 押下率、質問数、質問の深さ、授業中の再説明回数、学生の安心感、教員の使いやすさ。</a:t>
            </a:r>
          </a:p>
        </p:txBody>
      </p:sp>
      <p:sp>
        <p:nvSpPr>
          <p:cNvPr id="20" name="">
            <a:extLst xmlns:a="http://schemas.openxmlformats.org/drawingml/2006/main">
              <a:ext uri="{FF2B5EF4-FFF2-40B4-BE49-F238E27FC236}">
                <a16:creationId xmlns:a16="http://schemas.microsoft.com/office/drawing/2014/main" id="{5CCB6949-CA33-4E94-8028-4E16C468D679}"/>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評価計画</a:t>
            </a:r>
          </a:p>
        </p:txBody>
      </p:sp>
      <p:sp>
        <p:nvSpPr>
          <p:cNvPr id="21" name="">
            <a:extLst xmlns:a="http://schemas.openxmlformats.org/drawingml/2006/main">
              <a:ext uri="{FF2B5EF4-FFF2-40B4-BE49-F238E27FC236}">
                <a16:creationId xmlns:a16="http://schemas.microsoft.com/office/drawing/2014/main" id="{A4EAEC0C-06DB-42CF-AA0D-769D47E74B37}"/>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16</a:t>
            </a:r>
          </a:p>
        </p:txBody>
      </p:sp>
    </p:spTree>
    <p:extLst>
      <p:ext uri="{BB962C8B-B14F-4D97-AF65-F5344CB8AC3E}">
        <p14:creationId xmlns:p14="http://schemas.microsoft.com/office/powerpoint/2010/main" val="20268668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EA8011-89B0-4086-80CD-F6614CD86E34}"/>
              </a:ext>
            </a:extLst>
          </p:cNvPr>
          <p:cNvSpPr>
            <a:spLocks xmlns:a="http://schemas.openxmlformats.org/drawingml/2006/main" noGrp="1"/>
          </p:cNvSpPr>
          <p:nvPr/>
        </p:nvSpPr>
        <p:spPr>
          <a:xfrm xmlns:a="http://schemas.openxmlformats.org/drawingml/2006/main">
            <a:off x="400050" y="36195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111"/>
                </a:solidFill>
                <a:latin typeface="Yu Gothic"/>
                <a:ea typeface="Yu Gothic"/>
                <a:cs typeface="Yu Gothic"/>
              </a:defRPr>
            </a:pPr>
            <a:r>
              <a:rPr sz="2850" b="1">
                <a:solidFill>
                  <a:srgbClr val="111111"/>
                </a:solidFill>
                <a:latin typeface="Yu Gothic"/>
                <a:ea typeface="Yu Gothic"/>
                <a:cs typeface="Yu Gothic"/>
              </a:rPr>
              <a:t>参考文献</a:t>
            </a:r>
          </a:p>
        </p:txBody>
      </p:sp>
      <p:sp>
        <p:nvSpPr>
          <p:cNvPr id="2" name="">
            <a:extLst xmlns:a="http://schemas.openxmlformats.org/drawingml/2006/main">
              <a:ext uri="{FF2B5EF4-FFF2-40B4-BE49-F238E27FC236}">
                <a16:creationId xmlns:a16="http://schemas.microsoft.com/office/drawing/2014/main" id="{D766935F-3BED-47A9-852D-6F1DC15D23E1}"/>
              </a:ext>
            </a:extLst>
          </p:cNvPr>
          <p:cNvSpPr>
            <a:spLocks xmlns:a="http://schemas.openxmlformats.org/drawingml/2006/main" noGrp="1"/>
          </p:cNvSpPr>
          <p:nvPr/>
        </p:nvSpPr>
        <p:spPr>
          <a:xfrm xmlns:a="http://schemas.openxmlformats.org/drawingml/2006/main">
            <a:off x="400050" y="14287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1086700-F67D-4F3C-BE51-710EC0591F6C}"/>
              </a:ext>
            </a:extLst>
          </p:cNvPr>
          <p:cNvSpPr>
            <a:spLocks xmlns:a="http://schemas.openxmlformats.org/drawingml/2006/main" noGrp="1"/>
          </p:cNvSpPr>
          <p:nvPr/>
        </p:nvSpPr>
        <p:spPr>
          <a:xfrm xmlns:a="http://schemas.openxmlformats.org/drawingml/2006/main">
            <a:off x="609600" y="16954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8B8B"/>
                </a:solidFill>
                <a:latin typeface="Yu Gothic"/>
                <a:ea typeface="Yu Gothic"/>
                <a:cs typeface="Yu Gothic"/>
              </a:defRPr>
            </a:pPr>
            <a:r>
              <a:rPr sz="1125" b="1">
                <a:solidFill>
                  <a:srgbClr val="8B8B8B"/>
                </a:solidFill>
                <a:latin typeface="Yu Gothic"/>
                <a:ea typeface="Yu Gothic"/>
                <a:cs typeface="Yu Gothic"/>
              </a:rPr>
              <a:t>1.</a:t>
            </a:r>
          </a:p>
        </p:txBody>
      </p:sp>
      <p:sp>
        <p:nvSpPr>
          <p:cNvPr id="4" name="">
            <a:extLst xmlns:a="http://schemas.openxmlformats.org/drawingml/2006/main">
              <a:ext uri="{FF2B5EF4-FFF2-40B4-BE49-F238E27FC236}">
                <a16:creationId xmlns:a16="http://schemas.microsoft.com/office/drawing/2014/main" id="{06758F44-2BED-4D77-B552-293EBB23C8F4}"/>
              </a:ext>
            </a:extLst>
          </p:cNvPr>
          <p:cNvSpPr>
            <a:spLocks xmlns:a="http://schemas.openxmlformats.org/drawingml/2006/main" noGrp="1"/>
          </p:cNvSpPr>
          <p:nvPr/>
        </p:nvSpPr>
        <p:spPr>
          <a:xfrm xmlns:a="http://schemas.openxmlformats.org/drawingml/2006/main">
            <a:off x="1028700" y="16573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latin typeface="Yu Gothic"/>
                <a:ea typeface="Yu Gothic"/>
                <a:cs typeface="Yu Gothic"/>
              </a:defRPr>
            </a:pPr>
            <a:r>
              <a:rPr sz="1200" b="0">
                <a:solidFill>
                  <a:srgbClr val="555555"/>
                </a:solidFill>
                <a:latin typeface="Yu Gothic"/>
                <a:ea typeface="Yu Gothic"/>
                <a:cs typeface="Yu Gothic"/>
              </a:rPr>
              <a:t>Almeida, C. et al. (2023). Negative effects of gamification in education software. Information and Software Technology, 156, 107142.</a:t>
            </a:r>
          </a:p>
        </p:txBody>
      </p:sp>
      <p:sp>
        <p:nvSpPr>
          <p:cNvPr id="5" name="">
            <a:extLst xmlns:a="http://schemas.openxmlformats.org/drawingml/2006/main">
              <a:ext uri="{FF2B5EF4-FFF2-40B4-BE49-F238E27FC236}">
                <a16:creationId xmlns:a16="http://schemas.microsoft.com/office/drawing/2014/main" id="{D4BAEBFA-4236-4B11-A7D6-A354E8DE1AA5}"/>
              </a:ext>
            </a:extLst>
          </p:cNvPr>
          <p:cNvSpPr>
            <a:spLocks xmlns:a="http://schemas.openxmlformats.org/drawingml/2006/main" noGrp="1"/>
          </p:cNvSpPr>
          <p:nvPr/>
        </p:nvSpPr>
        <p:spPr>
          <a:xfrm xmlns:a="http://schemas.openxmlformats.org/drawingml/2006/main">
            <a:off x="609600" y="22098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8B8B"/>
                </a:solidFill>
                <a:latin typeface="Yu Gothic"/>
                <a:ea typeface="Yu Gothic"/>
                <a:cs typeface="Yu Gothic"/>
              </a:defRPr>
            </a:pPr>
            <a:r>
              <a:rPr sz="1125" b="1">
                <a:solidFill>
                  <a:srgbClr val="8B8B8B"/>
                </a:solidFill>
                <a:latin typeface="Yu Gothic"/>
                <a:ea typeface="Yu Gothic"/>
                <a:cs typeface="Yu Gothic"/>
              </a:rPr>
              <a:t>2.</a:t>
            </a:r>
          </a:p>
        </p:txBody>
      </p:sp>
      <p:sp>
        <p:nvSpPr>
          <p:cNvPr id="6" name="">
            <a:extLst xmlns:a="http://schemas.openxmlformats.org/drawingml/2006/main">
              <a:ext uri="{FF2B5EF4-FFF2-40B4-BE49-F238E27FC236}">
                <a16:creationId xmlns:a16="http://schemas.microsoft.com/office/drawing/2014/main" id="{3208575C-52CF-4996-AE90-7541FEC883D5}"/>
              </a:ext>
            </a:extLst>
          </p:cNvPr>
          <p:cNvSpPr>
            <a:spLocks xmlns:a="http://schemas.openxmlformats.org/drawingml/2006/main" noGrp="1"/>
          </p:cNvSpPr>
          <p:nvPr/>
        </p:nvSpPr>
        <p:spPr>
          <a:xfrm xmlns:a="http://schemas.openxmlformats.org/drawingml/2006/main">
            <a:off x="1028700" y="21717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latin typeface="Yu Gothic"/>
                <a:ea typeface="Yu Gothic"/>
                <a:cs typeface="Yu Gothic"/>
              </a:defRPr>
            </a:pPr>
            <a:r>
              <a:rPr sz="1200" b="0">
                <a:solidFill>
                  <a:srgbClr val="555555"/>
                </a:solidFill>
                <a:latin typeface="Yu Gothic"/>
                <a:ea typeface="Yu Gothic"/>
                <a:cs typeface="Yu Gothic"/>
              </a:rPr>
              <a:t>Cooper, K. M. et al. (2018). The influence of active learning practices on student anxiety. International Journal of STEM Education, 5, 23.</a:t>
            </a:r>
          </a:p>
        </p:txBody>
      </p:sp>
      <p:sp>
        <p:nvSpPr>
          <p:cNvPr id="7" name="">
            <a:extLst xmlns:a="http://schemas.openxmlformats.org/drawingml/2006/main">
              <a:ext uri="{FF2B5EF4-FFF2-40B4-BE49-F238E27FC236}">
                <a16:creationId xmlns:a16="http://schemas.microsoft.com/office/drawing/2014/main" id="{6F905A2B-8804-4F87-8F65-8CEB25CC7604}"/>
              </a:ext>
            </a:extLst>
          </p:cNvPr>
          <p:cNvSpPr>
            <a:spLocks xmlns:a="http://schemas.openxmlformats.org/drawingml/2006/main" noGrp="1"/>
          </p:cNvSpPr>
          <p:nvPr/>
        </p:nvSpPr>
        <p:spPr>
          <a:xfrm xmlns:a="http://schemas.openxmlformats.org/drawingml/2006/main">
            <a:off x="609600" y="27241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8B8B"/>
                </a:solidFill>
                <a:latin typeface="Yu Gothic"/>
                <a:ea typeface="Yu Gothic"/>
                <a:cs typeface="Yu Gothic"/>
              </a:defRPr>
            </a:pPr>
            <a:r>
              <a:rPr sz="1125" b="1">
                <a:solidFill>
                  <a:srgbClr val="8B8B8B"/>
                </a:solidFill>
                <a:latin typeface="Yu Gothic"/>
                <a:ea typeface="Yu Gothic"/>
                <a:cs typeface="Yu Gothic"/>
              </a:rPr>
              <a:t>3.</a:t>
            </a:r>
          </a:p>
        </p:txBody>
      </p:sp>
      <p:sp>
        <p:nvSpPr>
          <p:cNvPr id="8" name="">
            <a:extLst xmlns:a="http://schemas.openxmlformats.org/drawingml/2006/main">
              <a:ext uri="{FF2B5EF4-FFF2-40B4-BE49-F238E27FC236}">
                <a16:creationId xmlns:a16="http://schemas.microsoft.com/office/drawing/2014/main" id="{DAD06364-6D1B-4233-BCEF-46FC50E81937}"/>
              </a:ext>
            </a:extLst>
          </p:cNvPr>
          <p:cNvSpPr>
            <a:spLocks xmlns:a="http://schemas.openxmlformats.org/drawingml/2006/main" noGrp="1"/>
          </p:cNvSpPr>
          <p:nvPr/>
        </p:nvSpPr>
        <p:spPr>
          <a:xfrm xmlns:a="http://schemas.openxmlformats.org/drawingml/2006/main">
            <a:off x="1028700" y="26860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latin typeface="Yu Gothic"/>
                <a:ea typeface="Yu Gothic"/>
                <a:cs typeface="Yu Gothic"/>
              </a:defRPr>
            </a:pPr>
            <a:r>
              <a:rPr sz="1200" b="0">
                <a:solidFill>
                  <a:srgbClr val="555555"/>
                </a:solidFill>
                <a:latin typeface="Yu Gothic"/>
                <a:ea typeface="Yu Gothic"/>
                <a:cs typeface="Yu Gothic"/>
              </a:rPr>
              <a:t>Freeman, M., Blayney, P., &amp; Ginns, P. (2006). Anonymity and in class learning. Australasian Journal of Educational Technology, 22(4).</a:t>
            </a:r>
          </a:p>
        </p:txBody>
      </p:sp>
      <p:sp>
        <p:nvSpPr>
          <p:cNvPr id="9" name="">
            <a:extLst xmlns:a="http://schemas.openxmlformats.org/drawingml/2006/main">
              <a:ext uri="{FF2B5EF4-FFF2-40B4-BE49-F238E27FC236}">
                <a16:creationId xmlns:a16="http://schemas.microsoft.com/office/drawing/2014/main" id="{B2ACB7C3-EEF9-4DF2-A99E-F19B508FE6DA}"/>
              </a:ext>
            </a:extLst>
          </p:cNvPr>
          <p:cNvSpPr>
            <a:spLocks xmlns:a="http://schemas.openxmlformats.org/drawingml/2006/main" noGrp="1"/>
          </p:cNvSpPr>
          <p:nvPr/>
        </p:nvSpPr>
        <p:spPr>
          <a:xfrm xmlns:a="http://schemas.openxmlformats.org/drawingml/2006/main">
            <a:off x="609600" y="32385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8B8B"/>
                </a:solidFill>
                <a:latin typeface="Yu Gothic"/>
                <a:ea typeface="Yu Gothic"/>
                <a:cs typeface="Yu Gothic"/>
              </a:defRPr>
            </a:pPr>
            <a:r>
              <a:rPr sz="1125" b="1">
                <a:solidFill>
                  <a:srgbClr val="8B8B8B"/>
                </a:solidFill>
                <a:latin typeface="Yu Gothic"/>
                <a:ea typeface="Yu Gothic"/>
                <a:cs typeface="Yu Gothic"/>
              </a:rPr>
              <a:t>4.</a:t>
            </a:r>
          </a:p>
        </p:txBody>
      </p:sp>
      <p:sp>
        <p:nvSpPr>
          <p:cNvPr id="10" name="">
            <a:extLst xmlns:a="http://schemas.openxmlformats.org/drawingml/2006/main">
              <a:ext uri="{FF2B5EF4-FFF2-40B4-BE49-F238E27FC236}">
                <a16:creationId xmlns:a16="http://schemas.microsoft.com/office/drawing/2014/main" id="{87DFC12B-C785-417E-891B-D4575AA04D0C}"/>
              </a:ext>
            </a:extLst>
          </p:cNvPr>
          <p:cNvSpPr>
            <a:spLocks xmlns:a="http://schemas.openxmlformats.org/drawingml/2006/main" noGrp="1"/>
          </p:cNvSpPr>
          <p:nvPr/>
        </p:nvSpPr>
        <p:spPr>
          <a:xfrm xmlns:a="http://schemas.openxmlformats.org/drawingml/2006/main">
            <a:off x="1028700" y="32004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latin typeface="Yu Gothic"/>
                <a:ea typeface="Yu Gothic"/>
                <a:cs typeface="Yu Gothic"/>
              </a:defRPr>
            </a:pPr>
            <a:r>
              <a:rPr sz="1200" b="0">
                <a:solidFill>
                  <a:srgbClr val="555555"/>
                </a:solidFill>
                <a:latin typeface="Yu Gothic"/>
                <a:ea typeface="Yu Gothic"/>
                <a:cs typeface="Yu Gothic"/>
              </a:rPr>
              <a:t>Freeman, S. et al. (2014). Active learning increases student performance in STEM. PNAS, 111(23), 8410-8415.</a:t>
            </a:r>
          </a:p>
        </p:txBody>
      </p:sp>
      <p:sp>
        <p:nvSpPr>
          <p:cNvPr id="11" name="">
            <a:extLst xmlns:a="http://schemas.openxmlformats.org/drawingml/2006/main">
              <a:ext uri="{FF2B5EF4-FFF2-40B4-BE49-F238E27FC236}">
                <a16:creationId xmlns:a16="http://schemas.microsoft.com/office/drawing/2014/main" id="{EB25EBE3-DAC9-4B59-BB25-5049FE478335}"/>
              </a:ext>
            </a:extLst>
          </p:cNvPr>
          <p:cNvSpPr>
            <a:spLocks xmlns:a="http://schemas.openxmlformats.org/drawingml/2006/main" noGrp="1"/>
          </p:cNvSpPr>
          <p:nvPr/>
        </p:nvSpPr>
        <p:spPr>
          <a:xfrm xmlns:a="http://schemas.openxmlformats.org/drawingml/2006/main">
            <a:off x="609600" y="3752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8B8B"/>
                </a:solidFill>
                <a:latin typeface="Yu Gothic"/>
                <a:ea typeface="Yu Gothic"/>
                <a:cs typeface="Yu Gothic"/>
              </a:defRPr>
            </a:pPr>
            <a:r>
              <a:rPr sz="1125" b="1">
                <a:solidFill>
                  <a:srgbClr val="8B8B8B"/>
                </a:solidFill>
                <a:latin typeface="Yu Gothic"/>
                <a:ea typeface="Yu Gothic"/>
                <a:cs typeface="Yu Gothic"/>
              </a:rPr>
              <a:t>5.</a:t>
            </a:r>
          </a:p>
        </p:txBody>
      </p:sp>
      <p:sp>
        <p:nvSpPr>
          <p:cNvPr id="12" name="">
            <a:extLst xmlns:a="http://schemas.openxmlformats.org/drawingml/2006/main">
              <a:ext uri="{FF2B5EF4-FFF2-40B4-BE49-F238E27FC236}">
                <a16:creationId xmlns:a16="http://schemas.microsoft.com/office/drawing/2014/main" id="{CA311486-9EAD-4579-8864-9E934D38F576}"/>
              </a:ext>
            </a:extLst>
          </p:cNvPr>
          <p:cNvSpPr>
            <a:spLocks xmlns:a="http://schemas.openxmlformats.org/drawingml/2006/main" noGrp="1"/>
          </p:cNvSpPr>
          <p:nvPr/>
        </p:nvSpPr>
        <p:spPr>
          <a:xfrm xmlns:a="http://schemas.openxmlformats.org/drawingml/2006/main">
            <a:off x="1028700" y="37147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latin typeface="Yu Gothic"/>
                <a:ea typeface="Yu Gothic"/>
                <a:cs typeface="Yu Gothic"/>
              </a:defRPr>
            </a:pPr>
            <a:r>
              <a:rPr sz="1200" b="0">
                <a:solidFill>
                  <a:srgbClr val="555555"/>
                </a:solidFill>
                <a:latin typeface="Yu Gothic"/>
                <a:ea typeface="Yu Gothic"/>
                <a:cs typeface="Yu Gothic"/>
              </a:rPr>
              <a:t>Heaslip, G., Donovan, P., &amp; Cullen, J. G. (2014). Student response systems and learner engagement in large classes. Active Learning in Higher Education, 15(1), 11-24.</a:t>
            </a:r>
          </a:p>
        </p:txBody>
      </p:sp>
      <p:sp>
        <p:nvSpPr>
          <p:cNvPr id="13" name="">
            <a:extLst xmlns:a="http://schemas.openxmlformats.org/drawingml/2006/main">
              <a:ext uri="{FF2B5EF4-FFF2-40B4-BE49-F238E27FC236}">
                <a16:creationId xmlns:a16="http://schemas.microsoft.com/office/drawing/2014/main" id="{C07A2B0F-BB3C-4F7D-A181-D18ED6BB7EAD}"/>
              </a:ext>
            </a:extLst>
          </p:cNvPr>
          <p:cNvSpPr>
            <a:spLocks xmlns:a="http://schemas.openxmlformats.org/drawingml/2006/main" noGrp="1"/>
          </p:cNvSpPr>
          <p:nvPr/>
        </p:nvSpPr>
        <p:spPr>
          <a:xfrm xmlns:a="http://schemas.openxmlformats.org/drawingml/2006/main">
            <a:off x="609600" y="42672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8B8B"/>
                </a:solidFill>
                <a:latin typeface="Yu Gothic"/>
                <a:ea typeface="Yu Gothic"/>
                <a:cs typeface="Yu Gothic"/>
              </a:defRPr>
            </a:pPr>
            <a:r>
              <a:rPr sz="1125" b="1">
                <a:solidFill>
                  <a:srgbClr val="8B8B8B"/>
                </a:solidFill>
                <a:latin typeface="Yu Gothic"/>
                <a:ea typeface="Yu Gothic"/>
                <a:cs typeface="Yu Gothic"/>
              </a:rPr>
              <a:t>6.</a:t>
            </a:r>
          </a:p>
        </p:txBody>
      </p:sp>
      <p:sp>
        <p:nvSpPr>
          <p:cNvPr id="14" name="">
            <a:extLst xmlns:a="http://schemas.openxmlformats.org/drawingml/2006/main">
              <a:ext uri="{FF2B5EF4-FFF2-40B4-BE49-F238E27FC236}">
                <a16:creationId xmlns:a16="http://schemas.microsoft.com/office/drawing/2014/main" id="{A5956804-0A5C-4EA3-88C6-56D5EA190395}"/>
              </a:ext>
            </a:extLst>
          </p:cNvPr>
          <p:cNvSpPr>
            <a:spLocks xmlns:a="http://schemas.openxmlformats.org/drawingml/2006/main" noGrp="1"/>
          </p:cNvSpPr>
          <p:nvPr/>
        </p:nvSpPr>
        <p:spPr>
          <a:xfrm xmlns:a="http://schemas.openxmlformats.org/drawingml/2006/main">
            <a:off x="1028700" y="42291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latin typeface="Yu Gothic"/>
                <a:ea typeface="Yu Gothic"/>
                <a:cs typeface="Yu Gothic"/>
              </a:defRPr>
            </a:pPr>
            <a:r>
              <a:rPr sz="1200" b="0">
                <a:solidFill>
                  <a:srgbClr val="555555"/>
                </a:solidFill>
                <a:latin typeface="Yu Gothic"/>
                <a:ea typeface="Yu Gothic"/>
                <a:cs typeface="Yu Gothic"/>
              </a:rPr>
              <a:t>Latham, A., &amp; Hill, N. S. (2014). Preference for anonymous classroom participation. Journal of Management Education, 38(2), 192-215.</a:t>
            </a:r>
          </a:p>
        </p:txBody>
      </p:sp>
      <p:sp>
        <p:nvSpPr>
          <p:cNvPr id="15" name="">
            <a:extLst xmlns:a="http://schemas.openxmlformats.org/drawingml/2006/main">
              <a:ext uri="{FF2B5EF4-FFF2-40B4-BE49-F238E27FC236}">
                <a16:creationId xmlns:a16="http://schemas.microsoft.com/office/drawing/2014/main" id="{C2E1E61B-FBB8-4DE1-8C1C-E2FAC9B42A01}"/>
              </a:ext>
            </a:extLst>
          </p:cNvPr>
          <p:cNvSpPr>
            <a:spLocks xmlns:a="http://schemas.openxmlformats.org/drawingml/2006/main" noGrp="1"/>
          </p:cNvSpPr>
          <p:nvPr/>
        </p:nvSpPr>
        <p:spPr>
          <a:xfrm xmlns:a="http://schemas.openxmlformats.org/drawingml/2006/main">
            <a:off x="609600" y="47815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8B8B"/>
                </a:solidFill>
                <a:latin typeface="Yu Gothic"/>
                <a:ea typeface="Yu Gothic"/>
                <a:cs typeface="Yu Gothic"/>
              </a:defRPr>
            </a:pPr>
            <a:r>
              <a:rPr sz="1125" b="1">
                <a:solidFill>
                  <a:srgbClr val="8B8B8B"/>
                </a:solidFill>
                <a:latin typeface="Yu Gothic"/>
                <a:ea typeface="Yu Gothic"/>
                <a:cs typeface="Yu Gothic"/>
              </a:rPr>
              <a:t>7.</a:t>
            </a:r>
          </a:p>
        </p:txBody>
      </p:sp>
      <p:sp>
        <p:nvSpPr>
          <p:cNvPr id="16" name="">
            <a:extLst xmlns:a="http://schemas.openxmlformats.org/drawingml/2006/main">
              <a:ext uri="{FF2B5EF4-FFF2-40B4-BE49-F238E27FC236}">
                <a16:creationId xmlns:a16="http://schemas.microsoft.com/office/drawing/2014/main" id="{4C5AFE26-F547-4AD6-8F15-304CD39AAD9C}"/>
              </a:ext>
            </a:extLst>
          </p:cNvPr>
          <p:cNvSpPr>
            <a:spLocks xmlns:a="http://schemas.openxmlformats.org/drawingml/2006/main" noGrp="1"/>
          </p:cNvSpPr>
          <p:nvPr/>
        </p:nvSpPr>
        <p:spPr>
          <a:xfrm xmlns:a="http://schemas.openxmlformats.org/drawingml/2006/main">
            <a:off x="1028700" y="4743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latin typeface="Yu Gothic"/>
                <a:ea typeface="Yu Gothic"/>
                <a:cs typeface="Yu Gothic"/>
              </a:defRPr>
            </a:pPr>
            <a:r>
              <a:rPr sz="1200" b="0">
                <a:solidFill>
                  <a:srgbClr val="555555"/>
                </a:solidFill>
                <a:latin typeface="Yu Gothic"/>
                <a:ea typeface="Yu Gothic"/>
                <a:cs typeface="Yu Gothic"/>
              </a:rPr>
              <a:t>Montgomery, L. et al. (2019). Towards a Live Anonymous Question Queue To Address Student Apprehension. arXiv:1901.01061.</a:t>
            </a:r>
          </a:p>
        </p:txBody>
      </p:sp>
      <p:sp>
        <p:nvSpPr>
          <p:cNvPr id="17" name="">
            <a:extLst xmlns:a="http://schemas.openxmlformats.org/drawingml/2006/main">
              <a:ext uri="{FF2B5EF4-FFF2-40B4-BE49-F238E27FC236}">
                <a16:creationId xmlns:a16="http://schemas.microsoft.com/office/drawing/2014/main" id="{9DD257D5-B0E9-472A-A46A-44E007E8B086}"/>
              </a:ext>
            </a:extLst>
          </p:cNvPr>
          <p:cNvSpPr>
            <a:spLocks xmlns:a="http://schemas.openxmlformats.org/drawingml/2006/main" noGrp="1"/>
          </p:cNvSpPr>
          <p:nvPr/>
        </p:nvSpPr>
        <p:spPr>
          <a:xfrm xmlns:a="http://schemas.openxmlformats.org/drawingml/2006/main">
            <a:off x="609600" y="52959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8B8B"/>
                </a:solidFill>
                <a:latin typeface="Yu Gothic"/>
                <a:ea typeface="Yu Gothic"/>
                <a:cs typeface="Yu Gothic"/>
              </a:defRPr>
            </a:pPr>
            <a:r>
              <a:rPr sz="1125" b="1">
                <a:solidFill>
                  <a:srgbClr val="8B8B8B"/>
                </a:solidFill>
                <a:latin typeface="Yu Gothic"/>
                <a:ea typeface="Yu Gothic"/>
                <a:cs typeface="Yu Gothic"/>
              </a:rPr>
              <a:t>8.</a:t>
            </a:r>
          </a:p>
        </p:txBody>
      </p:sp>
      <p:sp>
        <p:nvSpPr>
          <p:cNvPr id="18" name="">
            <a:extLst xmlns:a="http://schemas.openxmlformats.org/drawingml/2006/main">
              <a:ext uri="{FF2B5EF4-FFF2-40B4-BE49-F238E27FC236}">
                <a16:creationId xmlns:a16="http://schemas.microsoft.com/office/drawing/2014/main" id="{355F7303-F120-4C9F-B4B2-1C7AF78BD79D}"/>
              </a:ext>
            </a:extLst>
          </p:cNvPr>
          <p:cNvSpPr>
            <a:spLocks xmlns:a="http://schemas.openxmlformats.org/drawingml/2006/main" noGrp="1"/>
          </p:cNvSpPr>
          <p:nvPr/>
        </p:nvSpPr>
        <p:spPr>
          <a:xfrm xmlns:a="http://schemas.openxmlformats.org/drawingml/2006/main">
            <a:off x="1028700" y="525780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latin typeface="Yu Gothic"/>
                <a:ea typeface="Yu Gothic"/>
                <a:cs typeface="Yu Gothic"/>
              </a:defRPr>
            </a:pPr>
            <a:r>
              <a:rPr sz="1200" b="0">
                <a:solidFill>
                  <a:srgbClr val="555555"/>
                </a:solidFill>
                <a:latin typeface="Yu Gothic"/>
                <a:ea typeface="Yu Gothic"/>
                <a:cs typeface="Yu Gothic"/>
              </a:rPr>
              <a:t>Tan, E., Small, A., &amp; Lewis, P. (2020). Have a question? Just ask it. Research in Learning Technology, 28.</a:t>
            </a:r>
          </a:p>
        </p:txBody>
      </p:sp>
      <p:sp>
        <p:nvSpPr>
          <p:cNvPr id="19" name="">
            <a:extLst xmlns:a="http://schemas.openxmlformats.org/drawingml/2006/main">
              <a:ext uri="{FF2B5EF4-FFF2-40B4-BE49-F238E27FC236}">
                <a16:creationId xmlns:a16="http://schemas.microsoft.com/office/drawing/2014/main" id="{49C61470-49F7-4D0E-BD39-317DED63FC9F}"/>
              </a:ext>
            </a:extLst>
          </p:cNvPr>
          <p:cNvSpPr>
            <a:spLocks xmlns:a="http://schemas.openxmlformats.org/drawingml/2006/main" noGrp="1"/>
          </p:cNvSpPr>
          <p:nvPr/>
        </p:nvSpPr>
        <p:spPr>
          <a:xfrm xmlns:a="http://schemas.openxmlformats.org/drawingml/2006/main">
            <a:off x="400050" y="63055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8B8B8B"/>
                </a:solidFill>
                <a:latin typeface="Yu Gothic"/>
                <a:ea typeface="Yu Gothic"/>
                <a:cs typeface="Yu Gothic"/>
              </a:defRPr>
            </a:pPr>
            <a:r>
              <a:rPr sz="975" b="1">
                <a:solidFill>
                  <a:srgbClr val="8B8B8B"/>
                </a:solidFill>
                <a:latin typeface="Yu Gothic"/>
                <a:ea typeface="Yu Gothic"/>
                <a:cs typeface="Yu Gothic"/>
              </a:rPr>
              <a:t>References</a:t>
            </a:r>
          </a:p>
        </p:txBody>
      </p:sp>
      <p:sp>
        <p:nvSpPr>
          <p:cNvPr id="20" name="">
            <a:extLst xmlns:a="http://schemas.openxmlformats.org/drawingml/2006/main">
              <a:ext uri="{FF2B5EF4-FFF2-40B4-BE49-F238E27FC236}">
                <a16:creationId xmlns:a16="http://schemas.microsoft.com/office/drawing/2014/main" id="{1E7EE6A4-FF0A-44EB-A410-67F089D98F14}"/>
              </a:ext>
            </a:extLst>
          </p:cNvPr>
          <p:cNvSpPr>
            <a:spLocks xmlns:a="http://schemas.openxmlformats.org/drawingml/2006/main" noGrp="1"/>
          </p:cNvSpPr>
          <p:nvPr/>
        </p:nvSpPr>
        <p:spPr>
          <a:xfrm xmlns:a="http://schemas.openxmlformats.org/drawingml/2006/main">
            <a:off x="11391900" y="62579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8B8B8B"/>
                </a:solidFill>
                <a:latin typeface="Yu Gothic"/>
                <a:ea typeface="Yu Gothic"/>
                <a:cs typeface="Yu Gothic"/>
              </a:defRPr>
            </a:pPr>
            <a:r>
              <a:rPr sz="1200" b="1">
                <a:solidFill>
                  <a:srgbClr val="8B8B8B"/>
                </a:solidFill>
                <a:latin typeface="Yu Gothic"/>
                <a:ea typeface="Yu Gothic"/>
                <a:cs typeface="Yu Gothic"/>
              </a:rPr>
              <a:t>17</a:t>
            </a:r>
          </a:p>
        </p:txBody>
      </p:sp>
    </p:spTree>
    <p:extLst>
      <p:ext uri="{BB962C8B-B14F-4D97-AF65-F5344CB8AC3E}">
        <p14:creationId xmlns:p14="http://schemas.microsoft.com/office/powerpoint/2010/main" val="136724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2026-06-26T02:53:55.5950000Z</dcterms:created>
  <dcterms:modified xsi:type="dcterms:W3CDTF">2026-06-26T02:53:55.5960000Z</dcterms:modified>
</coreProperties>
</file>